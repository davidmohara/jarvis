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3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3017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22960"/>
            <a:ext cx="204888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468880"/>
            <a:ext cx="10972800" cy="2743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FD3EC"/>
                </a:solidFill>
                <a:latin typeface="Calibri"/>
              </a:rPr>
              <a:t>SYSTEMIC COMPLIANCE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SC.IMS + SC.ORB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BFD3EC"/>
                </a:solidFill>
                <a:latin typeface="Calibri"/>
              </a:rPr>
              <a:t>What we have, what it does, the markets, and the strategy to maximize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FC0E6"/>
                </a:solidFill>
                <a:latin typeface="Calibri"/>
              </a:rPr>
              <a:t>Prepared for David O'Hara, Improving  ·  2026-07-08  ·  Internal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The thesis: compliance should be systemic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Compliance today is fragmented - requirements, procedures, records, and training sit in separate silos.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 change in one place is rarely reflected everywhere it matters (the hidden cost of fragmentation).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SC's thesis: </a:t>
            </a:r>
            <a:r>
              <a:rPr sz="1600">
                <a:solidFill>
                  <a:srgbClr val="222222"/>
                </a:solidFill>
                <a:latin typeface="Calibri"/>
              </a:rPr>
              <a:t>one connected system where every record links to the requirement that justifies it, and a change ripples automatically to everything it touches.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Proven first in pipeline safety - the most requirement-dense, contractor-heavy, multi-jurisdiction corner of the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What SC is: a compliance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Not a pipeline consultancy with software - a vertical-agnostic compliance operating system whose first instantiation is pipeline safety.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Pipeline safety is the proof instance and the cash engine; the asset underneath is the system.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A stack of separable assets: </a:t>
            </a:r>
            <a:r>
              <a:rPr sz="1600">
                <a:solidFill>
                  <a:srgbClr val="222222"/>
                </a:solidFill>
                <a:latin typeface="Calibri"/>
              </a:rPr>
              <a:t>(1) the IP &amp; framework (SC.IMS); (2) the platform &amp; recurring revenue (SC.ORB); (3) the services &amp; consulting lines (the cash engine).</a:t>
            </a:r>
          </a:p>
          <a:p>
            <a:pPr algn="l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Buyers underwrite a larger market and a longer runway for a portable operating system than for a single-vertical firm.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SC.IMS - the framework and the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012756"/>
                </a:solidFill>
                <a:latin typeface="Calibri"/>
              </a:rPr>
              <a:t>•  Regulatory-linkage / crosswalk engine: </a:t>
            </a:r>
            <a:r>
              <a:rPr sz="1400">
                <a:solidFill>
                  <a:srgbClr val="222222"/>
                </a:solidFill>
                <a:latin typeface="Calibri"/>
              </a:rPr>
              <a:t>a cross-standard, multi-state requirements graph; requirement-to-record traceability as a byproduct. The most defensible IP.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12756"/>
                </a:solidFill>
                <a:latin typeface="Calibri"/>
              </a:rPr>
              <a:t>•  MOC ripple engine: </a:t>
            </a:r>
            <a:r>
              <a:rPr sz="1400">
                <a:solidFill>
                  <a:srgbClr val="222222"/>
                </a:solidFill>
                <a:latin typeface="Calibri"/>
              </a:rPr>
              <a:t>predicts every upstream/downstream impact of a change, each labeled with the link that explains it - closed-loop, with audit trail.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12756"/>
                </a:solidFill>
                <a:latin typeface="Calibri"/>
              </a:rPr>
              <a:t>•  Competence Architect: </a:t>
            </a:r>
            <a:r>
              <a:rPr sz="1400">
                <a:solidFill>
                  <a:srgbClr val="222222"/>
                </a:solidFill>
                <a:latin typeface="Calibri"/>
              </a:rPr>
              <a:t>one authored Training Object renders every vehicle - ILT, self-study, OJT, workbook, exam, CBT - to the operator's own procedure.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12756"/>
                </a:solidFill>
                <a:latin typeface="Calibri"/>
              </a:rPr>
              <a:t>•  Competence &amp; Progression Framework: </a:t>
            </a:r>
            <a:r>
              <a:rPr sz="1400">
                <a:solidFill>
                  <a:srgbClr val="222222"/>
                </a:solidFill>
                <a:latin typeface="Calibri"/>
              </a:rPr>
              <a:t>the most portable IP - what SC carries into a new vertical (rail, power, chemical).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12756"/>
                </a:solidFill>
                <a:latin typeface="Calibri"/>
              </a:rPr>
              <a:t>•  Gap-analysis + peer-benchmarking corpus: </a:t>
            </a:r>
            <a:r>
              <a:rPr sz="1400">
                <a:solidFill>
                  <a:srgbClr val="222222"/>
                </a:solidFill>
                <a:latin typeface="Calibri"/>
              </a:rPr>
              <a:t>source-traceable analysis; an accreting, de-identified operator benchmark that strengthens with every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SC.ORB -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The software that operationalizes the framework at scale: 65 features across 18 business areas (35 built, 8 in progress, 22 planned; planned = in scope).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Areas incl. OQ, ORB / Requirements Repository, MOC, Safe Work Permit, D&amp;A, COI, LMS, Audits, SC-Score, dashboards, and AI assistance.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Operator-funded model: </a:t>
            </a:r>
            <a:r>
              <a:rPr sz="1500">
                <a:solidFill>
                  <a:srgbClr val="222222"/>
                </a:solidFill>
                <a:latin typeface="Calibri"/>
              </a:rPr>
              <a:t>$98 per records-bearing worker/yr (contractors not charged to stay in), plus a banded platform license; representative operator ~ $70k/yr (internal figures).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The recurring core - the asset a buyer pays a premium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How SC.IMS and SC.ORB fit together (the opportunity)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SC.IMS is where the intelligence lives; SC.ORB is how it is delivered at scale.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Today the engines run as rigorous human-run capability (linkage, MOC ripple, Competence Architect, peer-benchmarking).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The value-multiplier: </a:t>
            </a:r>
            <a:r>
              <a:rPr sz="1500">
                <a:solidFill>
                  <a:srgbClr val="222222"/>
                </a:solidFill>
                <a:latin typeface="Calibri"/>
              </a:rPr>
              <a:t>productize those engines INTO SC.ORB - linkage graph as the requirements backbone, ripple engine as the MOC module, Competence Architect as the training/LMS engine, peer-benchmarking as a data product.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Integration turns bespoke expertise into durable, sellable software and recurring revenue - the core of where we want Improving's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What we sell: four front doors, one connected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Contractor Management: </a:t>
            </a:r>
            <a:r>
              <a:rPr sz="1500">
                <a:solidFill>
                  <a:srgbClr val="222222"/>
                </a:solidFill>
                <a:latin typeface="Calibri"/>
              </a:rPr>
              <a:t>contractors qualified to your procedures, with SWP, D&amp;A, and COI enforced on SC.ORB; expands toward a full PSMS.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Training &amp; Competence: </a:t>
            </a:r>
            <a:r>
              <a:rPr sz="1500">
                <a:solidFill>
                  <a:srgbClr val="222222"/>
                </a:solidFill>
                <a:latin typeface="Calibri"/>
              </a:rPr>
              <a:t>a competence framework and operator-specific courses in four formats with equivalency crediting, in your LMS or ours.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Consulting: </a:t>
            </a:r>
            <a:r>
              <a:rPr sz="1500">
                <a:solidFill>
                  <a:srgbClr val="222222"/>
                </a:solidFill>
                <a:latin typeface="Calibri"/>
              </a:rPr>
              <a:t>scoped senior expertise across 49 CFR 190-199 for a specific deadline, inspection, or gap.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PSMS / IMS build &amp; assessment readiness: </a:t>
            </a:r>
            <a:r>
              <a:rPr sz="1500">
                <a:solidFill>
                  <a:srgbClr val="222222"/>
                </a:solidFill>
                <a:latin typeface="Calibri"/>
              </a:rPr>
              <a:t>conformance scorecards and a remediation roadmap, expanding to the full integrated management system.</a:t>
            </a:r>
          </a:p>
          <a:p>
            <a:pPr algn="l">
              <a:spcAft>
                <a:spcPts val="900"/>
              </a:spcAft>
            </a:pPr>
            <a:r>
              <a:rPr sz="1400" i="1">
                <a:solidFill>
                  <a:srgbClr val="222222"/>
                </a:solidFill>
                <a:latin typeface="Calibri"/>
              </a:rPr>
              <a:t>•  Underneath all four: SC.ORB (the recurring platform) + Co-Source (Foundation / Essential / Managed / Embedded). Consulting lands the relationship; the subscription is the durable asset. Every engagement starts with a Phase-0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The pricing disruption is the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Fixed-price, value-based consulting: </a:t>
            </a:r>
            <a:r>
              <a:rPr sz="1500">
                <a:solidFill>
                  <a:srgbClr val="222222"/>
                </a:solidFill>
                <a:latin typeface="Calibri"/>
              </a:rPr>
              <a:t>instead of the industry's time-and-materials culture.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Operator-funded platform: </a:t>
            </a:r>
            <a:r>
              <a:rPr sz="1500">
                <a:solidFill>
                  <a:srgbClr val="222222"/>
                </a:solidFill>
                <a:latin typeface="Calibri"/>
              </a:rPr>
              <a:t>instead of contractor-pays incumbents (Veriforce, ISN) - moving who pays removes the switching cost and frees the contractor; incumbents cannot copy it.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Co-Source: </a:t>
            </a:r>
            <a:r>
              <a:rPr sz="1500">
                <a:solidFill>
                  <a:srgbClr val="222222"/>
                </a:solidFill>
                <a:latin typeface="Calibri"/>
              </a:rPr>
              <a:t>priced on value, costed on capacity - a fractional compliance department, not a single hire.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Two-sided demand loop: </a:t>
            </a:r>
            <a:r>
              <a:rPr sz="1500">
                <a:solidFill>
                  <a:srgbClr val="222222"/>
                </a:solidFill>
                <a:latin typeface="Calibri"/>
              </a:rPr>
              <a:t>contractors become distribution (not cost), and consulting manufactures the pull into the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Beachhead: </a:t>
            </a:r>
            <a:r>
              <a:rPr sz="1500">
                <a:solidFill>
                  <a:srgbClr val="222222"/>
                </a:solidFill>
                <a:latin typeface="Calibri"/>
              </a:rPr>
              <a:t>U.S. pipeline operators - gas transmission, midstream, hazardous-liquid, gas distribution (LDC) - plus their contractors and trade associations.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Best-fit signals: </a:t>
            </a:r>
            <a:r>
              <a:rPr sz="1500">
                <a:solidFill>
                  <a:srgbClr val="222222"/>
                </a:solidFill>
                <a:latin typeface="Calibri"/>
              </a:rPr>
              <a:t>regulatory intensity; contractor-heaviness; multi-state footprint; incumbent platform (Veriforce/ISN = switch targets).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The live pipeline already spans these segments, with near-term reference logos and a flagship account in progress.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Portability: </a:t>
            </a:r>
            <a:r>
              <a:rPr sz="1500">
                <a:solidFill>
                  <a:srgbClr val="222222"/>
                </a:solidFill>
                <a:latin typeface="Calibri"/>
              </a:rPr>
              <a:t>the linkage engine and CPF are vertical-agnostic - the same operating system extends to rail, power, chemical, enlarging the market and the multiple.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Strategy: growth and maximizing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Objective: </a:t>
            </a:r>
            <a:r>
              <a:rPr sz="1600">
                <a:solidFill>
                  <a:srgbClr val="222222"/>
                </a:solidFill>
                <a:latin typeface="Calibri"/>
              </a:rPr>
              <a:t>enterprise value in 3-4 years, with optionality preserved.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The flywheel: </a:t>
            </a:r>
            <a:r>
              <a:rPr sz="1600">
                <a:solidFill>
                  <a:srgbClr val="222222"/>
                </a:solidFill>
                <a:latin typeface="Calibri"/>
              </a:rPr>
              <a:t>use fixed-price consulting cash to fund the recurring-revenue build and operational de-risking - consulting funds the asset, it is not the destination.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Value drivers we are building: </a:t>
            </a:r>
            <a:r>
              <a:rPr sz="1600">
                <a:solidFill>
                  <a:srgbClr val="222222"/>
                </a:solidFill>
                <a:latin typeface="Calibri"/>
              </a:rPr>
              <a:t>recurring revenue; a defensible moat (linkage IP + operator-funded model); clean, separable IP; founder-independent operations; a documented, portable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Optionality: three exit doors, crown-jewel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Sale of the whole company: </a:t>
            </a:r>
            <a:r>
              <a:rPr sz="1500">
                <a:solidFill>
                  <a:srgbClr val="222222"/>
                </a:solidFill>
                <a:latin typeface="Calibri"/>
              </a:rPr>
              <a:t>the default path.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License part of the IP / structure: </a:t>
            </a:r>
            <a:r>
              <a:rPr sz="1500">
                <a:solidFill>
                  <a:srgbClr val="222222"/>
                </a:solidFill>
                <a:latin typeface="Calibri"/>
              </a:rPr>
              <a:t>the regulatory-linkage dataset/graph is the natural candidate.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New-vertical venture: </a:t>
            </a:r>
            <a:r>
              <a:rPr sz="1500">
                <a:solidFill>
                  <a:srgbClr val="222222"/>
                </a:solidFill>
                <a:latin typeface="Calibri"/>
              </a:rPr>
              <a:t>repurpose the framework for another regulated vertical - the CPF is what travels.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012756"/>
                </a:solidFill>
                <a:latin typeface="Calibri"/>
              </a:rPr>
              <a:t>•  Crown-jewel separable IP: </a:t>
            </a:r>
            <a:r>
              <a:rPr sz="1500">
                <a:solidFill>
                  <a:srgbClr val="222222"/>
                </a:solidFill>
                <a:latin typeface="Calibri"/>
              </a:rPr>
              <a:t>the linkage dataset/graph, the CPF, the MOC ripple engine, Competence Architect, and the peer-benchmarking corpus.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12756"/>
                </a:solidFill>
                <a:latin typeface="Cambria"/>
              </a:rPr>
              <a:t>Where we would value Improving's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Integration architecture &amp; roadmap: </a:t>
            </a:r>
            <a:r>
              <a:rPr sz="1600">
                <a:solidFill>
                  <a:srgbClr val="222222"/>
                </a:solidFill>
                <a:latin typeface="Calibri"/>
              </a:rPr>
              <a:t>how to productize the SC.IMS engines into SC.ORB - sequencing, build-vs-buy, data model.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Positioning for marketing potential: </a:t>
            </a:r>
            <a:r>
              <a:rPr sz="1600">
                <a:solidFill>
                  <a:srgbClr val="222222"/>
                </a:solidFill>
                <a:latin typeface="Calibri"/>
              </a:rPr>
              <a:t>how to tell the 'compliance operating system' story to win category leadership and pull.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Maximizing company value: </a:t>
            </a:r>
            <a:r>
              <a:rPr sz="1600">
                <a:solidFill>
                  <a:srgbClr val="222222"/>
                </a:solidFill>
                <a:latin typeface="Calibri"/>
              </a:rPr>
              <a:t>product, data, and IP structure that supports the highest multiple and the widest set of exit options.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012756"/>
                </a:solidFill>
                <a:latin typeface="Calibri"/>
              </a:rPr>
              <a:t>•  AI architecture for delivering the services: </a:t>
            </a:r>
            <a:r>
              <a:rPr sz="1600">
                <a:solidFill>
                  <a:srgbClr val="222222"/>
                </a:solidFill>
                <a:latin typeface="Calibri"/>
              </a:rPr>
              <a:t>a path to a closed / private AI environment and/or a secure hybrid approach that protects client data and SC's proprietary IP while preserving the speed 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Systemic Compliance  ·  SC.IMS + SC.ORB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743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Compliance should be systemic.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BFD3EC"/>
                </a:solidFill>
                <a:latin typeface="Calibri"/>
              </a:rPr>
              <a:t>A compliance operating system - proven in pipeline safety, portable across regulated industries - with defensible IP, recurring revenue, and multiple paths to value.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FC0E6"/>
                </a:solidFill>
                <a:latin typeface="Calibri"/>
              </a:rPr>
              <a:t>Systemic Compliance  ·  Confidential  ·  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1447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Kevin Graham</dc:creator>
  <cp:keywords/>
  <dc:description>generated using python-pptx</dc:description>
  <cp:lastModifiedBy>Kevin Graham</cp:lastModifiedBy>
  <cp:revision>1</cp:revision>
  <dcterms:created xsi:type="dcterms:W3CDTF">2013-01-27T09:14:16Z</dcterms:created>
  <dcterms:modified xsi:type="dcterms:W3CDTF">2026-07-08T12:01:00Z</dcterms:modified>
  <cp:category/>
</cp:coreProperties>
</file>