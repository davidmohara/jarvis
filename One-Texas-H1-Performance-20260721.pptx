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6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516B25-3183-334C-ACB1-6E173AFBF50D}" v="2" dt="2026-07-21T21:11:54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51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O'Hara" userId="8f90669b-8651-42ab-8d95-20602fbdf8e8" providerId="ADAL" clId="{A236AE32-B983-55C9-B7CE-2378BA1C83AB}"/>
    <pc:docChg chg="undo custSel delSld modSld">
      <pc:chgData name="David O'Hara" userId="8f90669b-8651-42ab-8d95-20602fbdf8e8" providerId="ADAL" clId="{A236AE32-B983-55C9-B7CE-2378BA1C83AB}" dt="2026-07-21T21:19:35.804" v="345" actId="1035"/>
      <pc:docMkLst>
        <pc:docMk/>
      </pc:docMkLst>
      <pc:sldChg chg="delSp modSp mod">
        <pc:chgData name="David O'Hara" userId="8f90669b-8651-42ab-8d95-20602fbdf8e8" providerId="ADAL" clId="{A236AE32-B983-55C9-B7CE-2378BA1C83AB}" dt="2026-07-21T21:08:45.713" v="2" actId="478"/>
        <pc:sldMkLst>
          <pc:docMk/>
          <pc:sldMk cId="0" sldId="256"/>
        </pc:sldMkLst>
        <pc:spChg chg="del mod">
          <ac:chgData name="David O'Hara" userId="8f90669b-8651-42ab-8d95-20602fbdf8e8" providerId="ADAL" clId="{A236AE32-B983-55C9-B7CE-2378BA1C83AB}" dt="2026-07-21T21:08:45.713" v="2" actId="478"/>
          <ac:spMkLst>
            <pc:docMk/>
            <pc:sldMk cId="0" sldId="256"/>
            <ac:spMk id="7" creationId="{00000000-0000-0000-0000-000000000000}"/>
          </ac:spMkLst>
        </pc:spChg>
        <pc:picChg chg="mod">
          <ac:chgData name="David O'Hara" userId="8f90669b-8651-42ab-8d95-20602fbdf8e8" providerId="ADAL" clId="{A236AE32-B983-55C9-B7CE-2378BA1C83AB}" dt="2026-07-21T21:08:39.102" v="0" actId="1076"/>
          <ac:picMkLst>
            <pc:docMk/>
            <pc:sldMk cId="0" sldId="256"/>
            <ac:picMk id="3" creationId="{00000000-0000-0000-0000-000000000000}"/>
          </ac:picMkLst>
        </pc:picChg>
      </pc:sldChg>
      <pc:sldChg chg="delSp modSp mod">
        <pc:chgData name="David O'Hara" userId="8f90669b-8651-42ab-8d95-20602fbdf8e8" providerId="ADAL" clId="{A236AE32-B983-55C9-B7CE-2378BA1C83AB}" dt="2026-07-21T21:10:49.500" v="46" actId="20577"/>
        <pc:sldMkLst>
          <pc:docMk/>
          <pc:sldMk cId="0" sldId="257"/>
        </pc:sldMkLst>
        <pc:spChg chg="del mod">
          <ac:chgData name="David O'Hara" userId="8f90669b-8651-42ab-8d95-20602fbdf8e8" providerId="ADAL" clId="{A236AE32-B983-55C9-B7CE-2378BA1C83AB}" dt="2026-07-21T21:09:19.679" v="7" actId="478"/>
          <ac:spMkLst>
            <pc:docMk/>
            <pc:sldMk cId="0" sldId="257"/>
            <ac:spMk id="2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49.500" v="46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43.537" v="45" actId="1035"/>
          <ac:spMkLst>
            <pc:docMk/>
            <pc:sldMk cId="0" sldId="257"/>
            <ac:spMk id="6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43.537" v="45" actId="1035"/>
          <ac:spMkLst>
            <pc:docMk/>
            <pc:sldMk cId="0" sldId="257"/>
            <ac:spMk id="7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43.537" v="45" actId="1035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David O'Hara" userId="8f90669b-8651-42ab-8d95-20602fbdf8e8" providerId="ADAL" clId="{A236AE32-B983-55C9-B7CE-2378BA1C83AB}" dt="2026-07-21T21:09:34.101" v="9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23.216" v="30" actId="103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32.944" v="31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09:54.414" v="14" actId="403"/>
          <ac:spMkLst>
            <pc:docMk/>
            <pc:sldMk cId="0" sldId="257"/>
            <ac:spMk id="14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09:06.122" v="4" actId="20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23.216" v="30" actId="1035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32.944" v="31" actId="1076"/>
          <ac:spMkLst>
            <pc:docMk/>
            <pc:sldMk cId="0" sldId="257"/>
            <ac:spMk id="17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09:26.902" v="8" actId="403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23.216" v="30" actId="103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32.944" v="31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09:54.414" v="14" actId="403"/>
          <ac:spMkLst>
            <pc:docMk/>
            <pc:sldMk cId="0" sldId="257"/>
            <ac:spMk id="23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23.216" v="30" actId="103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32.944" v="31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09:54.414" v="14" actId="403"/>
          <ac:spMkLst>
            <pc:docMk/>
            <pc:sldMk cId="0" sldId="257"/>
            <ac:spMk id="27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09:26.902" v="8" actId="403"/>
          <ac:spMkLst>
            <pc:docMk/>
            <pc:sldMk cId="0" sldId="257"/>
            <ac:spMk id="28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09:26.902" v="8" actId="403"/>
          <ac:spMkLst>
            <pc:docMk/>
            <pc:sldMk cId="0" sldId="257"/>
            <ac:spMk id="29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23.216" v="30" actId="1035"/>
          <ac:spMkLst>
            <pc:docMk/>
            <pc:sldMk cId="0" sldId="257"/>
            <ac:spMk id="30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32.944" v="31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09:54.414" v="14" actId="403"/>
          <ac:spMkLst>
            <pc:docMk/>
            <pc:sldMk cId="0" sldId="257"/>
            <ac:spMk id="32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23.216" v="30" actId="1035"/>
          <ac:spMkLst>
            <pc:docMk/>
            <pc:sldMk cId="0" sldId="257"/>
            <ac:spMk id="34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0:32.944" v="31" actId="107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09:54.414" v="14" actId="403"/>
          <ac:spMkLst>
            <pc:docMk/>
            <pc:sldMk cId="0" sldId="257"/>
            <ac:spMk id="36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09:26.902" v="8" actId="403"/>
          <ac:spMkLst>
            <pc:docMk/>
            <pc:sldMk cId="0" sldId="257"/>
            <ac:spMk id="37" creationId="{00000000-0000-0000-0000-000000000000}"/>
          </ac:spMkLst>
        </pc:spChg>
        <pc:picChg chg="del">
          <ac:chgData name="David O'Hara" userId="8f90669b-8651-42ab-8d95-20602fbdf8e8" providerId="ADAL" clId="{A236AE32-B983-55C9-B7CE-2378BA1C83AB}" dt="2026-07-21T21:08:53.883" v="3" actId="478"/>
          <ac:picMkLst>
            <pc:docMk/>
            <pc:sldMk cId="0" sldId="257"/>
            <ac:picMk id="4" creationId="{00000000-0000-0000-0000-000000000000}"/>
          </ac:picMkLst>
        </pc:picChg>
      </pc:sldChg>
      <pc:sldChg chg="del">
        <pc:chgData name="David O'Hara" userId="8f90669b-8651-42ab-8d95-20602fbdf8e8" providerId="ADAL" clId="{A236AE32-B983-55C9-B7CE-2378BA1C83AB}" dt="2026-07-21T21:18:23" v="268" actId="2696"/>
        <pc:sldMkLst>
          <pc:docMk/>
          <pc:sldMk cId="0" sldId="258"/>
        </pc:sldMkLst>
      </pc:sldChg>
      <pc:sldChg chg="modSp mod modShow">
        <pc:chgData name="David O'Hara" userId="8f90669b-8651-42ab-8d95-20602fbdf8e8" providerId="ADAL" clId="{A236AE32-B983-55C9-B7CE-2378BA1C83AB}" dt="2026-07-21T21:12:33.962" v="193" actId="729"/>
        <pc:sldMkLst>
          <pc:docMk/>
          <pc:sldMk cId="0" sldId="259"/>
        </pc:sldMkLst>
        <pc:spChg chg="mod">
          <ac:chgData name="David O'Hara" userId="8f90669b-8651-42ab-8d95-20602fbdf8e8" providerId="ADAL" clId="{A236AE32-B983-55C9-B7CE-2378BA1C83AB}" dt="2026-07-21T21:11:50.777" v="132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2:22.168" v="192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1:54.980" v="133"/>
          <ac:spMkLst>
            <pc:docMk/>
            <pc:sldMk cId="0" sldId="259"/>
            <ac:spMk id="22" creationId="{00000000-0000-0000-0000-000000000000}"/>
          </ac:spMkLst>
        </pc:spChg>
      </pc:sldChg>
      <pc:sldChg chg="modSp mod">
        <pc:chgData name="David O'Hara" userId="8f90669b-8651-42ab-8d95-20602fbdf8e8" providerId="ADAL" clId="{A236AE32-B983-55C9-B7CE-2378BA1C83AB}" dt="2026-07-21T21:12:53.028" v="201" actId="20577"/>
        <pc:sldMkLst>
          <pc:docMk/>
          <pc:sldMk cId="0" sldId="260"/>
        </pc:sldMkLst>
        <pc:spChg chg="mod">
          <ac:chgData name="David O'Hara" userId="8f90669b-8651-42ab-8d95-20602fbdf8e8" providerId="ADAL" clId="{A236AE32-B983-55C9-B7CE-2378BA1C83AB}" dt="2026-07-21T21:12:53.028" v="201" actId="20577"/>
          <ac:spMkLst>
            <pc:docMk/>
            <pc:sldMk cId="0" sldId="260"/>
            <ac:spMk id="4" creationId="{00000000-0000-0000-0000-000000000000}"/>
          </ac:spMkLst>
        </pc:spChg>
      </pc:sldChg>
      <pc:sldChg chg="del">
        <pc:chgData name="David O'Hara" userId="8f90669b-8651-42ab-8d95-20602fbdf8e8" providerId="ADAL" clId="{A236AE32-B983-55C9-B7CE-2378BA1C83AB}" dt="2026-07-21T21:18:17.679" v="267" actId="2696"/>
        <pc:sldMkLst>
          <pc:docMk/>
          <pc:sldMk cId="0" sldId="261"/>
        </pc:sldMkLst>
      </pc:sldChg>
      <pc:sldChg chg="delSp modSp mod">
        <pc:chgData name="David O'Hara" userId="8f90669b-8651-42ab-8d95-20602fbdf8e8" providerId="ADAL" clId="{A236AE32-B983-55C9-B7CE-2378BA1C83AB}" dt="2026-07-21T21:17:49.109" v="262" actId="478"/>
        <pc:sldMkLst>
          <pc:docMk/>
          <pc:sldMk cId="0" sldId="262"/>
        </pc:sldMkLst>
        <pc:spChg chg="mod">
          <ac:chgData name="David O'Hara" userId="8f90669b-8651-42ab-8d95-20602fbdf8e8" providerId="ADAL" clId="{A236AE32-B983-55C9-B7CE-2378BA1C83AB}" dt="2026-07-21T21:16:57.055" v="203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7:09.995" v="238" actId="20577"/>
          <ac:spMkLst>
            <pc:docMk/>
            <pc:sldMk cId="0" sldId="262"/>
            <ac:spMk id="11" creationId="{00000000-0000-0000-0000-000000000000}"/>
          </ac:spMkLst>
        </pc:spChg>
        <pc:spChg chg="del">
          <ac:chgData name="David O'Hara" userId="8f90669b-8651-42ab-8d95-20602fbdf8e8" providerId="ADAL" clId="{A236AE32-B983-55C9-B7CE-2378BA1C83AB}" dt="2026-07-21T21:17:15.150" v="239" actId="478"/>
          <ac:spMkLst>
            <pc:docMk/>
            <pc:sldMk cId="0" sldId="262"/>
            <ac:spMk id="12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7:32.833" v="259" actId="20577"/>
          <ac:spMkLst>
            <pc:docMk/>
            <pc:sldMk cId="0" sldId="262"/>
            <ac:spMk id="19" creationId="{00000000-0000-0000-0000-000000000000}"/>
          </ac:spMkLst>
        </pc:spChg>
        <pc:spChg chg="del mod">
          <ac:chgData name="David O'Hara" userId="8f90669b-8651-42ab-8d95-20602fbdf8e8" providerId="ADAL" clId="{A236AE32-B983-55C9-B7CE-2378BA1C83AB}" dt="2026-07-21T21:17:46.778" v="261" actId="478"/>
          <ac:spMkLst>
            <pc:docMk/>
            <pc:sldMk cId="0" sldId="262"/>
            <ac:spMk id="27" creationId="{00000000-0000-0000-0000-000000000000}"/>
          </ac:spMkLst>
        </pc:spChg>
        <pc:spChg chg="del">
          <ac:chgData name="David O'Hara" userId="8f90669b-8651-42ab-8d95-20602fbdf8e8" providerId="ADAL" clId="{A236AE32-B983-55C9-B7CE-2378BA1C83AB}" dt="2026-07-21T21:17:49.109" v="262" actId="478"/>
          <ac:spMkLst>
            <pc:docMk/>
            <pc:sldMk cId="0" sldId="262"/>
            <ac:spMk id="28" creationId="{00000000-0000-0000-0000-000000000000}"/>
          </ac:spMkLst>
        </pc:spChg>
      </pc:sldChg>
      <pc:sldChg chg="del">
        <pc:chgData name="David O'Hara" userId="8f90669b-8651-42ab-8d95-20602fbdf8e8" providerId="ADAL" clId="{A236AE32-B983-55C9-B7CE-2378BA1C83AB}" dt="2026-07-21T21:18:05.761" v="263" actId="2696"/>
        <pc:sldMkLst>
          <pc:docMk/>
          <pc:sldMk cId="0" sldId="263"/>
        </pc:sldMkLst>
      </pc:sldChg>
      <pc:sldChg chg="del">
        <pc:chgData name="David O'Hara" userId="8f90669b-8651-42ab-8d95-20602fbdf8e8" providerId="ADAL" clId="{A236AE32-B983-55C9-B7CE-2378BA1C83AB}" dt="2026-07-21T21:18:05.761" v="263" actId="2696"/>
        <pc:sldMkLst>
          <pc:docMk/>
          <pc:sldMk cId="0" sldId="264"/>
        </pc:sldMkLst>
      </pc:sldChg>
      <pc:sldChg chg="modSp del mod">
        <pc:chgData name="David O'Hara" userId="8f90669b-8651-42ab-8d95-20602fbdf8e8" providerId="ADAL" clId="{A236AE32-B983-55C9-B7CE-2378BA1C83AB}" dt="2026-07-21T21:18:13.419" v="266" actId="2696"/>
        <pc:sldMkLst>
          <pc:docMk/>
          <pc:sldMk cId="0" sldId="265"/>
        </pc:sldMkLst>
        <pc:spChg chg="mod">
          <ac:chgData name="David O'Hara" userId="8f90669b-8651-42ab-8d95-20602fbdf8e8" providerId="ADAL" clId="{A236AE32-B983-55C9-B7CE-2378BA1C83AB}" dt="2026-07-21T21:18:08.435" v="265" actId="20577"/>
          <ac:spMkLst>
            <pc:docMk/>
            <pc:sldMk cId="0" sldId="265"/>
            <ac:spMk id="3" creationId="{00000000-0000-0000-0000-000000000000}"/>
          </ac:spMkLst>
        </pc:spChg>
      </pc:sldChg>
      <pc:sldChg chg="delSp modSp mod">
        <pc:chgData name="David O'Hara" userId="8f90669b-8651-42ab-8d95-20602fbdf8e8" providerId="ADAL" clId="{A236AE32-B983-55C9-B7CE-2378BA1C83AB}" dt="2026-07-21T21:19:35.804" v="345" actId="1035"/>
        <pc:sldMkLst>
          <pc:docMk/>
          <pc:sldMk cId="0" sldId="266"/>
        </pc:sldMkLst>
        <pc:spChg chg="del mod">
          <ac:chgData name="David O'Hara" userId="8f90669b-8651-42ab-8d95-20602fbdf8e8" providerId="ADAL" clId="{A236AE32-B983-55C9-B7CE-2378BA1C83AB}" dt="2026-07-21T21:18:40.630" v="271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8:59.225" v="302" actId="1035"/>
          <ac:spMkLst>
            <pc:docMk/>
            <pc:sldMk cId="0" sldId="266"/>
            <ac:spMk id="7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8:59.225" v="302" actId="1035"/>
          <ac:spMkLst>
            <pc:docMk/>
            <pc:sldMk cId="0" sldId="266"/>
            <ac:spMk id="8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9:12.573" v="306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9:18.271" v="309" actId="403"/>
          <ac:spMkLst>
            <pc:docMk/>
            <pc:sldMk cId="0" sldId="266"/>
            <ac:spMk id="10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9:35.804" v="345" actId="103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8:59.225" v="302" actId="1035"/>
          <ac:spMkLst>
            <pc:docMk/>
            <pc:sldMk cId="0" sldId="266"/>
            <ac:spMk id="13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8:59.225" v="302" actId="1035"/>
          <ac:spMkLst>
            <pc:docMk/>
            <pc:sldMk cId="0" sldId="266"/>
            <ac:spMk id="14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9:12.573" v="306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9:18.271" v="309" actId="403"/>
          <ac:spMkLst>
            <pc:docMk/>
            <pc:sldMk cId="0" sldId="266"/>
            <ac:spMk id="16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9:35.804" v="345" actId="1035"/>
          <ac:spMkLst>
            <pc:docMk/>
            <pc:sldMk cId="0" sldId="266"/>
            <ac:spMk id="17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8:59.225" v="302" actId="1035"/>
          <ac:spMkLst>
            <pc:docMk/>
            <pc:sldMk cId="0" sldId="266"/>
            <ac:spMk id="19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8:59.225" v="302" actId="1035"/>
          <ac:spMkLst>
            <pc:docMk/>
            <pc:sldMk cId="0" sldId="266"/>
            <ac:spMk id="20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9:12.573" v="306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9:18.271" v="309" actId="403"/>
          <ac:spMkLst>
            <pc:docMk/>
            <pc:sldMk cId="0" sldId="266"/>
            <ac:spMk id="22" creationId="{00000000-0000-0000-0000-000000000000}"/>
          </ac:spMkLst>
        </pc:spChg>
        <pc:spChg chg="mod">
          <ac:chgData name="David O'Hara" userId="8f90669b-8651-42ab-8d95-20602fbdf8e8" providerId="ADAL" clId="{A236AE32-B983-55C9-B7CE-2378BA1C83AB}" dt="2026-07-21T21:19:35.804" v="345" actId="1035"/>
          <ac:spMkLst>
            <pc:docMk/>
            <pc:sldMk cId="0" sldId="266"/>
            <ac:spMk id="23" creationId="{00000000-0000-0000-0000-000000000000}"/>
          </ac:spMkLst>
        </pc:spChg>
      </pc:sldChg>
      <pc:sldChg chg="del">
        <pc:chgData name="David O'Hara" userId="8f90669b-8651-42ab-8d95-20602fbdf8e8" providerId="ADAL" clId="{A236AE32-B983-55C9-B7CE-2378BA1C83AB}" dt="2026-07-21T21:18:26.578" v="269" actId="2696"/>
        <pc:sldMkLst>
          <pc:docMk/>
          <pc:sldMk cId="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845" y="1158974"/>
            <a:ext cx="4023360" cy="4023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46304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ONE TEXAS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H1 2026 Performance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01568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0F0E8"/>
                </a:solidFill>
              </a:rPr>
              <a:t>Executive Review  ·  July 2026</a:t>
            </a:r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6291072"/>
            <a:ext cx="1234440" cy="4684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5596"/>
                </a:solidFill>
              </a:rPr>
              <a:t>One Texas H1 2026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49950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C2A7"/>
                </a:solidFill>
              </a:rPr>
              <a:t>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849950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BC2A7"/>
                </a:solidFill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849950"/>
            <a:ext cx="4023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5BC2A7"/>
                </a:solidFill>
              </a:rPr>
              <a:t>H1 ACTUAL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43584"/>
            <a:ext cx="11612880" cy="20116"/>
          </a:xfrm>
          <a:prstGeom prst="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274320" y="1252728"/>
            <a:ext cx="11795760" cy="749808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411480" y="1386584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05596"/>
                </a:solidFill>
              </a:rPr>
              <a:t>G1  Top Line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386584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555555"/>
                </a:solidFill>
              </a:rPr>
              <a:t>Beat target, both enterprises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298448"/>
            <a:ext cx="4023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555555"/>
                </a:solidFill>
              </a:rPr>
              <a:t>Dallas +3% YTD  ·  South Texas -20% YTD  ·  OTX -11%</a:t>
            </a:r>
          </a:p>
        </p:txBody>
      </p:sp>
      <p:sp>
        <p:nvSpPr>
          <p:cNvPr id="15" name="Oval 14"/>
          <p:cNvSpPr/>
          <p:nvPr/>
        </p:nvSpPr>
        <p:spPr>
          <a:xfrm>
            <a:off x="10716768" y="1499616"/>
            <a:ext cx="237744" cy="237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11480" y="2163824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5596"/>
                </a:solidFill>
              </a:rPr>
              <a:t>G2  New Anchors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163824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555"/>
                </a:solidFill>
              </a:rPr>
              <a:t>3 new anchors (annual)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075688"/>
            <a:ext cx="4023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555"/>
                </a:solidFill>
              </a:rPr>
              <a:t>2 of 3 YTD — 1 remaining, H2 recoverable</a:t>
            </a:r>
          </a:p>
        </p:txBody>
      </p:sp>
      <p:sp>
        <p:nvSpPr>
          <p:cNvPr id="19" name="Oval 18"/>
          <p:cNvSpPr/>
          <p:nvPr/>
        </p:nvSpPr>
        <p:spPr>
          <a:xfrm>
            <a:off x="10716768" y="2276856"/>
            <a:ext cx="237744" cy="23774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Rectangle 19"/>
          <p:cNvSpPr/>
          <p:nvPr/>
        </p:nvSpPr>
        <p:spPr>
          <a:xfrm>
            <a:off x="274320" y="2807208"/>
            <a:ext cx="11795760" cy="749808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411480" y="2941064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5596"/>
                </a:solidFill>
              </a:rPr>
              <a:t>G2  New Logos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941064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555"/>
                </a:solidFill>
              </a:rPr>
              <a:t>Pace metric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52928"/>
            <a:ext cx="4023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555"/>
                </a:solidFill>
              </a:rPr>
              <a:t>7 YTD  (Dallas 6  ·  South Texas 1 — STX intake concern)</a:t>
            </a:r>
          </a:p>
        </p:txBody>
      </p:sp>
      <p:sp>
        <p:nvSpPr>
          <p:cNvPr id="24" name="Oval 23"/>
          <p:cNvSpPr/>
          <p:nvPr/>
        </p:nvSpPr>
        <p:spPr>
          <a:xfrm>
            <a:off x="10716768" y="3054096"/>
            <a:ext cx="237744" cy="23774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5" name="TextBox 24"/>
          <p:cNvSpPr txBox="1"/>
          <p:nvPr/>
        </p:nvSpPr>
        <p:spPr>
          <a:xfrm>
            <a:off x="411480" y="3718304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5596"/>
                </a:solidFill>
              </a:rPr>
              <a:t>G4  Partner Co-Sell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718304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555"/>
                </a:solidFill>
              </a:rPr>
              <a:t>$15M by Q2 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30168"/>
            <a:ext cx="4023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555"/>
                </a:solidFill>
              </a:rPr>
              <a:t>$2.93M (19.5%) — Q2 MISSED  |  $12.07M gap remains</a:t>
            </a:r>
          </a:p>
        </p:txBody>
      </p:sp>
      <p:sp>
        <p:nvSpPr>
          <p:cNvPr id="28" name="Oval 27"/>
          <p:cNvSpPr/>
          <p:nvPr/>
        </p:nvSpPr>
        <p:spPr>
          <a:xfrm>
            <a:off x="10716768" y="3831336"/>
            <a:ext cx="237744" cy="23774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9" name="Rectangle 28"/>
          <p:cNvSpPr/>
          <p:nvPr/>
        </p:nvSpPr>
        <p:spPr>
          <a:xfrm>
            <a:off x="274320" y="4361688"/>
            <a:ext cx="11795760" cy="749808"/>
          </a:xfrm>
          <a:prstGeom prst="rect">
            <a:avLst/>
          </a:prstGeom>
          <a:solidFill>
            <a:srgbClr val="E8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0" name="TextBox 29"/>
          <p:cNvSpPr txBox="1"/>
          <p:nvPr/>
        </p:nvSpPr>
        <p:spPr>
          <a:xfrm>
            <a:off x="411480" y="4495544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5596"/>
                </a:solidFill>
              </a:rPr>
              <a:t>G3  Improver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495544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555"/>
                </a:solidFill>
              </a:rPr>
              <a:t>EDP H2 + Exec Sales rollout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07408"/>
            <a:ext cx="4023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555"/>
                </a:solidFill>
              </a:rPr>
              <a:t>EDP on plan for H2  /  Exec Sales NOT launched</a:t>
            </a:r>
          </a:p>
        </p:txBody>
      </p:sp>
      <p:sp>
        <p:nvSpPr>
          <p:cNvPr id="33" name="Oval 32"/>
          <p:cNvSpPr/>
          <p:nvPr/>
        </p:nvSpPr>
        <p:spPr>
          <a:xfrm>
            <a:off x="10716768" y="4608576"/>
            <a:ext cx="237744" cy="23774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4" name="TextBox 33"/>
          <p:cNvSpPr txBox="1"/>
          <p:nvPr/>
        </p:nvSpPr>
        <p:spPr>
          <a:xfrm>
            <a:off x="411480" y="5272784"/>
            <a:ext cx="2834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5596"/>
                </a:solidFill>
              </a:rPr>
              <a:t>G5  Thought Leadership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5272784"/>
            <a:ext cx="3063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555"/>
                </a:solidFill>
              </a:rPr>
              <a:t>10 speaking engagements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84648"/>
            <a:ext cx="4023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55555"/>
                </a:solidFill>
              </a:rPr>
              <a:t>21 completed or booked  ·  Podcast S1 done  ·  Forbes in progress</a:t>
            </a:r>
          </a:p>
        </p:txBody>
      </p:sp>
      <p:sp>
        <p:nvSpPr>
          <p:cNvPr id="37" name="Oval 36"/>
          <p:cNvSpPr/>
          <p:nvPr/>
        </p:nvSpPr>
        <p:spPr>
          <a:xfrm>
            <a:off x="10716768" y="5385816"/>
            <a:ext cx="237744" cy="23774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pic>
        <p:nvPicPr>
          <p:cNvPr id="38" name="Picture 37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1234440" cy="468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5596"/>
                </a:solidFill>
              </a:rPr>
              <a:t>Revenue — Dallas vs. South Texas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96112"/>
            <a:ext cx="5468112" cy="5230368"/>
          </a:xfrm>
          <a:prstGeom prst="rect">
            <a:avLst/>
          </a:prstGeom>
          <a:solidFill>
            <a:srgbClr val="E8F6F3"/>
          </a:solidFill>
          <a:ln>
            <a:solidFill>
              <a:srgbClr val="5BC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257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DALLAS  ✓  AT 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444752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$8.73M H1 2026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75104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+3% vs. target YTD  /  +4% current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505456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+14% vs. prior year — real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035808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101% 90-day forecast — holding strong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566160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6 new logos YTD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4096512"/>
            <a:ext cx="51937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555555"/>
                </a:solidFill>
              </a:rPr>
              <a:t>• </a:t>
            </a:r>
            <a:r>
              <a:rPr lang="en-US" sz="1200" dirty="0">
                <a:solidFill>
                  <a:srgbClr val="555555"/>
                </a:solidFill>
              </a:rPr>
              <a:t>United Texas Bank – largest single AI-focused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26864"/>
            <a:ext cx="5193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555555"/>
                </a:solidFill>
              </a:rPr>
              <a:t>• Simpson Strong-Tie — emerging large account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896112"/>
            <a:ext cx="5705856" cy="5230368"/>
          </a:xfrm>
          <a:prstGeom prst="rect">
            <a:avLst/>
          </a:prstGeom>
          <a:solidFill>
            <a:srgbClr val="FDEDEC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81928" y="960120"/>
            <a:ext cx="545896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</a:rPr>
              <a:t>SOUTH TEXAS  ✗  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44752"/>
            <a:ext cx="5376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$8.01M H1  (Houston $3.67M  +  Austin $4.34M)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75104"/>
            <a:ext cx="5376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-20% vs. target YTD  /  -23% current quarter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505456"/>
            <a:ext cx="5376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-22% vs. prior year — fourth consecutive quarter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035808"/>
            <a:ext cx="5376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71% 90-day forecast — gap is NOT closing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66160"/>
            <a:ext cx="53766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1 new logo YTD  (vs. 4 in Q1 alone)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096512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555555"/>
                </a:solidFill>
              </a:rPr>
              <a:t>• </a:t>
            </a:r>
            <a:r>
              <a:rPr lang="en-US" sz="1200" b="0" dirty="0">
                <a:solidFill>
                  <a:srgbClr val="555555"/>
                </a:solidFill>
              </a:rPr>
              <a:t>NRG – significant potential upside for expansion</a:t>
            </a:r>
            <a:endParaRPr sz="1200" b="0" dirty="0">
              <a:solidFill>
                <a:srgbClr val="555555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309360" y="4626864"/>
            <a:ext cx="53766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555555"/>
                </a:solidFill>
              </a:rPr>
              <a:t>• </a:t>
            </a:r>
            <a:r>
              <a:rPr lang="en-US" sz="1200" dirty="0">
                <a:solidFill>
                  <a:srgbClr val="555555"/>
                </a:solidFill>
              </a:rPr>
              <a:t>Systemic Compliance — new logo (AI strategy SOW)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144768"/>
            <a:ext cx="11548872" cy="43891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1722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ONE TEXAS TOTAL  |  $16.75M  |  -11% vs. target  |  -4% vs. prior year</a:t>
            </a:r>
          </a:p>
        </p:txBody>
      </p:sp>
      <p:pic>
        <p:nvPicPr>
          <p:cNvPr id="25" name="Picture 2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1234440" cy="468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5596"/>
                </a:solidFill>
              </a:rPr>
              <a:t>Pipeline &amp; </a:t>
            </a:r>
            <a:r>
              <a:rPr lang="en-US" sz="2400" b="1" dirty="0">
                <a:solidFill>
                  <a:srgbClr val="005596"/>
                </a:solidFill>
              </a:rPr>
              <a:t>Partner </a:t>
            </a:r>
            <a:r>
              <a:rPr sz="2400" b="1" dirty="0">
                <a:solidFill>
                  <a:srgbClr val="005596"/>
                </a:solidFill>
              </a:rPr>
              <a:t>Co-Sell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96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C2A7"/>
                </a:solidFill>
              </a:rPr>
              <a:t>90-DAY WEIGHTED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2560320" cy="96012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Dallas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91056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$7.96M  /  77 opps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90672" y="1207008"/>
            <a:ext cx="2560320" cy="960120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82112" y="12618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South Texas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1591056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$6.92M  /  86 opps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5584" y="1207008"/>
            <a:ext cx="2560320" cy="960120"/>
          </a:xfrm>
          <a:prstGeom prst="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07024" y="12618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One Texas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1591056"/>
            <a:ext cx="2377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$14.88M  /  163 opps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11567160" cy="347472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304288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6008"/>
                </a:solidFill>
              </a:rPr>
              <a:t>⚠  Down from $21.6M in April — meaningful forward revenue compression into H2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24912"/>
            <a:ext cx="11567160" cy="1463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788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C2A7"/>
                </a:solidFill>
              </a:rPr>
              <a:t>CO-SELL PIPELINE — ROCK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08960"/>
            <a:ext cx="2651760" cy="960120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163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Microsoft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93008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$1.64M pipeline
$332K won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3108960"/>
            <a:ext cx="2651760" cy="960120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3163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Confluent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493008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$785K pipeline
$0 won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108960"/>
            <a:ext cx="2651760" cy="9601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0" y="3163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SAP + Scrum.org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493008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$354K pipeline
$0 won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3108960"/>
            <a:ext cx="2651760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0" y="316382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Total vs. $15M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493008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$2.93M — 19.5%
$12.07M gap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87952"/>
            <a:ext cx="11567160" cy="347472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4206240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Q2 deadline passed. Rock 4 missed. Decision needed — reset target, reset approach, or both.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626864"/>
            <a:ext cx="11567160" cy="14630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46908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BC2A7"/>
                </a:solidFill>
              </a:rPr>
              <a:t>NEW CLIENTS &amp; ANCHORS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029200"/>
            <a:ext cx="254203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5084064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New Logos YTD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13248"/>
            <a:ext cx="23591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7  (Dallas 6  ·  STX 1)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90672" y="5029200"/>
            <a:ext cx="2542032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82112" y="5084064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New Anchors YTD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82112" y="5413248"/>
            <a:ext cx="23591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 of 3 — 1 remaining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15584" y="5029200"/>
            <a:ext cx="2542032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07024" y="5084064"/>
            <a:ext cx="2359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C-Suite Connections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7024" y="5413248"/>
            <a:ext cx="2359152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12 active  (goal: 10)</a:t>
            </a:r>
          </a:p>
        </p:txBody>
      </p:sp>
      <p:pic>
        <p:nvPicPr>
          <p:cNvPr id="44" name="Picture 4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1234440" cy="468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5596"/>
                </a:solidFill>
              </a:rPr>
              <a:t>Three Genuine H1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3749039" cy="5166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74903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9784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EXCEEDING  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596"/>
                </a:solidFill>
              </a:rPr>
              <a:t>Thought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3520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21 speaking engagements vs. 10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555555"/>
                </a:solidFill>
              </a:rPr>
              <a:t>• Podcast Season 1 complete (</a:t>
            </a:r>
            <a:r>
              <a:rPr lang="en-US" sz="1200" b="0" dirty="0">
                <a:solidFill>
                  <a:srgbClr val="555555"/>
                </a:solidFill>
              </a:rPr>
              <a:t>11</a:t>
            </a:r>
            <a:r>
              <a:rPr sz="1200" b="0" dirty="0">
                <a:solidFill>
                  <a:srgbClr val="555555"/>
                </a:solidFill>
              </a:rPr>
              <a:t> episodes)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38144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555555"/>
                </a:solidFill>
              </a:rPr>
              <a:t>• Forbes article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960120"/>
            <a:ext cx="3749039" cy="5166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960120"/>
            <a:ext cx="3749039" cy="384048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9784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BUILDING 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4173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596"/>
                </a:solidFill>
              </a:rPr>
              <a:t>Partner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38528"/>
            <a:ext cx="3520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Microsoft: $1.64M pipeline, GTM cadence 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88336"/>
            <a:ext cx="3520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Confluent: $785K — built from zero in 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438144"/>
            <a:ext cx="3520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555555"/>
                </a:solidFill>
              </a:rPr>
              <a:t>• Microsoft Houston AI Center </a:t>
            </a:r>
            <a:r>
              <a:rPr lang="en-US" sz="1200" b="0" dirty="0">
                <a:solidFill>
                  <a:srgbClr val="555555"/>
                </a:solidFill>
              </a:rPr>
              <a:t>Event Planning</a:t>
            </a:r>
            <a:endParaRPr sz="1200" b="0" dirty="0">
              <a:solidFill>
                <a:srgbClr val="555555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89120" y="4187952"/>
            <a:ext cx="3520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SpaceX AI relationship in development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960120"/>
            <a:ext cx="3749039" cy="5166360"/>
          </a:xfrm>
          <a:prstGeom prst="rect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83880" y="960120"/>
            <a:ext cx="3749039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9784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AHEAD 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417320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5596"/>
                </a:solidFill>
              </a:rPr>
              <a:t>C-Suite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938528"/>
            <a:ext cx="3520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12 Level 4+ connections vs. 10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688336"/>
            <a:ext cx="3520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• 8 Dallas  /  4 Houston</a:t>
            </a:r>
          </a:p>
        </p:txBody>
      </p:sp>
      <p:pic>
        <p:nvPicPr>
          <p:cNvPr id="29" name="Picture 28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1234440" cy="468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5596"/>
                </a:solidFill>
              </a:rPr>
              <a:t>Three Decisions That Define H2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49039" cy="4864608"/>
          </a:xfrm>
          <a:prstGeom prst="rect">
            <a:avLst/>
          </a:prstGeom>
          <a:solidFill>
            <a:srgbClr val="FFFFFF"/>
          </a:solidFill>
          <a:ln>
            <a:solidFill>
              <a:srgbClr val="0055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962322"/>
            <a:ext cx="3749039" cy="621792"/>
          </a:xfrm>
          <a:prstGeom prst="rect">
            <a:avLst/>
          </a:prstGeom>
          <a:solidFill>
            <a:srgbClr val="005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980610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15191"/>
            <a:ext cx="3520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5596"/>
                </a:solidFill>
              </a:rPr>
              <a:t>South Texas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05456"/>
            <a:ext cx="3520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555555"/>
                </a:solidFill>
              </a:rPr>
              <a:t>Recovery play or structural reset?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1148"/>
            <a:ext cx="35204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555555"/>
                </a:solidFill>
              </a:rPr>
              <a:t>Four consecutive quarters of miss. 71% 90-day forecast means we cannot coast. A decision — and a real plan — is needed now.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325880"/>
            <a:ext cx="3749039" cy="4864608"/>
          </a:xfrm>
          <a:prstGeom prst="rect">
            <a:avLst/>
          </a:prstGeom>
          <a:solidFill>
            <a:srgbClr val="FFFFFF"/>
          </a:solidFill>
          <a:ln>
            <a:solidFill>
              <a:srgbClr val="459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962322"/>
            <a:ext cx="3749039" cy="621792"/>
          </a:xfrm>
          <a:prstGeom prst="rect">
            <a:avLst/>
          </a:prstGeom>
          <a:solidFill>
            <a:srgbClr val="4597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980610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15191"/>
            <a:ext cx="3520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597D3"/>
                </a:solidFill>
              </a:rPr>
              <a:t>Co-Sell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05456"/>
            <a:ext cx="3520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555555"/>
                </a:solidFill>
              </a:rPr>
              <a:t>Fewer bets, deeper commitment.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451148"/>
            <a:ext cx="35204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The broad motion produced $2.93M vs. $15M. Reset the number, the approach, or both? Which 1–2 partners get full activation in H2?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325880"/>
            <a:ext cx="3749039" cy="4864608"/>
          </a:xfrm>
          <a:prstGeom prst="rect">
            <a:avLst/>
          </a:prstGeom>
          <a:solidFill>
            <a:srgbClr val="FFFFFF"/>
          </a:solidFill>
          <a:ln>
            <a:solidFill>
              <a:srgbClr val="5BC2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3880" y="962322"/>
            <a:ext cx="3749039" cy="621792"/>
          </a:xfrm>
          <a:prstGeom prst="rect">
            <a:avLst/>
          </a:prstGeom>
          <a:solidFill>
            <a:srgbClr val="5BC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980610"/>
            <a:ext cx="777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15191"/>
            <a:ext cx="3520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5BC2A7"/>
                </a:solidFill>
              </a:rPr>
              <a:t>Role Clarity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505456"/>
            <a:ext cx="3520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555555"/>
                </a:solidFill>
              </a:rPr>
              <a:t>Define the RD guardrails.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451148"/>
            <a:ext cx="35204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</a:rPr>
              <a:t>When the RD becomes billable, GTM capacity disappears. H2 needs that capacity for anchor closes and co-sell. Who owns the guardrail decision?</a:t>
            </a:r>
          </a:p>
        </p:txBody>
      </p:sp>
      <p:pic>
        <p:nvPicPr>
          <p:cNvPr id="24" name="Picture 2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291072"/>
            <a:ext cx="1234440" cy="468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660</Words>
  <Application>Microsoft Macintosh PowerPoint</Application>
  <PresentationFormat>Custom</PresentationFormat>
  <Paragraphs>98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O'Hara</cp:lastModifiedBy>
  <cp:revision>1</cp:revision>
  <dcterms:created xsi:type="dcterms:W3CDTF">2013-01-27T09:14:16Z</dcterms:created>
  <dcterms:modified xsi:type="dcterms:W3CDTF">2026-07-21T21:19:40Z</dcterms:modified>
  <cp:category/>
</cp:coreProperties>
</file>