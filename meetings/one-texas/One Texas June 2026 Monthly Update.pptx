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4" r:id="rId11"/>
    <p:sldId id="262" r:id="rId12"/>
    <p:sldId id="265" r:id="rId13"/>
    <p:sldId id="263" r:id="rId14"/>
  </p:sldIdLst>
  <p:sldSz cx="12192000" cy="6858000"/>
  <p:notesSz cx="6858000" cy="9144000"/>
  <p:embeddedFontLst>
    <p:embeddedFont>
      <p:font typeface="Khula" panose="02000000000000000000" pitchFamily="2" charset="0"/>
      <p:regular r:id="rId17"/>
      <p:bold r:id="rId18"/>
    </p:embeddedFont>
    <p:embeddedFont>
      <p:font typeface="Khula SemiBold" panose="02000000000000000000" pitchFamily="2" charset="0"/>
      <p:regular r:id="rId19"/>
      <p:bold r:id="rId20"/>
    </p:embeddedFont>
    <p:embeddedFont>
      <p:font typeface="Poppins" pitchFamily="2" charset="77"/>
      <p:regular r:id="rId21"/>
      <p:bold r:id="rId22"/>
      <p:italic r:id="rId23"/>
      <p:boldItalic r:id="rId24"/>
    </p:embeddedFont>
    <p:embeddedFont>
      <p:font typeface="Poppins Medium" panose="00000600000000000000" pitchFamily="2" charset="77"/>
      <p:regular r:id="rId25"/>
      <p:italic r:id="rId26"/>
    </p:embeddedFont>
  </p:embeddedFontLst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5690"/>
    <a:srgbClr val="4597D3"/>
    <a:srgbClr val="8D338A"/>
    <a:srgbClr val="E2833C"/>
    <a:srgbClr val="5A97CC"/>
    <a:srgbClr val="EBBB58"/>
    <a:srgbClr val="6FB59F"/>
    <a:srgbClr val="5996A3"/>
    <a:srgbClr val="000000"/>
    <a:srgbClr val="7812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56"/>
    <p:restoredTop sz="79178"/>
  </p:normalViewPr>
  <p:slideViewPr>
    <p:cSldViewPr snapToGrid="0">
      <p:cViewPr varScale="1">
        <p:scale>
          <a:sx n="81" d="100"/>
          <a:sy n="81" d="100"/>
        </p:scale>
        <p:origin x="168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8282CA-E236-4614-036E-C5C0C936C6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8B065F-4AF1-21F2-CF82-78658D8AD9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586793-C8A1-F947-908B-E0EDCF86090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8BE100-080F-43CA-3598-3B1AF4069C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43D58-784A-ABD4-14C2-E6339A9C0D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651B8-9A00-AB4E-BE59-6952469B4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8924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A18E33-7982-7242-B011-19D9B39AC4BA}" type="datetimeFigureOut">
              <a:rPr lang="en-MX" smtClean="0"/>
              <a:t>2/26/26</a:t>
            </a:fld>
            <a:endParaRPr lang="en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EB2A5-DDCF-604F-A595-5664085F7F7D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787645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ncipal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C00CA04-690D-0AD1-8D1C-4C56E0AB8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56" y="804557"/>
            <a:ext cx="10515600" cy="560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8D60278-F35A-892D-8A4D-EFFC764D6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756" y="2156791"/>
            <a:ext cx="10515600" cy="4183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742950" indent="-285750">
              <a:buFont typeface="Arial" panose="020B0604020202020204" pitchFamily="34" charset="0"/>
              <a:buChar char="•"/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 marL="1085850" indent="-171450">
              <a:buFont typeface="Arial" panose="020B0604020202020204" pitchFamily="34" charset="0"/>
              <a:buChar char="•"/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 marL="1543050" indent="-171450">
              <a:buFont typeface="Arial" panose="020B0604020202020204" pitchFamily="34" charset="0"/>
              <a:buChar char="•"/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 marL="2000250" indent="-171450">
              <a:buFont typeface="Arial" panose="020B0604020202020204" pitchFamily="34" charset="0"/>
              <a:buChar char="•"/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pic>
        <p:nvPicPr>
          <p:cNvPr id="8" name="Picture 7" descr="A blue text on a black background  Description automatically generated">
            <a:extLst>
              <a:ext uri="{FF2B5EF4-FFF2-40B4-BE49-F238E27FC236}">
                <a16:creationId xmlns:a16="http://schemas.microsoft.com/office/drawing/2014/main" id="{CC7A7323-8F54-C113-9E31-6A1C2F862E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20654" y="366299"/>
            <a:ext cx="1893379" cy="718540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36CCBF4-4D6E-1F6C-0913-8D364923F0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0756" y="1470069"/>
            <a:ext cx="10515600" cy="560564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1800" b="0" i="1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44819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t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green gradient  AI-generated content may be incorrect.">
            <a:extLst>
              <a:ext uri="{FF2B5EF4-FFF2-40B4-BE49-F238E27FC236}">
                <a16:creationId xmlns:a16="http://schemas.microsoft.com/office/drawing/2014/main" id="{B54EA83D-4D5E-3896-4C53-82E729DDBD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A black background with white text  AI-generated content may be incorrect.">
            <a:extLst>
              <a:ext uri="{FF2B5EF4-FFF2-40B4-BE49-F238E27FC236}">
                <a16:creationId xmlns:a16="http://schemas.microsoft.com/office/drawing/2014/main" id="{0EF929EA-F9C6-25ED-3C68-FD4CD9D13B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49913" y="300735"/>
            <a:ext cx="2190011" cy="723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5A03D7-0C8A-2FF8-DD55-E44EF7754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13" y="2933878"/>
            <a:ext cx="10515600" cy="508001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6160FDB-07E2-9B48-493B-80748EBAF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5913" y="3429000"/>
            <a:ext cx="9144000" cy="5283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948496-729F-47D0-0AA1-AEE439E24A68}"/>
              </a:ext>
            </a:extLst>
          </p:cNvPr>
          <p:cNvCxnSpPr>
            <a:cxnSpLocks/>
          </p:cNvCxnSpPr>
          <p:nvPr userDrawn="1"/>
        </p:nvCxnSpPr>
        <p:spPr>
          <a:xfrm flipH="1">
            <a:off x="826911" y="6394229"/>
            <a:ext cx="1052688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8B050FF-2D15-ED50-850B-3375A58843E7}"/>
              </a:ext>
            </a:extLst>
          </p:cNvPr>
          <p:cNvSpPr txBox="1"/>
          <p:nvPr userDrawn="1"/>
        </p:nvSpPr>
        <p:spPr>
          <a:xfrm>
            <a:off x="838199" y="6448820"/>
            <a:ext cx="3882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© 2025 Improving | All Rights Reserved</a:t>
            </a:r>
            <a:endParaRPr lang="en-MX" sz="10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379795-4F47-802C-2A87-EE8B8DCB0543}"/>
              </a:ext>
            </a:extLst>
          </p:cNvPr>
          <p:cNvSpPr txBox="1"/>
          <p:nvPr userDrawn="1"/>
        </p:nvSpPr>
        <p:spPr>
          <a:xfrm>
            <a:off x="11067344" y="6479823"/>
            <a:ext cx="572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3BB742A-9951-4A41-9B51-4F6023B7AEA7}" type="slidenum">
              <a:rPr lang="en-MX" sz="1200" b="1" i="0" smtClean="0">
                <a:solidFill>
                  <a:schemeClr val="bg1"/>
                </a:solidFill>
                <a:latin typeface="Khula SemiBold" panose="02000000000000000000" pitchFamily="2" charset="0"/>
                <a:cs typeface="Khula SemiBold" panose="02000000000000000000" pitchFamily="2" charset="0"/>
              </a:rPr>
              <a:t>‹#›</a:t>
            </a:fld>
            <a:endParaRPr lang="en-MX" sz="1200" b="1" i="0">
              <a:solidFill>
                <a:schemeClr val="bg1"/>
              </a:solidFill>
              <a:latin typeface="Khula SemiBold" panose="02000000000000000000" pitchFamily="2" charset="0"/>
              <a:cs typeface="Khula Semi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83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37F2-5E51-EBE6-FB74-03ECD1F0C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11205668" cy="667808"/>
          </a:xfrm>
        </p:spPr>
        <p:txBody>
          <a:bodyPr anchor="b">
            <a:normAutofit/>
          </a:bodyPr>
          <a:lstStyle>
            <a:lvl1pPr algn="r">
              <a:defRPr sz="29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6DB217A-F6B3-74AC-D9F2-0EF851F488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8313" y="1885244"/>
            <a:ext cx="11206162" cy="3999619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bg2">
                    <a:lumMod val="50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772F0C-A603-1AAE-F130-CB75D94E66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1800" b="0" i="1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3" name="Picture 2" descr="A blue text on a black background  Description automatically generated">
            <a:extLst>
              <a:ext uri="{FF2B5EF4-FFF2-40B4-BE49-F238E27FC236}">
                <a16:creationId xmlns:a16="http://schemas.microsoft.com/office/drawing/2014/main" id="{EFDB8958-F2C7-FD28-BC39-C75A7F900E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0549" y="366299"/>
            <a:ext cx="1893379" cy="71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968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37F2-5E51-EBE6-FB74-03ECD1F0C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11255022" cy="667808"/>
          </a:xfrm>
        </p:spPr>
        <p:txBody>
          <a:bodyPr anchor="b">
            <a:normAutofit/>
          </a:bodyPr>
          <a:lstStyle>
            <a:lvl1pPr>
              <a:defRPr sz="29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73EDE8-942A-C67F-DE1C-BE6A4B25F94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8489" y="1744134"/>
            <a:ext cx="5394960" cy="419446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774CE37E-4F1A-62C7-ADCA-33781ABD661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79197" y="1743240"/>
            <a:ext cx="5394960" cy="419446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BE8B51DB-C770-DED1-2745-73661B76F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1800" b="0" i="1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3" descr="A blue text on a black background  Description automatically generated">
            <a:extLst>
              <a:ext uri="{FF2B5EF4-FFF2-40B4-BE49-F238E27FC236}">
                <a16:creationId xmlns:a16="http://schemas.microsoft.com/office/drawing/2014/main" id="{2AAFFD30-7418-5FB2-1CEC-3BCDEA5FE1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20654" y="366299"/>
            <a:ext cx="1893379" cy="71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69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D562C5F-11BC-838C-96DD-BF84E16B5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6338711" cy="667808"/>
          </a:xfrm>
        </p:spPr>
        <p:txBody>
          <a:bodyPr anchor="b">
            <a:normAutofit/>
          </a:bodyPr>
          <a:lstStyle>
            <a:lvl1pPr>
              <a:defRPr sz="29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FD992D7D-9B11-EAF8-2BFF-D0C68BFB20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1800" b="0" i="1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F0156AF4-E910-6DDD-08C2-0F219BAD19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8489" y="1952856"/>
            <a:ext cx="5394960" cy="419446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BAEAED59-B436-D854-A7A7-0E526CFFEE8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43600" y="1952856"/>
            <a:ext cx="5730557" cy="4194466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MX"/>
          </a:p>
        </p:txBody>
      </p:sp>
      <p:pic>
        <p:nvPicPr>
          <p:cNvPr id="14" name="Picture 13" descr="A blue text on a black background  Description automatically generated">
            <a:extLst>
              <a:ext uri="{FF2B5EF4-FFF2-40B4-BE49-F238E27FC236}">
                <a16:creationId xmlns:a16="http://schemas.microsoft.com/office/drawing/2014/main" id="{729907F7-5752-315E-233C-001592E108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20654" y="366299"/>
            <a:ext cx="1893379" cy="71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956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green circle with white text  Description automatically generated">
            <a:extLst>
              <a:ext uri="{FF2B5EF4-FFF2-40B4-BE49-F238E27FC236}">
                <a16:creationId xmlns:a16="http://schemas.microsoft.com/office/drawing/2014/main" id="{E2ECDCF6-BB3C-C41B-37BD-CF9A847D9E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19604" y="1911350"/>
            <a:ext cx="2400300" cy="3035300"/>
          </a:xfrm>
          <a:prstGeom prst="rect">
            <a:avLst/>
          </a:prstGeom>
        </p:spPr>
      </p:pic>
      <p:pic>
        <p:nvPicPr>
          <p:cNvPr id="4" name="Picture 3" descr="A white rectangular object with blue edges  Description automatically generated">
            <a:extLst>
              <a:ext uri="{FF2B5EF4-FFF2-40B4-BE49-F238E27FC236}">
                <a16:creationId xmlns:a16="http://schemas.microsoft.com/office/drawing/2014/main" id="{B15EB905-7435-ED03-0D80-8B5BD86F22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06038" y="3892550"/>
            <a:ext cx="3517900" cy="105410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2CC3C8C2-60FA-33AB-F407-74B9B673F8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15292" y="2514600"/>
            <a:ext cx="6132560" cy="914400"/>
          </a:xfrm>
        </p:spPr>
        <p:txBody>
          <a:bodyPr>
            <a:normAutofit/>
          </a:bodyPr>
          <a:lstStyle>
            <a:lvl1pPr marL="0" indent="0">
              <a:buNone/>
              <a:defRPr sz="2800" b="1" i="1">
                <a:solidFill>
                  <a:srgbClr val="2297D5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  <a:endParaRPr lang="en-MX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3E2DF9FC-F40C-183B-F172-071F2A1304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73544" y="4245153"/>
            <a:ext cx="2782887" cy="484188"/>
          </a:xfrm>
        </p:spPr>
        <p:txBody>
          <a:bodyPr>
            <a:noAutofit/>
          </a:bodyPr>
          <a:lstStyle>
            <a:lvl1pPr marL="0" indent="0" algn="ctr">
              <a:buNone/>
              <a:defRPr sz="1800" b="1">
                <a:solidFill>
                  <a:srgbClr val="2297D5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  <a:endParaRPr lang="en-MX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3AD41B2-BB90-9084-6EB3-182E1FB7C8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313" y="1485460"/>
            <a:ext cx="11206162" cy="417162"/>
          </a:xfrm>
        </p:spPr>
        <p:txBody>
          <a:bodyPr lIns="72000" tIns="36000" rIns="216000" bIns="288000">
            <a:normAutofit/>
          </a:bodyPr>
          <a:lstStyle>
            <a:lvl1pPr marL="0" indent="0"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buNone/>
              <a:defRPr sz="1800" b="0" i="1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2213D86-4B51-8516-15A9-97D89C7138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489" y="773332"/>
            <a:ext cx="11205668" cy="667808"/>
          </a:xfrm>
        </p:spPr>
        <p:txBody>
          <a:bodyPr anchor="t">
            <a:normAutofit/>
          </a:bodyPr>
          <a:lstStyle>
            <a:lvl1pPr>
              <a:defRPr sz="29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pic>
        <p:nvPicPr>
          <p:cNvPr id="12" name="Picture 11" descr="A blue text on a black background  Description automatically generated">
            <a:extLst>
              <a:ext uri="{FF2B5EF4-FFF2-40B4-BE49-F238E27FC236}">
                <a16:creationId xmlns:a16="http://schemas.microsoft.com/office/drawing/2014/main" id="{2E7BCEFA-1ECC-E8BC-1461-194A7F7EF28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120654" y="366299"/>
            <a:ext cx="1893379" cy="71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85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6F94E-5EC9-EDBD-17A2-64005DA3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11035720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 with circles  Description automatically generated">
            <a:extLst>
              <a:ext uri="{FF2B5EF4-FFF2-40B4-BE49-F238E27FC236}">
                <a16:creationId xmlns:a16="http://schemas.microsoft.com/office/drawing/2014/main" id="{22708DD8-7420-F55D-12C4-32866CC72D23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40EBC7-ADE3-F209-E554-2D41BB8DE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42D941F-3EA9-5B81-108F-188A61A1C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90816"/>
            <a:ext cx="10515600" cy="4897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5246C9-67DA-6C7E-BE35-4C6A3271F174}"/>
              </a:ext>
            </a:extLst>
          </p:cNvPr>
          <p:cNvCxnSpPr>
            <a:cxnSpLocks/>
          </p:cNvCxnSpPr>
          <p:nvPr userDrawn="1"/>
        </p:nvCxnSpPr>
        <p:spPr>
          <a:xfrm flipH="1">
            <a:off x="826911" y="6394229"/>
            <a:ext cx="10526889" cy="0"/>
          </a:xfrm>
          <a:prstGeom prst="line">
            <a:avLst/>
          </a:prstGeom>
          <a:ln w="12700">
            <a:solidFill>
              <a:srgbClr val="A2BD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CC19694-A6F0-BA0A-2B27-AB1914034E5A}"/>
              </a:ext>
            </a:extLst>
          </p:cNvPr>
          <p:cNvSpPr txBox="1"/>
          <p:nvPr userDrawn="1"/>
        </p:nvSpPr>
        <p:spPr>
          <a:xfrm>
            <a:off x="838199" y="6448820"/>
            <a:ext cx="3882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>
                <a:solidFill>
                  <a:srgbClr val="A2BDC1"/>
                </a:solidFill>
                <a:latin typeface="Poppins Medium" pitchFamily="2" charset="77"/>
                <a:cs typeface="Poppins Medium" pitchFamily="2" charset="77"/>
              </a:rPr>
              <a:t>© 2025 Improving | All Rights Reserved</a:t>
            </a:r>
            <a:endParaRPr lang="en-MX" sz="1000" b="0" i="0">
              <a:solidFill>
                <a:srgbClr val="A2BDC1"/>
              </a:solidFill>
              <a:latin typeface="Poppins Medium" pitchFamily="2" charset="77"/>
              <a:cs typeface="Poppins Medium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E1052C-B58E-AB68-2C3D-C7C42F51B0E4}"/>
              </a:ext>
            </a:extLst>
          </p:cNvPr>
          <p:cNvSpPr txBox="1"/>
          <p:nvPr userDrawn="1"/>
        </p:nvSpPr>
        <p:spPr>
          <a:xfrm>
            <a:off x="11067344" y="6479823"/>
            <a:ext cx="572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3BB742A-9951-4A41-9B51-4F6023B7AEA7}" type="slidenum">
              <a:rPr lang="en-MX" sz="1200" b="1" i="0" smtClean="0">
                <a:solidFill>
                  <a:schemeClr val="bg2">
                    <a:lumMod val="75000"/>
                  </a:schemeClr>
                </a:solidFill>
                <a:latin typeface="Khula SemiBold" panose="02000000000000000000" pitchFamily="2" charset="0"/>
                <a:cs typeface="Khula SemiBold" panose="02000000000000000000" pitchFamily="2" charset="0"/>
              </a:rPr>
              <a:t>‹#›</a:t>
            </a:fld>
            <a:endParaRPr lang="en-MX" sz="1200" b="1" i="0">
              <a:solidFill>
                <a:schemeClr val="bg2">
                  <a:lumMod val="75000"/>
                </a:schemeClr>
              </a:solidFill>
              <a:latin typeface="Khula SemiBold" panose="02000000000000000000" pitchFamily="2" charset="0"/>
              <a:cs typeface="Khula Semi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84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1" r:id="rId3"/>
    <p:sldLayoutId id="2147483656" r:id="rId4"/>
    <p:sldLayoutId id="2147483654" r:id="rId5"/>
    <p:sldLayoutId id="2147483650" r:id="rId6"/>
    <p:sldLayoutId id="2147483659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rgbClr val="005596"/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6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1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05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9DE23-07AF-9DCB-823C-340B61C60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Texas Monthly Update</a:t>
            </a:r>
            <a:endParaRPr lang="en-MX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34E75F6-2F89-1619-D497-C5F6A6894F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/>
              <a:t>June 2026</a:t>
            </a:r>
            <a:endParaRPr lang="en-MX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4CAEA8F-B129-30CD-B221-6D49381C9ABC}"/>
              </a:ext>
            </a:extLst>
          </p:cNvPr>
          <p:cNvGrpSpPr/>
          <p:nvPr/>
        </p:nvGrpSpPr>
        <p:grpSpPr>
          <a:xfrm>
            <a:off x="6542741" y="995082"/>
            <a:ext cx="5133788" cy="5133788"/>
            <a:chOff x="2844800" y="177800"/>
            <a:chExt cx="6502400" cy="6502400"/>
          </a:xfrm>
        </p:grpSpPr>
        <p:pic>
          <p:nvPicPr>
            <p:cNvPr id="14" name="Picture 13" descr="A black map of the state of texas  AI-generated content may be incorrect.">
              <a:extLst>
                <a:ext uri="{FF2B5EF4-FFF2-40B4-BE49-F238E27FC236}">
                  <a16:creationId xmlns:a16="http://schemas.microsoft.com/office/drawing/2014/main" id="{59775DB6-3B07-D731-2305-A0CF5A5E80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bg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68652" y1="72461" x2="67969" y2="72754"/>
                          <a14:backgroundMark x1="71387" y1="70605" x2="70215" y2="70215"/>
                          <a14:backgroundMark x1="78125" y1="65430" x2="78906" y2="65039"/>
                          <a14:backgroundMark x1="67383" y1="72461" x2="67383" y2="72461"/>
                          <a14:backgroundMark x1="72266" y1="69629" x2="72266" y2="6962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44800" y="177800"/>
              <a:ext cx="6502400" cy="650240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C97F5864-8AF5-CCAD-BF6C-54A15D84B9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0851" y="2003927"/>
              <a:ext cx="3581433" cy="28501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35813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B7C38F-B60E-BF77-2E9B-0EE9B13FB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E3692C-F465-9EC6-5C66-45380E0B583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800" dirty="0"/>
              <a:t>1. Review current measures</a:t>
            </a:r>
          </a:p>
          <a:p>
            <a:pPr marL="0" indent="0">
              <a:buNone/>
            </a:pPr>
            <a:r>
              <a:rPr lang="en-US" sz="2800" dirty="0"/>
              <a:t>2. Regional account focus</a:t>
            </a:r>
          </a:p>
          <a:p>
            <a:pPr marL="0" indent="0">
              <a:buNone/>
            </a:pPr>
            <a:r>
              <a:rPr lang="en-US" sz="2800" dirty="0"/>
              <a:t>3. Initiative updates</a:t>
            </a:r>
          </a:p>
          <a:p>
            <a:pPr marL="0" indent="0">
              <a:buNone/>
            </a:pPr>
            <a:r>
              <a:rPr lang="en-US" sz="2800" dirty="0"/>
              <a:t>4. Calendar planning</a:t>
            </a:r>
          </a:p>
          <a:p>
            <a:pPr marL="0" indent="0">
              <a:buNone/>
            </a:pPr>
            <a:r>
              <a:rPr lang="en-US" sz="2800" dirty="0"/>
              <a:t>5. Discussion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C567CD0-DFE9-2075-25EC-8487FBF18C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75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FC1AF-D296-C022-3CD9-C091F2A02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 xml:space="preserve"> Personal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87004-AA39-5FDB-A61B-B15EDE675ED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200" dirty="0">
                <a:solidFill>
                  <a:schemeClr val="accent5"/>
                </a:solidFill>
              </a:rPr>
              <a:t>Large accounts ($2M+) that have doubled: 0</a:t>
            </a:r>
          </a:p>
          <a:p>
            <a:r>
              <a:rPr lang="en-US" sz="3200" dirty="0">
                <a:solidFill>
                  <a:schemeClr val="accent5"/>
                </a:solidFill>
              </a:rPr>
              <a:t>Medium accounts ($750K+) that have doubled: 0</a:t>
            </a:r>
          </a:p>
          <a:p>
            <a:r>
              <a:rPr lang="en-US" sz="3200" dirty="0">
                <a:solidFill>
                  <a:schemeClr val="accent5"/>
                </a:solidFill>
              </a:rPr>
              <a:t>New Anchors from pursuit: 0</a:t>
            </a:r>
          </a:p>
          <a:p>
            <a:r>
              <a:rPr lang="en-US" sz="3200" dirty="0">
                <a:solidFill>
                  <a:schemeClr val="accent5"/>
                </a:solidFill>
              </a:rPr>
              <a:t>New Key from pursuit (stretch): 0</a:t>
            </a:r>
          </a:p>
          <a:p>
            <a:r>
              <a:rPr lang="en-US" sz="3200" dirty="0">
                <a:solidFill>
                  <a:schemeClr val="accent5"/>
                </a:solidFill>
              </a:rPr>
              <a:t>Partner Co-sell influenced: $0</a:t>
            </a:r>
          </a:p>
          <a:p>
            <a:r>
              <a:rPr lang="en-US" sz="3200" dirty="0">
                <a:solidFill>
                  <a:schemeClr val="accent5"/>
                </a:solidFill>
              </a:rPr>
              <a:t>C-Suite connections added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accent5"/>
                </a:solidFill>
              </a:rPr>
              <a:t>Awareness 1:	12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accent5"/>
                </a:solidFill>
              </a:rPr>
              <a:t>Awareness 2:	2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accent5"/>
                </a:solidFill>
              </a:rPr>
              <a:t>Awareness 3:	0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accent5"/>
                </a:solidFill>
              </a:rPr>
              <a:t>Awareness 4+: 	0</a:t>
            </a:r>
          </a:p>
          <a:p>
            <a:r>
              <a:rPr lang="en-US" sz="3200" dirty="0">
                <a:solidFill>
                  <a:schemeClr val="accent5"/>
                </a:solidFill>
              </a:rPr>
              <a:t>Speaking Engagements Completed: 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B97F28-829E-DC12-6DE0-18A08B8ED1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805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5CAF8-205C-A46E-485A-30DE2B4A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20E9E-598B-E3A2-FBD4-AE22CE793E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6978D635-C03A-B540-2F94-E3CD066C37FA}"/>
              </a:ext>
            </a:extLst>
          </p:cNvPr>
          <p:cNvSpPr>
            <a:spLocks noGrp="1" noChangeAspect="1" noChangeArrowheads="1"/>
          </p:cNvSpPr>
          <p:nvPr>
            <p:ph sz="quarter" idx="10"/>
          </p:nvPr>
        </p:nvSpPr>
        <p:spPr bwMode="auto">
          <a:xfrm>
            <a:off x="468313" y="1885244"/>
            <a:ext cx="11206162" cy="4270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sz="2000" dirty="0">
                <a:solidFill>
                  <a:schemeClr val="accent5"/>
                </a:solidFill>
              </a:rPr>
              <a:t xml:space="preserve">One Texas Q2 Revenue vs. Target: 		</a:t>
            </a:r>
            <a:r>
              <a:rPr lang="en-US" sz="2000" dirty="0">
                <a:solidFill>
                  <a:srgbClr val="FF0000"/>
                </a:solidFill>
              </a:rPr>
              <a:t>-11%</a:t>
            </a:r>
          </a:p>
          <a:p>
            <a:r>
              <a:rPr lang="en-US" sz="2000" dirty="0">
                <a:solidFill>
                  <a:schemeClr val="accent5"/>
                </a:solidFill>
              </a:rPr>
              <a:t xml:space="preserve">Dallas Q2 vs. Target: 			</a:t>
            </a:r>
            <a:r>
              <a:rPr lang="en-US" sz="2000" dirty="0">
                <a:solidFill>
                  <a:srgbClr val="00B050"/>
                </a:solidFill>
              </a:rPr>
              <a:t>+2%</a:t>
            </a:r>
          </a:p>
          <a:p>
            <a:r>
              <a:rPr lang="en-US" sz="2000" dirty="0">
                <a:solidFill>
                  <a:schemeClr val="accent5"/>
                </a:solidFill>
              </a:rPr>
              <a:t xml:space="preserve">South Texas Q2 vs. Target: 			</a:t>
            </a:r>
            <a:r>
              <a:rPr lang="en-US" sz="2000" dirty="0">
                <a:solidFill>
                  <a:srgbClr val="FF0000"/>
                </a:solidFill>
              </a:rPr>
              <a:t>-24%</a:t>
            </a:r>
          </a:p>
          <a:p>
            <a:r>
              <a:rPr lang="en-US" sz="2000" dirty="0">
                <a:solidFill>
                  <a:schemeClr val="accent5"/>
                </a:solidFill>
              </a:rPr>
              <a:t xml:space="preserve">May Monthly Revenue: 			</a:t>
            </a:r>
            <a:r>
              <a:rPr lang="en-US" sz="2000" dirty="0">
                <a:solidFill>
                  <a:schemeClr val="accent5"/>
                </a:solidFill>
              </a:rPr>
              <a:t>Dallas $2.73M  |  South Texas $3.02M  |  OTX $5.75M</a:t>
            </a:r>
          </a:p>
          <a:p>
            <a:r>
              <a:rPr lang="en-US" sz="2000" dirty="0">
                <a:solidFill>
                  <a:schemeClr val="accent5"/>
                </a:solidFill>
              </a:rPr>
              <a:t xml:space="preserve">Partner Co-sell Pipeline: 			$50K pipeline  |  Won: $332K  (** verify w/ Sales Ops)</a:t>
            </a:r>
          </a:p>
          <a:p>
            <a:r>
              <a:rPr lang="en-US" sz="2000" dirty="0">
                <a:solidFill>
                  <a:schemeClr val="accent5"/>
                </a:solidFill>
              </a:rPr>
              <a:t xml:space="preserve">New Logos YTD (May):  			7 OTX  (Dallas 6  |  STX 1 — watch)</a:t>
            </a:r>
          </a:p>
          <a:p>
            <a:r>
              <a:rPr lang="en-US" sz="2000" dirty="0">
                <a:solidFill>
                  <a:schemeClr val="accent5"/>
                </a:solidFill>
              </a:rPr>
              <a:t>New Anchors YTD (May): 			2 of 3 annual target — on pace</a:t>
            </a:r>
          </a:p>
          <a:p>
            <a:r>
              <a:rPr lang="en-US" sz="2000" dirty="0">
                <a:solidFill>
                  <a:schemeClr val="accent5"/>
                </a:solidFill>
              </a:rPr>
              <a:t xml:space="preserve">90-Day Weighted Pipeline (Rock 1): 		</a:t>
            </a:r>
            <a:r>
              <a:rPr lang="en-US" sz="2000" dirty="0">
                <a:solidFill>
                  <a:srgbClr val="00B050"/>
                </a:solidFill>
              </a:rPr>
              <a:t>South Texas 74%  |  Dallas 95%</a:t>
            </a:r>
          </a:p>
          <a:p>
            <a:r>
              <a:rPr lang="en-US" sz="2000" dirty="0">
                <a:solidFill>
                  <a:schemeClr val="accent5"/>
                </a:solidFill>
              </a:rPr>
              <a:t xml:space="preserve">Speaking Completed (YTD): 			</a:t>
            </a:r>
            <a:r>
              <a:rPr lang="en-US" sz="2000" dirty="0">
                <a:solidFill>
                  <a:schemeClr val="accent5"/>
                </a:solidFill>
              </a:rPr>
              <a:t>update manually</a:t>
            </a:r>
          </a:p>
        </p:txBody>
      </p:sp>
    </p:spTree>
    <p:extLst>
      <p:ext uri="{BB962C8B-B14F-4D97-AF65-F5344CB8AC3E}">
        <p14:creationId xmlns:p14="http://schemas.microsoft.com/office/powerpoint/2010/main" val="2949543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54525-2E70-50F5-E8DA-35E73DEC6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Regional Account Focus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68B291-889A-799D-8A15-F2C6672F2C2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 numCol="2">
            <a:normAutofit/>
          </a:bodyPr>
          <a:lstStyle/>
          <a:p>
            <a:r>
              <a:rPr lang="en-US" sz="3200" dirty="0"/>
              <a:t>Autodesk</a:t>
            </a:r>
          </a:p>
          <a:p>
            <a:r>
              <a:rPr lang="en-US" sz="3200" dirty="0">
                <a:solidFill>
                  <a:srgbClr val="00B050"/>
                </a:solidFill>
              </a:rPr>
              <a:t>Insperity</a:t>
            </a:r>
          </a:p>
          <a:p>
            <a:r>
              <a:rPr lang="en-US" sz="3200" dirty="0"/>
              <a:t>Intuit</a:t>
            </a:r>
          </a:p>
          <a:p>
            <a:r>
              <a:rPr lang="en-US" sz="3200" dirty="0"/>
              <a:t>PriceSmart</a:t>
            </a:r>
          </a:p>
          <a:p>
            <a:r>
              <a:rPr lang="en-US" sz="3200" dirty="0">
                <a:solidFill>
                  <a:srgbClr val="00B050"/>
                </a:solidFill>
              </a:rPr>
              <a:t>Siemens</a:t>
            </a:r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Marriott</a:t>
            </a:r>
          </a:p>
          <a:p>
            <a:r>
              <a:rPr lang="en-US" sz="3200" dirty="0"/>
              <a:t>Kirby Corp</a:t>
            </a:r>
          </a:p>
          <a:p>
            <a:r>
              <a:rPr lang="en-US" sz="3200" dirty="0"/>
              <a:t>Expedia</a:t>
            </a:r>
          </a:p>
          <a:p>
            <a:r>
              <a:rPr lang="en-US" sz="3200" dirty="0"/>
              <a:t>Masimo</a:t>
            </a:r>
          </a:p>
          <a:p>
            <a:r>
              <a:rPr lang="en-US" sz="3200" dirty="0"/>
              <a:t>Constellation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3DB4E1-C703-7EA1-7424-0962607A749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 numCol="2">
            <a:norm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McKesson</a:t>
            </a:r>
          </a:p>
          <a:p>
            <a:r>
              <a:rPr lang="en-US" sz="3200" dirty="0">
                <a:solidFill>
                  <a:srgbClr val="00B050"/>
                </a:solidFill>
              </a:rPr>
              <a:t>7-Eleven</a:t>
            </a:r>
          </a:p>
          <a:p>
            <a:r>
              <a:rPr lang="en-US" sz="3200" dirty="0"/>
              <a:t>Wendy’s</a:t>
            </a:r>
          </a:p>
          <a:p>
            <a:r>
              <a:rPr lang="en-US" sz="3200" dirty="0"/>
              <a:t>Schwab</a:t>
            </a:r>
          </a:p>
          <a:p>
            <a:r>
              <a:rPr lang="en-US" sz="3200" dirty="0"/>
              <a:t>ORIX</a:t>
            </a:r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AT&amp;T</a:t>
            </a:r>
          </a:p>
          <a:p>
            <a:r>
              <a:rPr lang="en-US" sz="3200" dirty="0">
                <a:solidFill>
                  <a:srgbClr val="FFC000"/>
                </a:solidFill>
              </a:rPr>
              <a:t>Builders First Source</a:t>
            </a:r>
          </a:p>
          <a:p>
            <a:r>
              <a:rPr lang="en-US" sz="3200" dirty="0">
                <a:solidFill>
                  <a:srgbClr val="00B050"/>
                </a:solidFill>
              </a:rPr>
              <a:t>CBRE</a:t>
            </a:r>
          </a:p>
          <a:p>
            <a:r>
              <a:rPr lang="en-US" sz="3200" dirty="0"/>
              <a:t>Tenet</a:t>
            </a:r>
          </a:p>
          <a:p>
            <a:r>
              <a:rPr lang="en-US" sz="3200" dirty="0"/>
              <a:t>Texas Instruments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3886451-95E7-49D3-95B8-36DC1028FF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17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836C0-FA5A-6CD1-2D5A-3FDCDCE2E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Initiative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9BFB7-7B9D-9C9D-FE5A-8176A29F684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numCol="2">
            <a:normAutofit/>
          </a:bodyPr>
          <a:lstStyle/>
          <a:p>
            <a:r>
              <a:rPr sz="1600" dirty="0"/>
              <a:t>Dallas Wins</a:t>
            </a:r>
          </a:p>
          <a:p>
            <a:pPr lvl="1"/>
            <a:r>
              <a:rPr sz="1400" dirty="0"/>
              <a:t>Q2 YTD: 6 logos (Ways2Well, Simpson Strong-Tie + 4 more)</a:t>
            </a:r>
          </a:p>
          <a:p>
            <a:pPr lvl="1"/>
            <a:r>
              <a:rPr sz="1400" dirty="0"/>
              <a:t>Dallas Q2 revenue +2% vs. target – holding green</a:t>
            </a:r>
          </a:p>
          <a:p>
            <a:pPr lvl="1"/>
            <a:r>
              <a:rPr sz="1400" dirty="0"/>
              <a:t>90-day forecast at 95% – on track</a:t>
            </a:r>
          </a:p>
          <a:p>
            <a:endParaRPr sz="1400" dirty="0"/>
          </a:p>
          <a:p>
            <a:r>
              <a:rPr sz="1600" dirty="0"/>
              <a:t>Dallas Challenges</a:t>
            </a:r>
          </a:p>
          <a:p>
            <a:pPr lvl="1"/>
            <a:r>
              <a:rPr sz="1400" dirty="0"/>
              <a:t>Anchor pursuit behind – 0 of 3 annual target (Dallas)</a:t>
            </a:r>
          </a:p>
          <a:p>
            <a:pPr lvl="1"/>
            <a:r>
              <a:rPr sz="1400" dirty="0"/>
              <a:t>Co-sell pipeline data integrity issue – verify with Sales Ops</a:t>
            </a:r>
          </a:p>
          <a:p>
            <a:endParaRPr lang="en-US" sz="1400" dirty="0"/>
          </a:p>
          <a:p>
            <a:endParaRPr lang="en-US" dirty="0"/>
          </a:p>
          <a:p>
            <a:endParaRPr sz="1400" dirty="0"/>
          </a:p>
          <a:p>
            <a:r>
              <a:rPr sz="1600" dirty="0"/>
              <a:t>South Texas Wins</a:t>
            </a:r>
          </a:p>
          <a:p>
            <a:pPr lvl="1"/>
            <a:r>
              <a:rPr sz="1400" dirty="0"/>
              <a:t>Q2 YTD: 1 logo — significant drop from Q1</a:t>
            </a:r>
          </a:p>
          <a:p>
            <a:pPr lvl="1"/>
            <a:r>
              <a:rPr sz="1400" dirty="0"/>
              <a:t>Siemens anchor (Houston) + 1 more = 2 of 3 OTX annual target</a:t>
            </a:r>
          </a:p>
          <a:p>
            <a:endParaRPr sz="1400" dirty="0"/>
          </a:p>
          <a:p>
            <a:r>
              <a:rPr sz="1600" dirty="0"/>
              <a:t>South Texas Challenges</a:t>
            </a:r>
          </a:p>
          <a:p>
            <a:pPr lvl="1"/>
            <a:r>
              <a:rPr sz="1400" dirty="0"/>
              <a:t>Q2 revenue -24% vs. target – accelerating deterioration</a:t>
            </a:r>
          </a:p>
          <a:p>
            <a:pPr lvl="1"/>
            <a:r>
              <a:rPr sz="1400" dirty="0"/>
              <a:t>90-day forecast only 74% – gap not closing this quarter</a:t>
            </a:r>
          </a:p>
          <a:p>
            <a:pPr lvl="1"/>
            <a:r>
              <a:rPr sz="1400" dirty="0"/>
              <a:t>Houston primary driver (-25% CQ vs. target)</a:t>
            </a:r>
          </a:p>
          <a:p>
            <a:endParaRPr lang="en-US" sz="1400" dirty="0"/>
          </a:p>
          <a:p>
            <a:r>
              <a:rPr lang="en-US" sz="1600" dirty="0"/>
              <a:t>One Texas</a:t>
            </a:r>
          </a:p>
          <a:p>
            <a:pPr lvl="1"/>
            <a:r>
              <a:rPr lang="en-US" dirty="0"/>
              <a:t>Convergence AI + DRC events driving pipeline coverage</a:t>
            </a:r>
          </a:p>
          <a:p>
            <a:pPr lvl="1"/>
            <a:r>
              <a:rPr lang="en-US" dirty="0"/>
              <a:t>“The Improving Edge” Podcast – episodes in progress</a:t>
            </a:r>
          </a:p>
          <a:p>
            <a:endParaRPr lang="en-US" dirty="0"/>
          </a:p>
          <a:p>
            <a:pPr lvl="1"/>
            <a:endParaRPr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44C1D2-046A-7089-8BD5-CF3712B2E78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04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A3698-6239-6EC4-44D8-9D9B60A7A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Partner Momentum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3099DA-EBE5-9C73-C510-92BB13483F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Microsoft + Confluent Co-Sell Pipeline — June 2026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BF1E8F1-E046-38CD-8BCC-CC6C1F53A273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753242036"/>
              </p:ext>
            </p:extLst>
          </p:nvPr>
        </p:nvGraphicFramePr>
        <p:xfrm>
          <a:off x="468313" y="1473178"/>
          <a:ext cx="11205844" cy="4840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6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8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76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216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rPr sz="1600"/>
                        <a:t>Partner / Seller</a:t>
                      </a:r>
                    </a:p>
                  </a:txBody>
                  <a:tcPr marL="63500" marT="38100" marB="38100" anchor="ctr">
                    <a:solidFill>
                      <a:srgbClr val="0055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rPr sz="1600"/>
                        <a:t>Improving Seller</a:t>
                      </a:r>
                    </a:p>
                  </a:txBody>
                  <a:tcPr marL="63500" marT="38100" marB="38100" anchor="ctr">
                    <a:solidFill>
                      <a:srgbClr val="0055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rPr sz="1600" dirty="0"/>
                        <a:t>Account(s)</a:t>
                      </a:r>
                    </a:p>
                  </a:txBody>
                  <a:tcPr marL="63500" marT="38100" marB="38100" anchor="ctr">
                    <a:solidFill>
                      <a:srgbClr val="0055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rPr sz="1600"/>
                        <a:t>Status / Next Step</a:t>
                      </a:r>
                    </a:p>
                  </a:txBody>
                  <a:tcPr marL="63500" marT="38100" marB="38100" anchor="ctr">
                    <a:solidFill>
                      <a:srgbClr val="0055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92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600" dirty="0"/>
                        <a:t>Rob Ogbah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 dirty="0"/>
                        <a:t>Strategic AE</a:t>
                      </a:r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600" dirty="0"/>
                        <a:t>David O’Hara</a:t>
                      </a:r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800" b="1" dirty="0"/>
                        <a:t>CBRE</a:t>
                      </a:r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 dirty="0"/>
                        <a:t>CBRE in pipeline — PS engagement planned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 dirty="0"/>
                        <a:t>Confluent pipeline: $785K (2 opps, 0 closed)</a:t>
                      </a:r>
                      <a:endParaRPr lang="en-US" sz="1400" dirty="0"/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80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600" dirty="0"/>
                        <a:t xml:space="preserve">Arean </a:t>
                      </a:r>
                      <a:r>
                        <a:rPr sz="1600" dirty="0" err="1"/>
                        <a:t>Asgariani</a:t>
                      </a:r>
                      <a:endParaRPr sz="1600" dirty="0"/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 dirty="0"/>
                        <a:t>Sr. Enterprise AE</a:t>
                      </a:r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600"/>
                        <a:t>Diana Stevens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/>
                        <a:t>VP Sales</a:t>
                      </a:r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800" b="1" dirty="0"/>
                        <a:t>American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800" b="1" dirty="0"/>
                        <a:t>Airlines</a:t>
                      </a:r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lang="en-US" sz="1400" dirty="0"/>
                        <a:t>3-way meeting completed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lang="en-US" sz="1400" dirty="0"/>
                        <a:t>Microsoft $1.64M pipeline (3 opps, 1 win $332K)</a:t>
                      </a:r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80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600" dirty="0"/>
                        <a:t>Kevin Collin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 dirty="0"/>
                        <a:t>Sr. Enterprise AE</a:t>
                      </a:r>
                    </a:p>
                  </a:txBody>
                  <a:tcPr marL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600" dirty="0"/>
                        <a:t>Diana Stevens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 dirty="0"/>
                        <a:t>VP Sales</a:t>
                      </a:r>
                    </a:p>
                  </a:txBody>
                  <a:tcPr marL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800" b="1" dirty="0"/>
                        <a:t>McKesson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800" b="1" dirty="0"/>
                        <a:t>Toyota</a:t>
                      </a:r>
                    </a:p>
                  </a:txBody>
                  <a:tcPr marL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/>
                        <a:t>McKesson — active Q3 pursuit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/>
                        <a:t>Toyota — Cloud/AI proposal in progress</a:t>
                      </a:r>
                    </a:p>
                  </a:txBody>
                  <a:tcPr marL="63500" marT="38100" marB="381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700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600" dirty="0"/>
                        <a:t>David Nanson</a:t>
                      </a:r>
                      <a:r>
                        <a:rPr lang="en-US" sz="1600" dirty="0"/>
                        <a:t xml:space="preserve"> &amp; </a:t>
                      </a:r>
                      <a:r>
                        <a:rPr sz="1600" dirty="0" err="1"/>
                        <a:t>Surain</a:t>
                      </a:r>
                      <a:r>
                        <a:rPr sz="1600" dirty="0"/>
                        <a:t xml:space="preserve"> </a:t>
                      </a:r>
                      <a:r>
                        <a:rPr sz="1600" dirty="0" err="1"/>
                        <a:t>Asokaraj</a:t>
                      </a:r>
                      <a:endParaRPr sz="1600" dirty="0"/>
                    </a:p>
                  </a:txBody>
                  <a:tcPr marL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 b="1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600" dirty="0"/>
                        <a:t>Stephen Johnson</a:t>
                      </a:r>
                      <a:br>
                        <a:rPr lang="en-US" sz="1600" dirty="0"/>
                      </a:br>
                      <a:r>
                        <a:rPr lang="en-US" sz="1400" b="0" dirty="0"/>
                        <a:t>VP Sales</a:t>
                      </a:r>
                      <a:endParaRPr lang="en-US" sz="1600" b="0" dirty="0"/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endParaRPr sz="1600" dirty="0"/>
                    </a:p>
                  </a:txBody>
                  <a:tcPr marL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800" b="1" dirty="0"/>
                        <a:t>NRG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800" b="1" dirty="0"/>
                        <a:t>Halliburton</a:t>
                      </a:r>
                    </a:p>
                  </a:txBody>
                  <a:tcPr marL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 dirty="0"/>
                        <a:t>NRG — AI SDLC proposal advancing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 dirty="0"/>
                        <a:t>Halliburton — POC ongoing</a:t>
                      </a:r>
                    </a:p>
                  </a:txBody>
                  <a:tcPr marL="63500" marT="38100" marB="381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216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600" dirty="0"/>
                        <a:t>Stuart Maynard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 dirty="0"/>
                        <a:t>Enterprise AE</a:t>
                      </a:r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600" dirty="0"/>
                        <a:t>Stephen Johnson</a:t>
                      </a:r>
                      <a:endParaRPr lang="en-US" sz="1600" dirty="0"/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lang="en-US" sz="1400" b="0" dirty="0"/>
                        <a:t>VP Sales</a:t>
                      </a:r>
                      <a:endParaRPr sz="1200" b="0" dirty="0"/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800" b="1" dirty="0"/>
                        <a:t>Insperity</a:t>
                      </a:r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 dirty="0"/>
                        <a:t>Insperity — active engagement, Q3 pursuit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 dirty="0"/>
                        <a:t>Confluent relationship active</a:t>
                      </a:r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216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600" dirty="0"/>
                        <a:t>Dante Lanza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 dirty="0"/>
                        <a:t>Regional Sales Dir</a:t>
                      </a:r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600" dirty="0"/>
                        <a:t>David/Ehren</a:t>
                      </a:r>
                      <a:r>
                        <a:rPr lang="en-US" sz="1600" dirty="0"/>
                        <a:t>/Nick</a:t>
                      </a:r>
                      <a:endParaRPr sz="1600" dirty="0"/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lang="en-US" sz="1800" b="1" dirty="0"/>
                        <a:t>Account Review</a:t>
                      </a:r>
                      <a:endParaRPr sz="1800" b="1" dirty="0"/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 dirty="0"/>
                        <a:t>Account review complete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>
                          <a:solidFill>
                            <a:srgbClr val="333333"/>
                          </a:solidFill>
                          <a:latin typeface="Khula"/>
                        </a:defRPr>
                      </a:pPr>
                      <a:r>
                        <a:rPr sz="1400" dirty="0"/>
                        <a:t>Next: Q3 activation planning</a:t>
                      </a:r>
                    </a:p>
                  </a:txBody>
                  <a:tcPr marL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906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2860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5FF3B-3F63-5BCF-B36D-FA1D0A671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Calendar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62568-2D66-1EC3-3B5A-2E353C30160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numCol="2">
            <a:normAutofit/>
          </a:bodyPr>
          <a:lstStyle/>
          <a:p>
            <a:r>
              <a:rPr sz="1600" dirty="0"/>
              <a:t>One Texas Monthly Meeting</a:t>
            </a:r>
          </a:p>
          <a:p>
            <a:pPr lvl="1"/>
            <a:r>
              <a:rPr sz="1400" dirty="0"/>
              <a:t>June 26, 2026</a:t>
            </a:r>
          </a:p>
          <a:p>
            <a:endParaRPr sz="1400" dirty="0"/>
          </a:p>
          <a:p>
            <a:r>
              <a:rPr sz="1600" dirty="0"/>
              <a:t>Microsoft AI Tour – Houston</a:t>
            </a:r>
          </a:p>
          <a:p>
            <a:pPr lvl="1"/>
            <a:r>
              <a:rPr sz="1400" dirty="0"/>
              <a:t>Houston – completed May 28</a:t>
            </a:r>
          </a:p>
          <a:p>
            <a:endParaRPr sz="1400" dirty="0"/>
          </a:p>
          <a:p>
            <a:r>
              <a:rPr sz="1600" dirty="0"/>
              <a:t>Convergence AI</a:t>
            </a:r>
          </a:p>
          <a:p>
            <a:pPr lvl="1"/>
            <a:r>
              <a:rPr sz="1400" dirty="0"/>
              <a:t>Dallas – completed March 30-31</a:t>
            </a:r>
          </a:p>
          <a:p>
            <a:pPr marL="0" indent="0">
              <a:buNone/>
            </a:pPr>
            <a:endParaRPr sz="1400" dirty="0"/>
          </a:p>
          <a:p>
            <a:r>
              <a:rPr lang="en-US" sz="1600" dirty="0"/>
              <a:t>Q3 One Texas Planning</a:t>
            </a:r>
          </a:p>
          <a:p>
            <a:pPr lvl="1"/>
            <a:r>
              <a:rPr lang="en-US" dirty="0"/>
              <a:t>Dallas + Houston – July TBD</a:t>
            </a:r>
          </a:p>
          <a:p>
            <a:pPr marL="0" indent="0">
              <a:buNone/>
            </a:pPr>
            <a:endParaRPr lang="en-US" sz="1400" dirty="0"/>
          </a:p>
          <a:p>
            <a:r>
              <a:rPr lang="en-US" sz="1600" dirty="0"/>
              <a:t>DRC Executive Workshop</a:t>
            </a:r>
          </a:p>
          <a:p>
            <a:pPr lvl="1"/>
            <a:r>
              <a:rPr lang="en-US" dirty="0"/>
              <a:t>Dallas – Q3 TBD</a:t>
            </a:r>
          </a:p>
          <a:p>
            <a:pPr marL="0" indent="0">
              <a:buNone/>
            </a:pPr>
            <a:endParaRPr sz="1400" dirty="0"/>
          </a:p>
          <a:p>
            <a:r>
              <a:rPr sz="1600" dirty="0"/>
              <a:t>Speaking Engagements</a:t>
            </a:r>
          </a:p>
          <a:p>
            <a:pPr lvl="1"/>
            <a:r>
              <a:rPr sz="1400" dirty="0"/>
              <a:t>Update manually – 10 target for year</a:t>
            </a:r>
            <a:endParaRPr lang="en-US" sz="1400" dirty="0"/>
          </a:p>
          <a:p>
            <a:endParaRPr lang="en-US" sz="1600" dirty="0"/>
          </a:p>
          <a:p>
            <a:r>
              <a:rPr lang="en-US" sz="1600" dirty="0"/>
              <a:t>CEO Breakfast Roundtable</a:t>
            </a:r>
          </a:p>
          <a:p>
            <a:pPr lvl="1"/>
            <a:r>
              <a:rPr lang="en-US" dirty="0"/>
              <a:t>Dallas – Q3 TBD</a:t>
            </a:r>
          </a:p>
          <a:p>
            <a:pPr lvl="1"/>
            <a:endParaRPr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F06094-FBF4-5325-DE03-7B7F04A601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086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FCCB-485A-D16B-DA22-D50521A5B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72A21-4FD5-B3B3-1E4A-00EE6EF322F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210450-DC57-12CE-A50C-0F63FA08D3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Q2 Revenue Review — One Texas Scorecard</a:t>
            </a:r>
          </a:p>
        </p:txBody>
      </p:sp>
    </p:spTree>
    <p:extLst>
      <p:ext uri="{BB962C8B-B14F-4D97-AF65-F5344CB8AC3E}">
        <p14:creationId xmlns:p14="http://schemas.microsoft.com/office/powerpoint/2010/main" val="455762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7CE51-7B3B-8173-9ECD-5F273342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A913F-4760-7D00-8606-064E54A331C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77500" lnSpcReduction="20000"/>
          </a:bodyPr>
          <a:lstStyle/>
          <a:p>
            <a:r>
              <a:rPr sz="1600"/>
              <a:t>90-Day Weighted Pipeline (Rock 1)</a:t>
            </a:r>
          </a:p>
          <a:p>
            <a:pPr lvl="1"/>
            <a:r>
              <a:rPr sz="1400"/>
              <a:t>Dallas: 95% of forecast – on track</a:t>
            </a:r>
          </a:p>
          <a:p>
            <a:pPr lvl="1"/>
            <a:r>
              <a:rPr sz="1400"/>
              <a:t>South Texas: 74% – below 90% threshold, gap not closing</a:t>
            </a:r>
          </a:p>
          <a:p>
            <a:endParaRPr sz="1400"/>
          </a:p>
          <a:p>
            <a:r>
              <a:rPr sz="1600"/>
              <a:t>New Logos YTD (Q1)</a:t>
            </a:r>
          </a:p>
          <a:p>
            <a:pPr lvl="1"/>
            <a:r>
              <a:rPr sz="1400"/>
              <a:t>Dallas: 6 logos YTD (Ways2Well, Simpson Strong-Tie + 4 more)</a:t>
            </a:r>
          </a:p>
          <a:p>
            <a:pPr lvl="1"/>
            <a:r>
              <a:rPr sz="1400"/>
              <a:t>South Texas: 1 logo YTD — WATCH | One Texas: 7 logos YTD</a:t>
            </a:r>
          </a:p>
          <a:p>
            <a:pPr lvl="1"/>
            <a:r>
              <a:rPr sz="1400"/>
              <a:t>New Anchors: 2 of 3 annual (Siemens Houston + 1) — ON PACE</a:t>
            </a:r>
          </a:p>
          <a:p>
            <a:endParaRPr sz="1400"/>
          </a:p>
          <a:p>
            <a:r>
              <a:rPr sz="1600"/>
              <a:t>Partner Co-Sell (Rock 4)</a:t>
            </a:r>
          </a:p>
          <a:p>
            <a:pPr lvl="1"/>
            <a:r>
              <a:rPr sz="1400"/>
              <a:t>Microsoft: $50K pipeline | $332K won (1 opp)</a:t>
            </a:r>
          </a:p>
          <a:p>
            <a:pPr lvl="1"/>
            <a:r>
              <a:rPr sz="1400"/>
              <a:t>Confluent: $785K pipeline (2 opps, 0 closed) – as of June 9</a:t>
            </a:r>
          </a:p>
          <a:p>
            <a:pPr lvl="1"/>
            <a:r>
              <a:rPr sz="1400"/>
              <a:t>** June 22 data shows anomaly – verify with Sales Ops before meeting</a:t>
            </a:r>
          </a:p>
          <a:p>
            <a:endParaRPr sz="1400"/>
          </a:p>
          <a:p>
            <a:r>
              <a:rPr sz="1600"/>
              <a:t>Discussion</a:t>
            </a:r>
          </a:p>
          <a:p>
            <a:pPr lvl="1"/>
            <a:r>
              <a:rPr sz="1400"/>
              <a:t>South Texas recovery plan – Q3 actions</a:t>
            </a:r>
          </a:p>
          <a:p>
            <a:pPr lvl="1"/>
            <a:r>
              <a:rPr sz="1400"/>
              <a:t>Anchor pursuit acceleration (2 remaining of 3 annual)</a:t>
            </a:r>
          </a:p>
          <a:p>
            <a:pPr lvl="1"/>
            <a:r>
              <a:rPr sz="1400"/>
              <a:t>Co-sell pipeline data integrity – next steps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D8C54E-178D-6D39-8373-3AF669AAA3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110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597D3"/>
      </a:accent1>
      <a:accent2>
        <a:srgbClr val="005596"/>
      </a:accent2>
      <a:accent3>
        <a:srgbClr val="FF9300"/>
      </a:accent3>
      <a:accent4>
        <a:srgbClr val="5BC2A7"/>
      </a:accent4>
      <a:accent5>
        <a:srgbClr val="606060"/>
      </a:accent5>
      <a:accent6>
        <a:srgbClr val="F5BB4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arter Preso Alternative Style NOV 2025  -  Read-Only" id="{C75AEAA9-E1D8-F344-8340-274BE91B507E}" vid="{C3CCE5E6-7A9A-5446-BD08-2616442BDB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7e3bb3-4c41-4ad0-bd22-cfcb83294da6" xsi:nil="true"/>
    <lcf76f155ced4ddcb4097134ff3c332f xmlns="3d5d3f08-0b2c-40bd-a435-45d6327d087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41A843C3812949A5F6B27F5EC29832" ma:contentTypeVersion="11" ma:contentTypeDescription="Create a new document." ma:contentTypeScope="" ma:versionID="fccea7865305657c6d33b8297ef8721e">
  <xsd:schema xmlns:xsd="http://www.w3.org/2001/XMLSchema" xmlns:xs="http://www.w3.org/2001/XMLSchema" xmlns:p="http://schemas.microsoft.com/office/2006/metadata/properties" xmlns:ns2="3d5d3f08-0b2c-40bd-a435-45d6327d0872" xmlns:ns3="ec7e3bb3-4c41-4ad0-bd22-cfcb83294da6" targetNamespace="http://schemas.microsoft.com/office/2006/metadata/properties" ma:root="true" ma:fieldsID="b1b688b7a187d277d384d6935c342fce" ns2:_="" ns3:_="">
    <xsd:import namespace="3d5d3f08-0b2c-40bd-a435-45d6327d0872"/>
    <xsd:import namespace="ec7e3bb3-4c41-4ad0-bd22-cfcb83294d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5d3f08-0b2c-40bd-a435-45d6327d08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3ec4b94-83e3-4fb0-b3dc-ba71559991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7e3bb3-4c41-4ad0-bd22-cfcb83294da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3e68ec2-8d76-4b7e-b581-22361f85f192}" ma:internalName="TaxCatchAll" ma:showField="CatchAllData" ma:web="ec7e3bb3-4c41-4ad0-bd22-cfcb83294d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8626FA-F6EA-4CDA-8867-F1196F51E595}">
  <ds:schemaRefs>
    <ds:schemaRef ds:uri="http://schemas.microsoft.com/office/2006/documentManagement/types"/>
    <ds:schemaRef ds:uri="3d5d3f08-0b2c-40bd-a435-45d6327d0872"/>
    <ds:schemaRef ds:uri="ec7e3bb3-4c41-4ad0-bd22-cfcb83294da6"/>
    <ds:schemaRef ds:uri="http://purl.org/dc/terms/"/>
    <ds:schemaRef ds:uri="http://purl.org/dc/elements/1.1/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7C543CF-0F92-4A51-8218-B2652633BB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165C47-2263-4384-951D-23B8953ED9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5d3f08-0b2c-40bd-a435-45d6327d0872"/>
    <ds:schemaRef ds:uri="ec7e3bb3-4c41-4ad0-bd22-cfcb83294d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6273</TotalTime>
  <Words>633</Words>
  <Application>Microsoft Macintosh PowerPoint</Application>
  <PresentationFormat>Widescreen</PresentationFormat>
  <Paragraphs>177</Paragraphs>
  <Slides>10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Khula</vt:lpstr>
      <vt:lpstr>Poppins Medium</vt:lpstr>
      <vt:lpstr>Khula SemiBold</vt:lpstr>
      <vt:lpstr>Poppins</vt:lpstr>
      <vt:lpstr>Arial</vt:lpstr>
      <vt:lpstr>Calibri</vt:lpstr>
      <vt:lpstr>Office Theme</vt:lpstr>
      <vt:lpstr>One Texas Monthly Update</vt:lpstr>
      <vt:lpstr>Agenda</vt:lpstr>
      <vt:lpstr> Personal Measures</vt:lpstr>
      <vt:lpstr>Measures</vt:lpstr>
      <vt:lpstr>Regional Account Focus</vt:lpstr>
      <vt:lpstr>Initiative Updates</vt:lpstr>
      <vt:lpstr>Partner Momentum</vt:lpstr>
      <vt:lpstr>Calendar</vt:lpstr>
      <vt:lpstr>Showcase</vt:lpstr>
      <vt:lpstr>Sales Updates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O'Hara</dc:creator>
  <cp:lastModifiedBy>David O'Hara</cp:lastModifiedBy>
  <cp:revision>45</cp:revision>
  <dcterms:created xsi:type="dcterms:W3CDTF">2026-01-16T22:23:05Z</dcterms:created>
  <dcterms:modified xsi:type="dcterms:W3CDTF">2026-02-26T21:42:22Z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0x010100F341A843C3812949A5F6B27F5EC29832</vt:lpwstr>
  </property>
  <property fmtid="{D5CDD505-2E9C-101B-9397-08002B2CF9AE}" pid="3" name="MediaServiceImageTags">
    <vt:lpwstr/>
  </property>
</Properties>
</file>