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4" r:id="rId11"/>
    <p:sldId id="262" r:id="rId12"/>
    <p:sldId id="265" r:id="rId13"/>
    <p:sldId id="263" r:id="rId14"/>
  </p:sldIdLst>
  <p:sldSz cx="12192000" cy="6858000"/>
  <p:notesSz cx="6858000" cy="9144000"/>
  <p:embeddedFontLst>
    <p:embeddedFont>
      <p:font typeface="Khula" panose="02000000000000000000" pitchFamily="2" charset="0"/>
      <p:regular r:id="rId17"/>
      <p:bold r:id="rId18"/>
    </p:embeddedFont>
    <p:embeddedFont>
      <p:font typeface="Khula SemiBold" panose="02000000000000000000" pitchFamily="2" charset="0"/>
      <p:regular r:id="rId19"/>
      <p:bold r:id="rId20"/>
    </p:embeddedFont>
    <p:embeddedFont>
      <p:font typeface="Poppins" pitchFamily="2" charset="77"/>
      <p:regular r:id="rId21"/>
      <p:bold r:id="rId22"/>
      <p:italic r:id="rId23"/>
      <p:boldItalic r:id="rId24"/>
    </p:embeddedFont>
    <p:embeddedFont>
      <p:font typeface="Poppins Medium" panose="00000600000000000000" pitchFamily="2" charset="77"/>
      <p:regular r:id="rId25"/>
      <p:italic r:id="rId26"/>
    </p:embeddedFont>
  </p:embeddedFontLst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5690"/>
    <a:srgbClr val="4597D3"/>
    <a:srgbClr val="8D338A"/>
    <a:srgbClr val="E2833C"/>
    <a:srgbClr val="5A97CC"/>
    <a:srgbClr val="EBBB58"/>
    <a:srgbClr val="6FB59F"/>
    <a:srgbClr val="5996A3"/>
    <a:srgbClr val="000000"/>
    <a:srgbClr val="781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6"/>
    <p:restoredTop sz="79178"/>
  </p:normalViewPr>
  <p:slideViewPr>
    <p:cSldViewPr snapToGrid="0">
      <p:cViewPr varScale="1">
        <p:scale>
          <a:sx n="81" d="100"/>
          <a:sy n="81" d="100"/>
        </p:scale>
        <p:origin x="168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8282CA-E236-4614-036E-C5C0C936C6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B065F-4AF1-21F2-CF82-78658D8AD9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86793-C8A1-F947-908B-E0EDCF86090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BE100-080F-43CA-3598-3B1AF4069C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43D58-784A-ABD4-14C2-E6339A9C0D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651B8-9A00-AB4E-BE59-6952469B4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92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18E33-7982-7242-B011-19D9B39AC4BA}" type="datetimeFigureOut">
              <a:rPr lang="en-MX" smtClean="0"/>
              <a:t>2/26/26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EB2A5-DDCF-604F-A595-5664085F7F7D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87645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C00CA04-690D-0AD1-8D1C-4C56E0AB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56" y="804557"/>
            <a:ext cx="10515600" cy="56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8D60278-F35A-892D-8A4D-EFFC764D6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56" y="2156791"/>
            <a:ext cx="10515600" cy="4183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CC7A7323-8F54-C113-9E31-6A1C2F862E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36CCBF4-4D6E-1F6C-0913-8D364923F0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756" y="1470069"/>
            <a:ext cx="10515600" cy="560564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4481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gradient&#10;&#10;AI-generated content may be incorrect.">
            <a:extLst>
              <a:ext uri="{FF2B5EF4-FFF2-40B4-BE49-F238E27FC236}">
                <a16:creationId xmlns:a16="http://schemas.microsoft.com/office/drawing/2014/main" id="{B54EA83D-4D5E-3896-4C53-82E729DDBD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EF929EA-F9C6-25ED-3C68-FD4CD9D13B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49913" y="300735"/>
            <a:ext cx="2190011" cy="72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5A03D7-0C8A-2FF8-DD55-E44EF775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13" y="2933878"/>
            <a:ext cx="10515600" cy="50800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6160FDB-07E2-9B48-493B-80748EBAF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913" y="3429000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948496-729F-47D0-0AA1-AEE439E24A68}"/>
              </a:ext>
            </a:extLst>
          </p:cNvPr>
          <p:cNvCxnSpPr>
            <a:cxnSpLocks/>
          </p:cNvCxnSpPr>
          <p:nvPr userDrawn="1"/>
        </p:nvCxnSpPr>
        <p:spPr>
          <a:xfrm flipH="1">
            <a:off x="826911" y="6394229"/>
            <a:ext cx="1052688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B050FF-2D15-ED50-850B-3375A58843E7}"/>
              </a:ext>
            </a:extLst>
          </p:cNvPr>
          <p:cNvSpPr txBox="1"/>
          <p:nvPr userDrawn="1"/>
        </p:nvSpPr>
        <p:spPr>
          <a:xfrm>
            <a:off x="838199" y="6448820"/>
            <a:ext cx="3882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© 2025 Improving | All Rights Reserved</a:t>
            </a:r>
            <a:endParaRPr lang="en-MX" sz="10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79795-4F47-802C-2A87-EE8B8DCB0543}"/>
              </a:ext>
            </a:extLst>
          </p:cNvPr>
          <p:cNvSpPr txBox="1"/>
          <p:nvPr userDrawn="1"/>
        </p:nvSpPr>
        <p:spPr>
          <a:xfrm>
            <a:off x="11067344" y="6479823"/>
            <a:ext cx="572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BB742A-9951-4A41-9B51-4F6023B7AEA7}" type="slidenum">
              <a:rPr lang="en-MX" sz="1200" b="1" i="0" smtClean="0">
                <a:solidFill>
                  <a:schemeClr val="bg1"/>
                </a:solidFill>
                <a:latin typeface="Khula SemiBold" panose="02000000000000000000" pitchFamily="2" charset="0"/>
                <a:cs typeface="Khula SemiBold" panose="02000000000000000000" pitchFamily="2" charset="0"/>
              </a:rPr>
              <a:t>‹#›</a:t>
            </a:fld>
            <a:endParaRPr lang="en-MX" sz="1200" b="1" i="0">
              <a:solidFill>
                <a:schemeClr val="bg1"/>
              </a:solidFill>
              <a:latin typeface="Khula SemiBold" panose="02000000000000000000" pitchFamily="2" charset="0"/>
              <a:cs typeface="Khula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8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05668" cy="667808"/>
          </a:xfrm>
        </p:spPr>
        <p:txBody>
          <a:bodyPr anchor="b">
            <a:normAutofit/>
          </a:bodyPr>
          <a:lstStyle>
            <a:lvl1pPr algn="r"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DB217A-F6B3-74AC-D9F2-0EF851F488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1885244"/>
            <a:ext cx="11206162" cy="3999619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2">
                    <a:lumMod val="50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772F0C-A603-1AAE-F130-CB75D94E66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3" name="Picture 2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EFDB8958-F2C7-FD28-BC39-C75A7F900E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549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6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55022" cy="667808"/>
          </a:xfrm>
        </p:spPr>
        <p:txBody>
          <a:bodyPr anchor="b">
            <a:normAutofit/>
          </a:bodyPr>
          <a:lstStyle>
            <a:lvl1pPr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743240"/>
            <a:ext cx="5394960" cy="419446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E8B51DB-C770-DED1-2745-73661B76F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2AAFFD30-7418-5FB2-1CEC-3BCDEA5FE1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6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562C5F-11BC-838C-96DD-BF84E16B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D992D7D-9B11-EAF8-2BFF-D0C68BFB20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0156AF4-E910-6DDD-08C2-0F219BAD19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952856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AEAED59-B436-D854-A7A7-0E526CFFEE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3600" y="1952856"/>
            <a:ext cx="5730557" cy="4194466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MX"/>
          </a:p>
        </p:txBody>
      </p:sp>
      <p:pic>
        <p:nvPicPr>
          <p:cNvPr id="14" name="Picture 13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729907F7-5752-315E-233C-001592E108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5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circle with white text&#10;&#10;Description automatically generated">
            <a:extLst>
              <a:ext uri="{FF2B5EF4-FFF2-40B4-BE49-F238E27FC236}">
                <a16:creationId xmlns:a16="http://schemas.microsoft.com/office/drawing/2014/main" id="{E2ECDCF6-BB3C-C41B-37BD-CF9A847D9E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19604" y="1911350"/>
            <a:ext cx="2400300" cy="3035300"/>
          </a:xfrm>
          <a:prstGeom prst="rect">
            <a:avLst/>
          </a:prstGeom>
        </p:spPr>
      </p:pic>
      <p:pic>
        <p:nvPicPr>
          <p:cNvPr id="4" name="Picture 3" descr="A white rectangular object with blue edges&#10;&#10;Description automatically generated">
            <a:extLst>
              <a:ext uri="{FF2B5EF4-FFF2-40B4-BE49-F238E27FC236}">
                <a16:creationId xmlns:a16="http://schemas.microsoft.com/office/drawing/2014/main" id="{B15EB905-7435-ED03-0D80-8B5BD86F22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06038" y="3892550"/>
            <a:ext cx="3517900" cy="10541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CC3C8C2-60FA-33AB-F407-74B9B673F8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15292" y="2514600"/>
            <a:ext cx="6132560" cy="914400"/>
          </a:xfrm>
        </p:spPr>
        <p:txBody>
          <a:bodyPr>
            <a:normAutofit/>
          </a:bodyPr>
          <a:lstStyle>
            <a:lvl1pPr marL="0" indent="0">
              <a:buNone/>
              <a:defRPr sz="2800" b="1" i="1">
                <a:solidFill>
                  <a:srgbClr val="2297D5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  <a:endParaRPr lang="en-MX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3E2DF9FC-F40C-183B-F172-071F2A130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3544" y="4245153"/>
            <a:ext cx="2782887" cy="484188"/>
          </a:xfrm>
        </p:spPr>
        <p:txBody>
          <a:bodyPr>
            <a:noAutofit/>
          </a:bodyPr>
          <a:lstStyle>
            <a:lvl1pPr marL="0" indent="0" algn="ctr">
              <a:buNone/>
              <a:defRPr sz="1800" b="1">
                <a:solidFill>
                  <a:srgbClr val="2297D5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  <a:endParaRPr lang="en-MX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3AD41B2-BB90-9084-6EB3-182E1FB7C8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13" y="1485460"/>
            <a:ext cx="11206162" cy="417162"/>
          </a:xfrm>
        </p:spPr>
        <p:txBody>
          <a:bodyPr lIns="72000" tIns="36000" rIns="216000" bIns="288000">
            <a:normAutofit/>
          </a:bodyPr>
          <a:lstStyle>
            <a:lvl1pPr marL="0" indent="0"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buNone/>
              <a:defRPr sz="1800" b="0" i="1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2213D86-4B51-8516-15A9-97D89C7138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89" y="773332"/>
            <a:ext cx="11205668" cy="667808"/>
          </a:xfrm>
        </p:spPr>
        <p:txBody>
          <a:bodyPr anchor="t">
            <a:normAutofit/>
          </a:bodyPr>
          <a:lstStyle>
            <a:lvl1pPr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pic>
        <p:nvPicPr>
          <p:cNvPr id="12" name="Picture 11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2E7BCEFA-1ECC-E8BC-1461-194A7F7EF2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F94E-5EC9-EDBD-17A2-64005DA3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110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 with circles&#10;&#10;Description automatically generated">
            <a:extLst>
              <a:ext uri="{FF2B5EF4-FFF2-40B4-BE49-F238E27FC236}">
                <a16:creationId xmlns:a16="http://schemas.microsoft.com/office/drawing/2014/main" id="{22708DD8-7420-F55D-12C4-32866CC72D2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0EBC7-ADE3-F209-E554-2D41BB8D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2D941F-3EA9-5B81-108F-188A61A1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0816"/>
            <a:ext cx="10515600" cy="4897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5246C9-67DA-6C7E-BE35-4C6A3271F174}"/>
              </a:ext>
            </a:extLst>
          </p:cNvPr>
          <p:cNvCxnSpPr>
            <a:cxnSpLocks/>
          </p:cNvCxnSpPr>
          <p:nvPr userDrawn="1"/>
        </p:nvCxnSpPr>
        <p:spPr>
          <a:xfrm flipH="1">
            <a:off x="826911" y="6394229"/>
            <a:ext cx="10526889" cy="0"/>
          </a:xfrm>
          <a:prstGeom prst="line">
            <a:avLst/>
          </a:prstGeom>
          <a:ln w="12700">
            <a:solidFill>
              <a:srgbClr val="A2BD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C19694-A6F0-BA0A-2B27-AB1914034E5A}"/>
              </a:ext>
            </a:extLst>
          </p:cNvPr>
          <p:cNvSpPr txBox="1"/>
          <p:nvPr userDrawn="1"/>
        </p:nvSpPr>
        <p:spPr>
          <a:xfrm>
            <a:off x="838199" y="6448820"/>
            <a:ext cx="3882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>
                <a:solidFill>
                  <a:srgbClr val="A2BDC1"/>
                </a:solidFill>
                <a:latin typeface="Poppins Medium" pitchFamily="2" charset="77"/>
                <a:cs typeface="Poppins Medium" pitchFamily="2" charset="77"/>
              </a:rPr>
              <a:t>© 2025 Improving | All Rights Reserved</a:t>
            </a:r>
            <a:endParaRPr lang="en-MX" sz="1000" b="0" i="0">
              <a:solidFill>
                <a:srgbClr val="A2BDC1"/>
              </a:solidFill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1052C-B58E-AB68-2C3D-C7C42F51B0E4}"/>
              </a:ext>
            </a:extLst>
          </p:cNvPr>
          <p:cNvSpPr txBox="1"/>
          <p:nvPr userDrawn="1"/>
        </p:nvSpPr>
        <p:spPr>
          <a:xfrm>
            <a:off x="11067344" y="6479823"/>
            <a:ext cx="572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BB742A-9951-4A41-9B51-4F6023B7AEA7}" type="slidenum">
              <a:rPr lang="en-MX" sz="1200" b="1" i="0" smtClean="0">
                <a:solidFill>
                  <a:schemeClr val="bg2">
                    <a:lumMod val="75000"/>
                  </a:schemeClr>
                </a:solidFill>
                <a:latin typeface="Khula SemiBold" panose="02000000000000000000" pitchFamily="2" charset="0"/>
                <a:cs typeface="Khula SemiBold" panose="02000000000000000000" pitchFamily="2" charset="0"/>
              </a:rPr>
              <a:t>‹#›</a:t>
            </a:fld>
            <a:endParaRPr lang="en-MX" sz="1200" b="1" i="0">
              <a:solidFill>
                <a:schemeClr val="bg2">
                  <a:lumMod val="75000"/>
                </a:schemeClr>
              </a:solidFill>
              <a:latin typeface="Khula SemiBold" panose="02000000000000000000" pitchFamily="2" charset="0"/>
              <a:cs typeface="Khula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8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  <p:sldLayoutId id="2147483656" r:id="rId4"/>
    <p:sldLayoutId id="2147483654" r:id="rId5"/>
    <p:sldLayoutId id="2147483650" r:id="rId6"/>
    <p:sldLayoutId id="2147483659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5596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1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05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9DE23-07AF-9DCB-823C-340B61C6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Texas Monthly Update</a:t>
            </a:r>
            <a:endParaRPr lang="en-MX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34E75F6-2F89-1619-D497-C5F6A6894F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February 2026</a:t>
            </a:r>
            <a:endParaRPr lang="en-MX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CAEA8F-B129-30CD-B221-6D49381C9ABC}"/>
              </a:ext>
            </a:extLst>
          </p:cNvPr>
          <p:cNvGrpSpPr/>
          <p:nvPr/>
        </p:nvGrpSpPr>
        <p:grpSpPr>
          <a:xfrm>
            <a:off x="6542741" y="995082"/>
            <a:ext cx="5133788" cy="5133788"/>
            <a:chOff x="2844800" y="177800"/>
            <a:chExt cx="6502400" cy="6502400"/>
          </a:xfrm>
        </p:grpSpPr>
        <p:pic>
          <p:nvPicPr>
            <p:cNvPr id="14" name="Picture 13" descr="A black map of the state of texas&#10;&#10;AI-generated content may be incorrect.">
              <a:extLst>
                <a:ext uri="{FF2B5EF4-FFF2-40B4-BE49-F238E27FC236}">
                  <a16:creationId xmlns:a16="http://schemas.microsoft.com/office/drawing/2014/main" id="{59775DB6-3B07-D731-2305-A0CF5A5E8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bg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68652" y1="72461" x2="67969" y2="72754"/>
                          <a14:backgroundMark x1="71387" y1="70605" x2="70215" y2="70215"/>
                          <a14:backgroundMark x1="78125" y1="65430" x2="78906" y2="65039"/>
                          <a14:backgroundMark x1="67383" y1="72461" x2="67383" y2="72461"/>
                          <a14:backgroundMark x1="72266" y1="69629" x2="72266" y2="6962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44800" y="177800"/>
              <a:ext cx="6502400" cy="65024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97F5864-8AF5-CCAD-BF6C-54A15D84B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0851" y="2003927"/>
              <a:ext cx="3581433" cy="28501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5813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B7C38F-B60E-BF77-2E9B-0EE9B13F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E3692C-F465-9EC6-5C66-45380E0B58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 dirty="0"/>
              <a:t>1. Review current measures</a:t>
            </a:r>
          </a:p>
          <a:p>
            <a:pPr marL="0" indent="0">
              <a:buNone/>
            </a:pPr>
            <a:r>
              <a:rPr lang="en-US" sz="2800" dirty="0"/>
              <a:t>2. Regional account focus</a:t>
            </a:r>
          </a:p>
          <a:p>
            <a:pPr marL="0" indent="0">
              <a:buNone/>
            </a:pPr>
            <a:r>
              <a:rPr lang="en-US" sz="2800" dirty="0"/>
              <a:t>3. Initiative updates</a:t>
            </a:r>
          </a:p>
          <a:p>
            <a:pPr marL="0" indent="0">
              <a:buNone/>
            </a:pPr>
            <a:r>
              <a:rPr lang="en-US" sz="2800" dirty="0"/>
              <a:t>4. Calendar planning</a:t>
            </a:r>
          </a:p>
          <a:p>
            <a:pPr marL="0" indent="0">
              <a:buNone/>
            </a:pPr>
            <a:r>
              <a:rPr lang="en-US" sz="2800" dirty="0"/>
              <a:t>5. Discussion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567CD0-DFE9-2075-25EC-8487FBF18C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75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C1AF-D296-C022-3CD9-C091F2A0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Personal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7004-AA39-5FDB-A61B-B15EDE675E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Large accounts ($2M+) that have doubled: 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Medium accounts ($750K+) that have doubled: 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New Anchors from pursuit: 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New Key from pursuit (stretch): 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Partner Co-sell influenced: $0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C-Suite connections added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/>
                </a:solidFill>
              </a:rPr>
              <a:t>Awareness 1:	12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/>
                </a:solidFill>
              </a:rPr>
              <a:t>Awareness 2:	2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/>
                </a:solidFill>
              </a:rPr>
              <a:t>Awareness 3:	0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/>
                </a:solidFill>
              </a:rPr>
              <a:t>Awareness 4+: 	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Speaking Engagements Completed: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97F28-829E-DC12-6DE0-18A08B8ED1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05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CAF8-205C-A46E-485A-30DE2B4A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20E9E-598B-E3A2-FBD4-AE22CE793E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978D635-C03A-B540-2F94-E3CD066C37FA}"/>
              </a:ext>
            </a:extLst>
          </p:cNvPr>
          <p:cNvSpPr>
            <a:spLocks noGrp="1" noChangeAspect="1" noChangeArrowheads="1"/>
          </p:cNvSpPr>
          <p:nvPr>
            <p:ph sz="quarter" idx="10"/>
          </p:nvPr>
        </p:nvSpPr>
        <p:spPr bwMode="auto">
          <a:xfrm>
            <a:off x="468313" y="1885244"/>
            <a:ext cx="11206162" cy="427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Top Line Growth (above $73M): 		</a:t>
            </a:r>
            <a:r>
              <a:rPr lang="en-US" sz="2000" dirty="0">
                <a:solidFill>
                  <a:srgbClr val="FF0000"/>
                </a:solidFill>
              </a:rPr>
              <a:t>-9%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>Partner Co-sell influenced: 			$0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>Lead Revenue Generated (personal): 		$0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>New Anchors from pursuit: 			0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>New Key from pursuit (stretch): 		0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>C-Suite connections added (personal)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Awareness 1:			12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Awareness 2:			2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Awareness 3:			0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Awareness 4+: 			0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>Speaking Completed (personal):		4</a:t>
            </a:r>
          </a:p>
        </p:txBody>
      </p:sp>
      <p:pic>
        <p:nvPicPr>
          <p:cNvPr id="6" name="Picture 5" descr="A graph of a company revenue&#10;&#10;AI-generated content may be incorrect.">
            <a:extLst>
              <a:ext uri="{FF2B5EF4-FFF2-40B4-BE49-F238E27FC236}">
                <a16:creationId xmlns:a16="http://schemas.microsoft.com/office/drawing/2014/main" id="{F3624E6B-DB01-6851-6EA7-72C6BCC36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097" y="1524876"/>
            <a:ext cx="4894590" cy="292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54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4525-2E70-50F5-E8DA-35E73DEC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Regional Account Focus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68B291-889A-799D-8A15-F2C6672F2C2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numCol="2">
            <a:normAutofit/>
          </a:bodyPr>
          <a:lstStyle/>
          <a:p>
            <a:r>
              <a:rPr lang="en-US" sz="3200" dirty="0"/>
              <a:t>Autodesk</a:t>
            </a:r>
          </a:p>
          <a:p>
            <a:r>
              <a:rPr lang="en-US" sz="3200" dirty="0">
                <a:solidFill>
                  <a:srgbClr val="00B050"/>
                </a:solidFill>
              </a:rPr>
              <a:t>Insperity</a:t>
            </a:r>
          </a:p>
          <a:p>
            <a:r>
              <a:rPr lang="en-US" sz="3200" dirty="0"/>
              <a:t>Intuit</a:t>
            </a:r>
          </a:p>
          <a:p>
            <a:r>
              <a:rPr lang="en-US" sz="3200" dirty="0"/>
              <a:t>PriceSmart</a:t>
            </a:r>
          </a:p>
          <a:p>
            <a:r>
              <a:rPr lang="en-US" sz="3200" dirty="0">
                <a:solidFill>
                  <a:srgbClr val="00B050"/>
                </a:solidFill>
              </a:rPr>
              <a:t>Siemens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Marriott</a:t>
            </a:r>
          </a:p>
          <a:p>
            <a:r>
              <a:rPr lang="en-US" sz="3200" dirty="0"/>
              <a:t>Kirby Corp</a:t>
            </a:r>
          </a:p>
          <a:p>
            <a:r>
              <a:rPr lang="en-US" sz="3200" dirty="0"/>
              <a:t>Expedia</a:t>
            </a:r>
          </a:p>
          <a:p>
            <a:r>
              <a:rPr lang="en-US" sz="3200" dirty="0"/>
              <a:t>Masimo</a:t>
            </a:r>
          </a:p>
          <a:p>
            <a:r>
              <a:rPr lang="en-US" sz="3200" dirty="0"/>
              <a:t>Constellation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DB4E1-C703-7EA1-7424-0962607A749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numCol="2">
            <a:norm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McKesson</a:t>
            </a:r>
          </a:p>
          <a:p>
            <a:r>
              <a:rPr lang="en-US" sz="3200" dirty="0">
                <a:solidFill>
                  <a:srgbClr val="00B050"/>
                </a:solidFill>
              </a:rPr>
              <a:t>7-Eleven</a:t>
            </a:r>
          </a:p>
          <a:p>
            <a:r>
              <a:rPr lang="en-US" sz="3200" dirty="0"/>
              <a:t>Wendy’s</a:t>
            </a:r>
          </a:p>
          <a:p>
            <a:r>
              <a:rPr lang="en-US" sz="3200" dirty="0"/>
              <a:t>Schwab</a:t>
            </a:r>
          </a:p>
          <a:p>
            <a:r>
              <a:rPr lang="en-US" sz="3200" dirty="0"/>
              <a:t>ORIX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AT&amp;T</a:t>
            </a:r>
          </a:p>
          <a:p>
            <a:r>
              <a:rPr lang="en-US" sz="3200" dirty="0">
                <a:solidFill>
                  <a:srgbClr val="FFC000"/>
                </a:solidFill>
              </a:rPr>
              <a:t>Builders First Source</a:t>
            </a:r>
          </a:p>
          <a:p>
            <a:r>
              <a:rPr lang="en-US" sz="3200" dirty="0">
                <a:solidFill>
                  <a:srgbClr val="00B050"/>
                </a:solidFill>
              </a:rPr>
              <a:t>CBRE</a:t>
            </a:r>
          </a:p>
          <a:p>
            <a:r>
              <a:rPr lang="en-US" sz="3200" dirty="0"/>
              <a:t>Tenet</a:t>
            </a:r>
          </a:p>
          <a:p>
            <a:r>
              <a:rPr lang="en-US" sz="3200" dirty="0"/>
              <a:t>Texas Instruments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886451-95E7-49D3-95B8-36DC1028FF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7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36C0-FA5A-6CD1-2D5A-3FDCDCE2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Initiative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9BFB7-7B9D-9C9D-FE5A-8176A29F684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numCol="2">
            <a:normAutofit/>
          </a:bodyPr>
          <a:lstStyle/>
          <a:p>
            <a:r>
              <a:rPr sz="1600" dirty="0"/>
              <a:t>Dallas Wins</a:t>
            </a:r>
          </a:p>
          <a:p>
            <a:pPr lvl="1"/>
            <a:r>
              <a:rPr sz="1400" dirty="0"/>
              <a:t>2 new logos: Ways2Well, Simpson Strong-Tie</a:t>
            </a:r>
          </a:p>
          <a:p>
            <a:pPr lvl="1"/>
            <a:r>
              <a:rPr sz="1400" dirty="0"/>
              <a:t>NRG Energy $3M opportunity advancing</a:t>
            </a:r>
          </a:p>
          <a:p>
            <a:pPr lvl="1"/>
            <a:r>
              <a:rPr sz="1400" dirty="0"/>
              <a:t>Wendy’s $13.9M extension in pipeline</a:t>
            </a:r>
          </a:p>
          <a:p>
            <a:endParaRPr sz="1400" dirty="0"/>
          </a:p>
          <a:p>
            <a:r>
              <a:rPr sz="1600" dirty="0"/>
              <a:t>Dallas Challenges</a:t>
            </a:r>
          </a:p>
          <a:p>
            <a:pPr lvl="1"/>
            <a:r>
              <a:rPr sz="1400" dirty="0"/>
              <a:t>GTM pipeline $34K vs $7.5M target – needs acceleration</a:t>
            </a:r>
          </a:p>
          <a:p>
            <a:pPr lvl="1"/>
            <a:r>
              <a:rPr sz="1400" dirty="0"/>
              <a:t>F500 coverage 11/36 – gap in enterprise penetration</a:t>
            </a:r>
          </a:p>
          <a:p>
            <a:endParaRPr lang="en-US" sz="1400" dirty="0"/>
          </a:p>
          <a:p>
            <a:endParaRPr lang="en-US" dirty="0"/>
          </a:p>
          <a:p>
            <a:endParaRPr lang="en-US" sz="1400" dirty="0"/>
          </a:p>
          <a:p>
            <a:endParaRPr lang="en-US" dirty="0"/>
          </a:p>
          <a:p>
            <a:endParaRPr sz="1400" dirty="0"/>
          </a:p>
          <a:p>
            <a:r>
              <a:rPr sz="1600" dirty="0"/>
              <a:t>South Texas Wins</a:t>
            </a:r>
          </a:p>
          <a:p>
            <a:pPr lvl="1"/>
            <a:r>
              <a:rPr sz="1400" dirty="0"/>
              <a:t>Austin revenue +10.3% YoY in 2025 ($21.1M)</a:t>
            </a:r>
          </a:p>
          <a:p>
            <a:pPr lvl="1"/>
            <a:r>
              <a:rPr sz="1400" dirty="0"/>
              <a:t>Austin: 8 logos, 2 anchors in 2025</a:t>
            </a:r>
          </a:p>
          <a:p>
            <a:pPr lvl="1"/>
            <a:r>
              <a:rPr sz="1400" dirty="0"/>
              <a:t>Houston: Siemens Industry anchor landed</a:t>
            </a:r>
          </a:p>
          <a:p>
            <a:endParaRPr sz="1400" dirty="0"/>
          </a:p>
          <a:p>
            <a:r>
              <a:rPr sz="1600" dirty="0"/>
              <a:t>South Texas Challenges</a:t>
            </a:r>
          </a:p>
          <a:p>
            <a:pPr lvl="1"/>
            <a:r>
              <a:rPr sz="1400" dirty="0"/>
              <a:t>Houston revenue -6.4% YoY in 2025 ($18.3M)</a:t>
            </a:r>
          </a:p>
          <a:p>
            <a:pPr lvl="1"/>
            <a:r>
              <a:rPr sz="1400" dirty="0"/>
              <a:t>Pipeline rebuild needed across South Texas</a:t>
            </a:r>
            <a:endParaRPr lang="en-US" sz="1400" dirty="0"/>
          </a:p>
          <a:p>
            <a:pPr lvl="1"/>
            <a:endParaRPr lang="en-US" dirty="0"/>
          </a:p>
          <a:p>
            <a:r>
              <a:rPr lang="en-US" sz="1600" dirty="0"/>
              <a:t>"The Improving Edge" Podcast</a:t>
            </a:r>
          </a:p>
          <a:p>
            <a:pPr lvl="1"/>
            <a:r>
              <a:rPr lang="en-US" dirty="0"/>
              <a:t>Guests scheduled – recording started</a:t>
            </a:r>
          </a:p>
          <a:p>
            <a:pPr lvl="1"/>
            <a:r>
              <a:rPr lang="en-US" dirty="0"/>
              <a:t>Planning next 10 episodes</a:t>
            </a:r>
          </a:p>
          <a:p>
            <a:endParaRPr lang="en-US" dirty="0"/>
          </a:p>
          <a:p>
            <a:pPr lvl="1"/>
            <a:endParaRPr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4C1D2-046A-7089-8BD5-CF3712B2E7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04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A3698-6239-6EC4-44D8-9D9B60A7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Partner Momentum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099DA-EBE5-9C73-C510-92BB13483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Confluent -&gt; Improving -&gt; 8 Accounts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F1E8F1-E046-38CD-8BCC-CC6C1F53A27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753242036"/>
              </p:ext>
            </p:extLst>
          </p:nvPr>
        </p:nvGraphicFramePr>
        <p:xfrm>
          <a:off x="468313" y="1473178"/>
          <a:ext cx="11205844" cy="4840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7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216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1600"/>
                        <a:t>Confluent Seller</a:t>
                      </a:r>
                    </a:p>
                  </a:txBody>
                  <a:tcPr marL="63500" marT="38100" marB="38100" anchor="ctr"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1600"/>
                        <a:t>Improving Seller</a:t>
                      </a:r>
                    </a:p>
                  </a:txBody>
                  <a:tcPr marL="63500" marT="38100" marB="38100" anchor="ctr"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1600" dirty="0"/>
                        <a:t>Account(s)</a:t>
                      </a:r>
                    </a:p>
                  </a:txBody>
                  <a:tcPr marL="63500" marT="38100" marB="38100" anchor="ctr"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1600"/>
                        <a:t>Status / Next Step</a:t>
                      </a:r>
                    </a:p>
                  </a:txBody>
                  <a:tcPr marL="63500" marT="38100" marB="38100" anchor="ctr">
                    <a:solidFill>
                      <a:srgbClr val="0055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92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Rob Ogbah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Strategic AE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David O’Hara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CBRE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CBRE </a:t>
                      </a:r>
                      <a:r>
                        <a:rPr sz="1400" dirty="0" err="1"/>
                        <a:t>preso</a:t>
                      </a:r>
                      <a:r>
                        <a:rPr sz="1400" dirty="0"/>
                        <a:t> Mar 3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Dev Event agenda drafted</a:t>
                      </a:r>
                      <a:endParaRPr lang="en-US" sz="1400" dirty="0"/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lang="en-US" sz="1400" dirty="0"/>
                        <a:t>PS Work planned</a:t>
                      </a:r>
                      <a:endParaRPr sz="1400" dirty="0"/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80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Arean </a:t>
                      </a:r>
                      <a:r>
                        <a:rPr sz="1600" dirty="0" err="1"/>
                        <a:t>Asgariani</a:t>
                      </a:r>
                      <a:endParaRPr sz="1600" dirty="0"/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Sr. Enterprise AE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/>
                        <a:t>Diana Stevens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/>
                        <a:t>VP Sales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American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Airlines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lang="en-US" sz="1400" dirty="0"/>
                        <a:t>Connected Feb 20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lang="en-US" sz="1400" dirty="0"/>
                        <a:t>Diana wants 3-way meeting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0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Kevin Collin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Sr. Enterprise AE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Diana Stevens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VP Sales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McKesson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Toyota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/>
                        <a:t>Follow-up sent Feb 20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/>
                        <a:t>Awaiting response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700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David Nanson</a:t>
                      </a:r>
                      <a:r>
                        <a:rPr lang="en-US" sz="1600" dirty="0"/>
                        <a:t> &amp; </a:t>
                      </a:r>
                      <a:r>
                        <a:rPr sz="1600" dirty="0" err="1"/>
                        <a:t>Surain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Asokaraj</a:t>
                      </a:r>
                      <a:endParaRPr sz="1600" dirty="0"/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Stephen Johnson</a:t>
                      </a:r>
                      <a:br>
                        <a:rPr lang="en-US" sz="1600" dirty="0"/>
                      </a:br>
                      <a:r>
                        <a:rPr lang="en-US" sz="1400" b="0" dirty="0"/>
                        <a:t>VP Sales</a:t>
                      </a:r>
                      <a:endParaRPr lang="en-US" sz="1600" b="0" dirty="0"/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endParaRPr sz="1600" dirty="0"/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NRG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Halliburton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NRG — active AI SDLC proposal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Halliburton — confidential POC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216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Stuart Maynard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Enterprise AE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Stephen Johnson</a:t>
                      </a:r>
                      <a:endParaRPr lang="en-US" sz="1600" dirty="0"/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lang="en-US" sz="1400" b="0" dirty="0"/>
                        <a:t>VP Sales</a:t>
                      </a:r>
                      <a:endParaRPr sz="1200" b="0" dirty="0"/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Insperity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Intro made Feb 17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Maynard ready to sync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216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Dante Lanza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Regional Sales Dir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David/Ehren</a:t>
                      </a:r>
                      <a:r>
                        <a:rPr lang="en-US" sz="1600" dirty="0"/>
                        <a:t>/Nick</a:t>
                      </a:r>
                      <a:endParaRPr sz="1600" dirty="0"/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lang="en-US" sz="1800" b="1" dirty="0"/>
                        <a:t>Account Review</a:t>
                      </a:r>
                      <a:endParaRPr sz="1800" b="1" dirty="0"/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Deep-dive meeting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scheduled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906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86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FF3B-3F63-5BCF-B36D-FA1D0A671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Calendar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62568-2D66-1EC3-3B5A-2E353C3016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numCol="2">
            <a:normAutofit/>
          </a:bodyPr>
          <a:lstStyle/>
          <a:p>
            <a:r>
              <a:rPr sz="1600"/>
              <a:t>DRC </a:t>
            </a:r>
            <a:r>
              <a:rPr sz="1600" dirty="0"/>
              <a:t>Executive Hands-On Workshop</a:t>
            </a:r>
          </a:p>
          <a:p>
            <a:pPr lvl="1"/>
            <a:r>
              <a:rPr sz="1400" dirty="0"/>
              <a:t>Dallas – TBD (April)</a:t>
            </a:r>
          </a:p>
          <a:p>
            <a:endParaRPr sz="1400" dirty="0"/>
          </a:p>
          <a:p>
            <a:r>
              <a:rPr sz="1600" dirty="0"/>
              <a:t>CEO Breakfast Roundtable</a:t>
            </a:r>
          </a:p>
          <a:p>
            <a:pPr lvl="1"/>
            <a:r>
              <a:rPr sz="1400" dirty="0"/>
              <a:t>Dallas – April 21 or 23</a:t>
            </a:r>
          </a:p>
          <a:p>
            <a:endParaRPr sz="1400" dirty="0"/>
          </a:p>
          <a:p>
            <a:r>
              <a:rPr sz="1600" dirty="0"/>
              <a:t>Convergence AI</a:t>
            </a:r>
          </a:p>
          <a:p>
            <a:pPr lvl="1"/>
            <a:r>
              <a:rPr sz="1400" dirty="0"/>
              <a:t>Dallas – March 30 &amp; 31</a:t>
            </a:r>
          </a:p>
          <a:p>
            <a:pPr marL="0" indent="0">
              <a:buNone/>
            </a:pPr>
            <a:endParaRPr sz="1400" dirty="0"/>
          </a:p>
          <a:p>
            <a:r>
              <a:rPr sz="1600" dirty="0"/>
              <a:t>Microsoft AI Tour</a:t>
            </a:r>
          </a:p>
          <a:p>
            <a:pPr lvl="1"/>
            <a:r>
              <a:rPr sz="1400" dirty="0"/>
              <a:t>Houston – </a:t>
            </a:r>
            <a:r>
              <a:rPr lang="en-US" sz="1400" dirty="0"/>
              <a:t>May</a:t>
            </a:r>
            <a:r>
              <a:rPr sz="1400" dirty="0"/>
              <a:t> 28</a:t>
            </a:r>
          </a:p>
          <a:p>
            <a:endParaRPr lang="en-US" sz="1600" dirty="0"/>
          </a:p>
          <a:p>
            <a:r>
              <a:rPr lang="en-US" sz="1600" dirty="0"/>
              <a:t>Leave a Legacy</a:t>
            </a:r>
          </a:p>
          <a:p>
            <a:pPr lvl="1"/>
            <a:r>
              <a:rPr lang="en-US" dirty="0"/>
              <a:t>Houston – Q2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600" dirty="0"/>
              <a:t>Rodeo Cookoff</a:t>
            </a:r>
          </a:p>
          <a:p>
            <a:pPr lvl="1"/>
            <a:r>
              <a:rPr lang="en-US" dirty="0"/>
              <a:t>Houston – February 27</a:t>
            </a:r>
          </a:p>
          <a:p>
            <a:pPr marL="0" indent="0">
              <a:buNone/>
            </a:pPr>
            <a:endParaRPr sz="1400" dirty="0"/>
          </a:p>
          <a:p>
            <a:r>
              <a:rPr sz="1600" dirty="0"/>
              <a:t>South by Southwest</a:t>
            </a:r>
          </a:p>
          <a:p>
            <a:pPr lvl="1"/>
            <a:r>
              <a:rPr sz="1400" dirty="0"/>
              <a:t>Austin – March 12–18</a:t>
            </a:r>
            <a:endParaRPr lang="en-US" sz="1400" dirty="0"/>
          </a:p>
          <a:p>
            <a:endParaRPr lang="en-US" sz="1600" dirty="0"/>
          </a:p>
          <a:p>
            <a:r>
              <a:rPr lang="en-US" sz="1600" dirty="0"/>
              <a:t>Gateway to Innovation</a:t>
            </a:r>
          </a:p>
          <a:p>
            <a:pPr lvl="1"/>
            <a:r>
              <a:rPr lang="en-US" dirty="0"/>
              <a:t>St. Louis – April 16</a:t>
            </a:r>
          </a:p>
          <a:p>
            <a:pPr lvl="1"/>
            <a:endParaRPr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06094-FBF4-5325-DE03-7B7F04A601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86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CCB-485A-D16B-DA22-D50521A5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72A21-4FD5-B3B3-1E4A-00EE6EF322F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10450-DC57-12CE-A50C-0F63FA08D3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NRG – AI Deep Learning Proposal</a:t>
            </a:r>
          </a:p>
        </p:txBody>
      </p:sp>
    </p:spTree>
    <p:extLst>
      <p:ext uri="{BB962C8B-B14F-4D97-AF65-F5344CB8AC3E}">
        <p14:creationId xmlns:p14="http://schemas.microsoft.com/office/powerpoint/2010/main" val="45576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CE51-7B3B-8173-9ECD-5F273342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A913F-4760-7D00-8606-064E54A331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sz="1600"/>
              <a:t>Key Pipeline Opportunities</a:t>
            </a:r>
          </a:p>
          <a:p>
            <a:pPr lvl="1"/>
            <a:r>
              <a:rPr sz="1400"/>
              <a:t>NRG Energy – $3.0M (Cloud Infrastructure)</a:t>
            </a:r>
          </a:p>
          <a:p>
            <a:pPr lvl="1"/>
            <a:r>
              <a:rPr sz="1400"/>
              <a:t>Wendy’s – $13.9M (Extension, 80% probability)</a:t>
            </a:r>
          </a:p>
          <a:p>
            <a:pPr lvl="1"/>
            <a:r>
              <a:rPr sz="1400"/>
              <a:t>Rayburn Electric – $3.5M (Data &amp; AI)</a:t>
            </a:r>
          </a:p>
          <a:p>
            <a:pPr lvl="1"/>
            <a:r>
              <a:rPr sz="1400"/>
              <a:t>Envestnet – $3.6M (Application Dev)</a:t>
            </a:r>
          </a:p>
          <a:p>
            <a:pPr lvl="1"/>
            <a:r>
              <a:rPr sz="1400"/>
              <a:t>Toyota – $2.0M (Cloud/AI)</a:t>
            </a:r>
          </a:p>
          <a:p>
            <a:pPr lvl="1"/>
            <a:r>
              <a:rPr sz="1400"/>
              <a:t>Schwab – $1.4M (Active)</a:t>
            </a:r>
          </a:p>
          <a:p>
            <a:endParaRPr sz="1400"/>
          </a:p>
          <a:p>
            <a:r>
              <a:rPr sz="1600"/>
              <a:t>New Logos (2026)</a:t>
            </a:r>
          </a:p>
          <a:p>
            <a:pPr lvl="1"/>
            <a:r>
              <a:rPr sz="1400"/>
              <a:t>Dallas: Ways2Well, Simpson Strong-Tie</a:t>
            </a:r>
          </a:p>
          <a:p>
            <a:endParaRPr sz="1400"/>
          </a:p>
          <a:p>
            <a:r>
              <a:rPr sz="1600"/>
              <a:t>Partner Activity</a:t>
            </a:r>
          </a:p>
          <a:p>
            <a:pPr lvl="1"/>
            <a:r>
              <a:rPr sz="1400"/>
              <a:t>Confluent co-sell deals in motion – no revenue claimable yet</a:t>
            </a:r>
          </a:p>
          <a:p>
            <a:pPr lvl="1"/>
            <a:r>
              <a:rPr sz="1400"/>
              <a:t>Microsoft partner engagement – account overlap analysis due Feb 25</a:t>
            </a:r>
          </a:p>
          <a:p>
            <a:endParaRPr sz="1400"/>
          </a:p>
          <a:p>
            <a:r>
              <a:rPr sz="1600"/>
              <a:t>Discussion</a:t>
            </a:r>
          </a:p>
          <a:p>
            <a:pPr lvl="1"/>
            <a:r>
              <a:rPr sz="1400"/>
              <a:t>Pipeline acceleration strategies</a:t>
            </a:r>
          </a:p>
          <a:p>
            <a:pPr lvl="1"/>
            <a:r>
              <a:rPr sz="1400"/>
              <a:t>F500 coverage plan</a:t>
            </a:r>
          </a:p>
          <a:p>
            <a:pPr lvl="1"/>
            <a:r>
              <a:rPr sz="1400"/>
              <a:t>South Texas pipeline rebuild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8C54E-178D-6D39-8373-3AF669AAA3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10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597D3"/>
      </a:accent1>
      <a:accent2>
        <a:srgbClr val="005596"/>
      </a:accent2>
      <a:accent3>
        <a:srgbClr val="FF9300"/>
      </a:accent3>
      <a:accent4>
        <a:srgbClr val="5BC2A7"/>
      </a:accent4>
      <a:accent5>
        <a:srgbClr val="606060"/>
      </a:accent5>
      <a:accent6>
        <a:srgbClr val="F5BB4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rter Preso Alternative Style NOV 2025  -  Read-Only" id="{C75AEAA9-E1D8-F344-8340-274BE91B507E}" vid="{C3CCE5E6-7A9A-5446-BD08-2616442BDB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7e3bb3-4c41-4ad0-bd22-cfcb83294da6" xsi:nil="true"/>
    <lcf76f155ced4ddcb4097134ff3c332f xmlns="3d5d3f08-0b2c-40bd-a435-45d6327d087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41A843C3812949A5F6B27F5EC29832" ma:contentTypeVersion="11" ma:contentTypeDescription="Create a new document." ma:contentTypeScope="" ma:versionID="fccea7865305657c6d33b8297ef8721e">
  <xsd:schema xmlns:xsd="http://www.w3.org/2001/XMLSchema" xmlns:xs="http://www.w3.org/2001/XMLSchema" xmlns:p="http://schemas.microsoft.com/office/2006/metadata/properties" xmlns:ns2="3d5d3f08-0b2c-40bd-a435-45d6327d0872" xmlns:ns3="ec7e3bb3-4c41-4ad0-bd22-cfcb83294da6" targetNamespace="http://schemas.microsoft.com/office/2006/metadata/properties" ma:root="true" ma:fieldsID="b1b688b7a187d277d384d6935c342fce" ns2:_="" ns3:_="">
    <xsd:import namespace="3d5d3f08-0b2c-40bd-a435-45d6327d0872"/>
    <xsd:import namespace="ec7e3bb3-4c41-4ad0-bd22-cfcb83294d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5d3f08-0b2c-40bd-a435-45d6327d08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3ec4b94-83e3-4fb0-b3dc-ba71559991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e3bb3-4c41-4ad0-bd22-cfcb83294d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3e68ec2-8d76-4b7e-b581-22361f85f192}" ma:internalName="TaxCatchAll" ma:showField="CatchAllData" ma:web="ec7e3bb3-4c41-4ad0-bd22-cfcb83294d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8626FA-F6EA-4CDA-8867-F1196F51E595}">
  <ds:schemaRefs>
    <ds:schemaRef ds:uri="http://schemas.microsoft.com/office/2006/documentManagement/types"/>
    <ds:schemaRef ds:uri="3d5d3f08-0b2c-40bd-a435-45d6327d0872"/>
    <ds:schemaRef ds:uri="ec7e3bb3-4c41-4ad0-bd22-cfcb83294da6"/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7C543CF-0F92-4A51-8218-B2652633BB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165C47-2263-4384-951D-23B8953ED9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5d3f08-0b2c-40bd-a435-45d6327d0872"/>
    <ds:schemaRef ds:uri="ec7e3bb3-4c41-4ad0-bd22-cfcb83294d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6273</TotalTime>
  <Words>633</Words>
  <Application>Microsoft Macintosh PowerPoint</Application>
  <PresentationFormat>Widescreen</PresentationFormat>
  <Paragraphs>177</Paragraphs>
  <Slides>10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Khula</vt:lpstr>
      <vt:lpstr>Poppins Medium</vt:lpstr>
      <vt:lpstr>Khula SemiBold</vt:lpstr>
      <vt:lpstr>Poppins</vt:lpstr>
      <vt:lpstr>Arial</vt:lpstr>
      <vt:lpstr>Calibri</vt:lpstr>
      <vt:lpstr>Office Theme</vt:lpstr>
      <vt:lpstr>One Texas Monthly Update</vt:lpstr>
      <vt:lpstr>Agenda</vt:lpstr>
      <vt:lpstr> Personal Measures</vt:lpstr>
      <vt:lpstr>Measures</vt:lpstr>
      <vt:lpstr>Regional Account Focus</vt:lpstr>
      <vt:lpstr>Initiative Updates</vt:lpstr>
      <vt:lpstr>Partner Momentum</vt:lpstr>
      <vt:lpstr>Calendar</vt:lpstr>
      <vt:lpstr>Showcase</vt:lpstr>
      <vt:lpstr>Sales Updates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O'Hara</dc:creator>
  <cp:lastModifiedBy>David O'Hara</cp:lastModifiedBy>
  <cp:revision>45</cp:revision>
  <dcterms:created xsi:type="dcterms:W3CDTF">2026-01-16T22:23:05Z</dcterms:created>
  <dcterms:modified xsi:type="dcterms:W3CDTF">2026-02-26T21:42:22Z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0x010100F341A843C3812949A5F6B27F5EC29832</vt:lpwstr>
  </property>
  <property fmtid="{D5CDD505-2E9C-101B-9397-08002B2CF9AE}" pid="3" name="MediaServiceImageTags">
    <vt:lpwstr/>
  </property>
</Properties>
</file>