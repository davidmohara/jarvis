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78" r:id="rId5"/>
    <p:sldId id="273" r:id="rId6"/>
    <p:sldId id="274" r:id="rId7"/>
    <p:sldId id="275" r:id="rId8"/>
    <p:sldId id="256" r:id="rId9"/>
    <p:sldId id="279" r:id="rId10"/>
    <p:sldId id="280" r:id="rId11"/>
    <p:sldId id="281" r:id="rId12"/>
    <p:sldId id="282" r:id="rId13"/>
    <p:sldId id="283" r:id="rId14"/>
    <p:sldId id="284" r:id="rId15"/>
    <p:sldId id="276" r:id="rId16"/>
    <p:sldId id="277" r:id="rId17"/>
  </p:sldIdLst>
  <p:sldSz cx="12192000" cy="6858000"/>
  <p:notesSz cx="6858000" cy="9144000"/>
  <p:embeddedFontLst>
    <p:embeddedFont>
      <p:font typeface="Arial Black" panose="020B0604020202020204" pitchFamily="34" charset="0"/>
      <p:bold r:id="rId20"/>
    </p:embeddedFont>
    <p:embeddedFont>
      <p:font typeface="Georgia" panose="02040502050405020303" pitchFamily="18" charset="0"/>
      <p:regular r:id="rId21"/>
      <p:bold r:id="rId22"/>
      <p:italic r:id="rId23"/>
      <p:boldItalic r:id="rId24"/>
    </p:embeddedFont>
    <p:embeddedFont>
      <p:font typeface="Khula" panose="02000000000000000000" pitchFamily="2" charset="0"/>
      <p:regular r:id="rId25"/>
      <p:bold r:id="rId26"/>
    </p:embeddedFont>
    <p:embeddedFont>
      <p:font typeface="Khula SemiBold" panose="02000000000000000000" pitchFamily="2" charset="0"/>
      <p:regular r:id="rId27"/>
      <p:bold r:id="rId28"/>
    </p:embeddedFont>
    <p:embeddedFont>
      <p:font typeface="Poppins" pitchFamily="2" charset="77"/>
      <p:regular r:id="rId29"/>
      <p:bold r:id="rId30"/>
      <p:italic r:id="rId31"/>
      <p:boldItalic r:id="rId32"/>
    </p:embeddedFont>
    <p:embeddedFont>
      <p:font typeface="Poppins ExtraBold" panose="00000900000000000000" pitchFamily="2" charset="77"/>
      <p:bold r:id="rId33"/>
      <p:italic r:id="rId34"/>
      <p:boldItalic r:id="rId35"/>
    </p:embeddedFont>
    <p:embeddedFont>
      <p:font typeface="Poppins Medium" panose="00000600000000000000" pitchFamily="2" charset="77"/>
      <p:regular r:id="rId36"/>
      <p:italic r:id="rId37"/>
    </p:embeddedFont>
    <p:embeddedFont>
      <p:font typeface="Poppins SemiBold" panose="00000700000000000000" pitchFamily="2" charset="77"/>
      <p:regular r:id="rId38"/>
      <p:bold r:id="rId39"/>
      <p:italic r:id="rId40"/>
      <p:boldItalic r:id="rId41"/>
    </p:embeddedFont>
  </p:embeddedFontLst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596"/>
    <a:srgbClr val="EA592C"/>
    <a:srgbClr val="168FB2"/>
    <a:srgbClr val="E48736"/>
    <a:srgbClr val="0F7975"/>
    <a:srgbClr val="4597D3"/>
    <a:srgbClr val="5CC3A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0570CC-6446-884E-9E93-5434CF496813}" v="3" dt="2026-06-23T19:30:11.364"/>
    <p1510:client id="{8F7C090C-987E-824D-B1BB-FC32991BBC78}" v="2" dt="2026-06-23T22:14:17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/>
    <p:restoredTop sz="77397"/>
  </p:normalViewPr>
  <p:slideViewPr>
    <p:cSldViewPr snapToGrid="0">
      <p:cViewPr varScale="1">
        <p:scale>
          <a:sx n="92" d="100"/>
          <a:sy n="92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microsoft.com/office/2016/11/relationships/changesInfo" Target="changesInfos/changesInfo1.xml"/><Relationship Id="rId20" Type="http://schemas.openxmlformats.org/officeDocument/2006/relationships/font" Target="fonts/font1.fntdata"/><Relationship Id="rId41" Type="http://schemas.openxmlformats.org/officeDocument/2006/relationships/font" Target="fonts/font2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O'Hara" userId="8f90669b-8651-42ab-8d95-20602fbdf8e8" providerId="ADAL" clId="{A236AE32-B983-55C9-B7CE-2378BA1C83AB}"/>
    <pc:docChg chg="modSld">
      <pc:chgData name="David O'Hara" userId="8f90669b-8651-42ab-8d95-20602fbdf8e8" providerId="ADAL" clId="{A236AE32-B983-55C9-B7CE-2378BA1C83AB}" dt="2026-06-23T22:14:36.453" v="13" actId="20577"/>
      <pc:docMkLst>
        <pc:docMk/>
      </pc:docMkLst>
      <pc:sldChg chg="modNotesTx">
        <pc:chgData name="David O'Hara" userId="8f90669b-8651-42ab-8d95-20602fbdf8e8" providerId="ADAL" clId="{A236AE32-B983-55C9-B7CE-2378BA1C83AB}" dt="2026-06-23T22:14:36.453" v="13" actId="20577"/>
        <pc:sldMkLst>
          <pc:docMk/>
          <pc:sldMk cId="0" sldId="27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8282CA-E236-4614-036E-C5C0C936C6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B065F-4AF1-21F2-CF82-78658D8AD9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586793-C8A1-F947-908B-E0EDCF860903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BE100-080F-43CA-3598-3B1AF4069C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43D58-784A-ABD4-14C2-E6339A9C0D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651B8-9A00-AB4E-BE59-6952469B4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892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18E33-7982-7242-B011-19D9B39AC4BA}" type="datetimeFigureOut">
              <a:rPr lang="en-MX" smtClean="0"/>
              <a:t>6/23/26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EB2A5-DDCF-604F-A595-5664085F7F7D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787645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Services - Thrivent</a:t>
            </a:r>
          </a:p>
          <a:p>
            <a:r>
              <a:rPr lang="en-US" dirty="0"/>
              <a:t>Healthcare - Provincial Health Services Authority (BC)</a:t>
            </a:r>
          </a:p>
          <a:p>
            <a:r>
              <a:rPr lang="en-US" dirty="0"/>
              <a:t>Energy &amp; Utilities - Inter Pipeline Limited</a:t>
            </a:r>
          </a:p>
          <a:p>
            <a:r>
              <a:rPr lang="en-US"/>
              <a:t>Public Services - Ottawa </a:t>
            </a:r>
            <a:r>
              <a:rPr lang="en-US" dirty="0"/>
              <a:t>Police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EB2A5-DDCF-604F-A595-5664085F7F7D}" type="slidenum">
              <a:rPr lang="en-MX" smtClean="0"/>
              <a:t>12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007574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cip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C00CA04-690D-0AD1-8D1C-4C56E0AB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56" y="804557"/>
            <a:ext cx="10515600" cy="560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8D60278-F35A-892D-8A4D-EFFC764D6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56" y="2156791"/>
            <a:ext cx="10515600" cy="4183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pic>
        <p:nvPicPr>
          <p:cNvPr id="8" name="Picture 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CC7A7323-8F54-C113-9E31-6A1C2F862E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20654" y="366299"/>
            <a:ext cx="1893379" cy="718540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36CCBF4-4D6E-1F6C-0913-8D364923F0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756" y="1470069"/>
            <a:ext cx="10515600" cy="560564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1800" b="0" i="1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44819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t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green gradient&#10;&#10;AI-generated content may be incorrect.">
            <a:extLst>
              <a:ext uri="{FF2B5EF4-FFF2-40B4-BE49-F238E27FC236}">
                <a16:creationId xmlns:a16="http://schemas.microsoft.com/office/drawing/2014/main" id="{B54EA83D-4D5E-3896-4C53-82E729DDBD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EF929EA-F9C6-25ED-3C68-FD4CD9D13B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49913" y="300735"/>
            <a:ext cx="2190011" cy="723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5A03D7-0C8A-2FF8-DD55-E44EF7754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13" y="2933878"/>
            <a:ext cx="10515600" cy="50800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6160FDB-07E2-9B48-493B-80748EBAF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913" y="3429000"/>
            <a:ext cx="9144000" cy="5283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948496-729F-47D0-0AA1-AEE439E24A68}"/>
              </a:ext>
            </a:extLst>
          </p:cNvPr>
          <p:cNvCxnSpPr>
            <a:cxnSpLocks/>
          </p:cNvCxnSpPr>
          <p:nvPr userDrawn="1"/>
        </p:nvCxnSpPr>
        <p:spPr>
          <a:xfrm flipH="1">
            <a:off x="826911" y="6394229"/>
            <a:ext cx="1052688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B050FF-2D15-ED50-850B-3375A58843E7}"/>
              </a:ext>
            </a:extLst>
          </p:cNvPr>
          <p:cNvSpPr txBox="1"/>
          <p:nvPr userDrawn="1"/>
        </p:nvSpPr>
        <p:spPr>
          <a:xfrm>
            <a:off x="838199" y="6448820"/>
            <a:ext cx="3882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© 2026 Improving | All Rights Reserved</a:t>
            </a:r>
            <a:endParaRPr lang="en-MX" sz="10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379795-4F47-802C-2A87-EE8B8DCB0543}"/>
              </a:ext>
            </a:extLst>
          </p:cNvPr>
          <p:cNvSpPr txBox="1"/>
          <p:nvPr userDrawn="1"/>
        </p:nvSpPr>
        <p:spPr>
          <a:xfrm>
            <a:off x="11067344" y="6479823"/>
            <a:ext cx="572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3BB742A-9951-4A41-9B51-4F6023B7AEA7}" type="slidenum">
              <a:rPr lang="en-MX" sz="1200" b="1" i="0" smtClean="0">
                <a:solidFill>
                  <a:schemeClr val="bg1"/>
                </a:solidFill>
                <a:latin typeface="Khula SemiBold" panose="02000000000000000000" pitchFamily="2" charset="0"/>
                <a:cs typeface="Khula SemiBold" panose="02000000000000000000" pitchFamily="2" charset="0"/>
              </a:rPr>
              <a:t>‹#›</a:t>
            </a:fld>
            <a:endParaRPr lang="en-MX" sz="1200" b="1" i="0">
              <a:solidFill>
                <a:schemeClr val="bg1"/>
              </a:solidFill>
              <a:latin typeface="Khula SemiBold" panose="02000000000000000000" pitchFamily="2" charset="0"/>
              <a:cs typeface="Khula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83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11205668" cy="667808"/>
          </a:xfrm>
        </p:spPr>
        <p:txBody>
          <a:bodyPr anchor="b">
            <a:normAutofit/>
          </a:bodyPr>
          <a:lstStyle>
            <a:lvl1pPr algn="r">
              <a:defRPr sz="29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DB217A-F6B3-74AC-D9F2-0EF851F488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313" y="1885244"/>
            <a:ext cx="11206162" cy="3999619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bg2">
                    <a:lumMod val="50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772F0C-A603-1AAE-F130-CB75D94E66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1800" b="0" i="1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3" name="Picture 2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EFDB8958-F2C7-FD28-BC39-C75A7F900E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549" y="366299"/>
            <a:ext cx="1893379" cy="71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6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11255022" cy="667808"/>
          </a:xfrm>
        </p:spPr>
        <p:txBody>
          <a:bodyPr anchor="b">
            <a:normAutofit/>
          </a:bodyPr>
          <a:lstStyle>
            <a:lvl1pPr>
              <a:defRPr sz="29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3EDE8-942A-C67F-DE1C-BE6A4B25F94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489" y="1744134"/>
            <a:ext cx="5394960" cy="419446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74CE37E-4F1A-62C7-ADCA-33781ABD66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79197" y="1743240"/>
            <a:ext cx="5394960" cy="419446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E8B51DB-C770-DED1-2745-73661B76F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1800" b="0" i="1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2AAFFD30-7418-5FB2-1CEC-3BCDEA5FE1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20654" y="366299"/>
            <a:ext cx="1893379" cy="71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6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D562C5F-11BC-838C-96DD-BF84E16B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6338711" cy="667808"/>
          </a:xfrm>
        </p:spPr>
        <p:txBody>
          <a:bodyPr anchor="b">
            <a:normAutofit/>
          </a:bodyPr>
          <a:lstStyle>
            <a:lvl1pPr>
              <a:defRPr sz="29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D992D7D-9B11-EAF8-2BFF-D0C68BFB20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1800" b="0" i="1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F0156AF4-E910-6DDD-08C2-0F219BAD19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489" y="1952856"/>
            <a:ext cx="5394960" cy="41944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AEAED59-B436-D854-A7A7-0E526CFFEE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43600" y="1952856"/>
            <a:ext cx="5730557" cy="4194466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MX"/>
          </a:p>
        </p:txBody>
      </p:sp>
      <p:pic>
        <p:nvPicPr>
          <p:cNvPr id="14" name="Picture 13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729907F7-5752-315E-233C-001592E108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20654" y="366299"/>
            <a:ext cx="1893379" cy="71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95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green circle with white text&#10;&#10;Description automatically generated">
            <a:extLst>
              <a:ext uri="{FF2B5EF4-FFF2-40B4-BE49-F238E27FC236}">
                <a16:creationId xmlns:a16="http://schemas.microsoft.com/office/drawing/2014/main" id="{E2ECDCF6-BB3C-C41B-37BD-CF9A847D9E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19604" y="1911350"/>
            <a:ext cx="2400300" cy="3035300"/>
          </a:xfrm>
          <a:prstGeom prst="rect">
            <a:avLst/>
          </a:prstGeom>
        </p:spPr>
      </p:pic>
      <p:pic>
        <p:nvPicPr>
          <p:cNvPr id="4" name="Picture 3" descr="A white rectangular object with blue edges&#10;&#10;Description automatically generated">
            <a:extLst>
              <a:ext uri="{FF2B5EF4-FFF2-40B4-BE49-F238E27FC236}">
                <a16:creationId xmlns:a16="http://schemas.microsoft.com/office/drawing/2014/main" id="{B15EB905-7435-ED03-0D80-8B5BD86F22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06038" y="3892550"/>
            <a:ext cx="3517900" cy="10541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2CC3C8C2-60FA-33AB-F407-74B9B673F8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15292" y="2514600"/>
            <a:ext cx="6132560" cy="914400"/>
          </a:xfrm>
        </p:spPr>
        <p:txBody>
          <a:bodyPr>
            <a:normAutofit/>
          </a:bodyPr>
          <a:lstStyle>
            <a:lvl1pPr marL="0" indent="0">
              <a:buNone/>
              <a:defRPr sz="2800" b="1" i="1">
                <a:solidFill>
                  <a:srgbClr val="2297D5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  <a:endParaRPr lang="en-MX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3E2DF9FC-F40C-183B-F172-071F2A1304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73544" y="4245153"/>
            <a:ext cx="2782887" cy="484188"/>
          </a:xfrm>
        </p:spPr>
        <p:txBody>
          <a:bodyPr>
            <a:noAutofit/>
          </a:bodyPr>
          <a:lstStyle>
            <a:lvl1pPr marL="0" indent="0" algn="ctr">
              <a:buNone/>
              <a:defRPr sz="1800" b="1">
                <a:solidFill>
                  <a:srgbClr val="2297D5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  <a:endParaRPr lang="en-MX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3AD41B2-BB90-9084-6EB3-182E1FB7C8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313" y="1485460"/>
            <a:ext cx="11206162" cy="417162"/>
          </a:xfrm>
        </p:spPr>
        <p:txBody>
          <a:bodyPr lIns="72000" tIns="36000" rIns="216000" bIns="288000">
            <a:normAutofit/>
          </a:bodyPr>
          <a:lstStyle>
            <a:lvl1pPr marL="0" indent="0"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buNone/>
              <a:defRPr sz="1800" b="0" i="1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2213D86-4B51-8516-15A9-97D89C7138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489" y="773332"/>
            <a:ext cx="11205668" cy="667808"/>
          </a:xfrm>
        </p:spPr>
        <p:txBody>
          <a:bodyPr anchor="t">
            <a:normAutofit/>
          </a:bodyPr>
          <a:lstStyle>
            <a:lvl1pPr>
              <a:defRPr sz="29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pic>
        <p:nvPicPr>
          <p:cNvPr id="12" name="Picture 11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2E7BCEFA-1ECC-E8BC-1461-194A7F7EF28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20654" y="366299"/>
            <a:ext cx="1893379" cy="71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85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F94E-5EC9-EDBD-17A2-64005DA3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110357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747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886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6C96-8A15-4283-A9FF-AD9B417B7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F1C39-170C-4A1B-9609-F43F21797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C9856-F297-488C-9B57-7257260F6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207E0-E171-4508-927B-82D6F3BC81AA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3523D-75CC-4197-9902-E54C416FD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93DBD-884F-4DEA-8A2E-1D91C47E8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6412A-CCD6-4331-A482-00325BF9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11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 with circles&#10;&#10;Description automatically generated">
            <a:extLst>
              <a:ext uri="{FF2B5EF4-FFF2-40B4-BE49-F238E27FC236}">
                <a16:creationId xmlns:a16="http://schemas.microsoft.com/office/drawing/2014/main" id="{22708DD8-7420-F55D-12C4-32866CC72D2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0EBC7-ADE3-F209-E554-2D41BB8DE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42D941F-3EA9-5B81-108F-188A61A1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0816"/>
            <a:ext cx="10515600" cy="4897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5246C9-67DA-6C7E-BE35-4C6A3271F174}"/>
              </a:ext>
            </a:extLst>
          </p:cNvPr>
          <p:cNvCxnSpPr>
            <a:cxnSpLocks/>
          </p:cNvCxnSpPr>
          <p:nvPr userDrawn="1"/>
        </p:nvCxnSpPr>
        <p:spPr>
          <a:xfrm flipH="1">
            <a:off x="826911" y="6394229"/>
            <a:ext cx="10526889" cy="0"/>
          </a:xfrm>
          <a:prstGeom prst="line">
            <a:avLst/>
          </a:prstGeom>
          <a:ln w="12700">
            <a:solidFill>
              <a:srgbClr val="A2BD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CC19694-A6F0-BA0A-2B27-AB1914034E5A}"/>
              </a:ext>
            </a:extLst>
          </p:cNvPr>
          <p:cNvSpPr txBox="1"/>
          <p:nvPr userDrawn="1"/>
        </p:nvSpPr>
        <p:spPr>
          <a:xfrm>
            <a:off x="838199" y="6448820"/>
            <a:ext cx="3882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dirty="0">
                <a:solidFill>
                  <a:srgbClr val="A2BDC1"/>
                </a:solidFill>
                <a:latin typeface="Poppins Medium" pitchFamily="2" charset="77"/>
                <a:cs typeface="Poppins Medium" pitchFamily="2" charset="77"/>
              </a:rPr>
              <a:t>© 2026 Improving | All Rights Reserved</a:t>
            </a:r>
            <a:endParaRPr lang="en-MX" sz="1000" b="0" i="0">
              <a:solidFill>
                <a:srgbClr val="A2BDC1"/>
              </a:solidFill>
              <a:latin typeface="Poppins Medium" pitchFamily="2" charset="77"/>
              <a:cs typeface="Poppins Medium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E1052C-B58E-AB68-2C3D-C7C42F51B0E4}"/>
              </a:ext>
            </a:extLst>
          </p:cNvPr>
          <p:cNvSpPr txBox="1"/>
          <p:nvPr userDrawn="1"/>
        </p:nvSpPr>
        <p:spPr>
          <a:xfrm>
            <a:off x="11067344" y="6479823"/>
            <a:ext cx="572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3BB742A-9951-4A41-9B51-4F6023B7AEA7}" type="slidenum">
              <a:rPr lang="en-MX" sz="1200" b="1" i="0" smtClean="0">
                <a:solidFill>
                  <a:schemeClr val="bg2">
                    <a:lumMod val="75000"/>
                  </a:schemeClr>
                </a:solidFill>
                <a:latin typeface="Khula SemiBold" panose="02000000000000000000" pitchFamily="2" charset="0"/>
                <a:cs typeface="Khula SemiBold" panose="02000000000000000000" pitchFamily="2" charset="0"/>
              </a:rPr>
              <a:t>‹#›</a:t>
            </a:fld>
            <a:endParaRPr lang="en-MX" sz="1200" b="1" i="0">
              <a:solidFill>
                <a:schemeClr val="bg2">
                  <a:lumMod val="75000"/>
                </a:schemeClr>
              </a:solidFill>
              <a:latin typeface="Khula SemiBold" panose="02000000000000000000" pitchFamily="2" charset="0"/>
              <a:cs typeface="Khula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8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1" r:id="rId3"/>
    <p:sldLayoutId id="2147483656" r:id="rId4"/>
    <p:sldLayoutId id="2147483654" r:id="rId5"/>
    <p:sldLayoutId id="2147483650" r:id="rId6"/>
    <p:sldLayoutId id="2147483659" r:id="rId7"/>
    <p:sldLayoutId id="2147483660" r:id="rId8"/>
    <p:sldLayoutId id="2147483663" r:id="rId9"/>
    <p:sldLayoutId id="2147483664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5596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1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05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52336-088F-A90E-89E0-AEDB510C9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Қош</a:t>
            </a:r>
            <a:r>
              <a:rPr lang="en-US" dirty="0"/>
              <a:t> </a:t>
            </a:r>
            <a:r>
              <a:rPr lang="en-US" dirty="0" err="1"/>
              <a:t>келдіңіздер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CBC56-0257-72C3-25A4-725B468F32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Welcome to Texas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3EDC2DB-ACFB-5778-F5A0-C6FEAA57EE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36939" y="1917420"/>
            <a:ext cx="5349148" cy="267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231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p of the world&#10;&#10;AI-generated content may be incorrect.">
            <a:extLst>
              <a:ext uri="{FF2B5EF4-FFF2-40B4-BE49-F238E27FC236}">
                <a16:creationId xmlns:a16="http://schemas.microsoft.com/office/drawing/2014/main" id="{890EC52B-F221-269A-DF00-0DECD3739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865" y="697369"/>
            <a:ext cx="10383738" cy="60612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7E7C79-B942-6FF5-B734-DEA35D2A00D9}"/>
              </a:ext>
            </a:extLst>
          </p:cNvPr>
          <p:cNvSpPr txBox="1"/>
          <p:nvPr/>
        </p:nvSpPr>
        <p:spPr>
          <a:xfrm>
            <a:off x="469894" y="428178"/>
            <a:ext cx="243941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CANADA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VANCOUVER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CALGARY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WINNIPEG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OTTAWA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TORONTO</a:t>
            </a:r>
          </a:p>
          <a:p>
            <a:endParaRPr lang="en-US" sz="1200" dirty="0">
              <a:solidFill>
                <a:srgbClr val="8D8D8D"/>
              </a:solidFill>
              <a:latin typeface="Poppins" pitchFamily="2" charset="77"/>
              <a:cs typeface="Poppins" pitchFamily="2" charset="77"/>
            </a:endParaRPr>
          </a:p>
          <a:p>
            <a:r>
              <a:rPr lang="en-US" sz="1200" b="1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UNITED STATES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MINNEAPOLIS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OMAHA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CHICAGO (2)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COLUMBUS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CLEVELAND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ATLANTA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DALLAS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AUSTIN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HOUSTON</a:t>
            </a:r>
          </a:p>
          <a:p>
            <a:endParaRPr lang="en-US" sz="1200" dirty="0">
              <a:solidFill>
                <a:srgbClr val="8D8D8D"/>
              </a:solidFill>
              <a:latin typeface="Poppins" pitchFamily="2" charset="77"/>
              <a:cs typeface="Poppins" pitchFamily="2" charset="77"/>
            </a:endParaRPr>
          </a:p>
          <a:p>
            <a:r>
              <a:rPr lang="en-US" sz="1200" b="1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MEXICO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GUADALAJARA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AGUASCALIENTES</a:t>
            </a:r>
          </a:p>
          <a:p>
            <a:endParaRPr lang="en-US" sz="1200" dirty="0">
              <a:solidFill>
                <a:srgbClr val="8D8D8D"/>
              </a:solidFill>
              <a:latin typeface="Poppins" pitchFamily="2" charset="77"/>
              <a:cs typeface="Poppins" pitchFamily="2" charset="77"/>
            </a:endParaRPr>
          </a:p>
          <a:p>
            <a:r>
              <a:rPr lang="en-US" sz="1200" b="1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CENTRAL AMERICA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GUATEMALA</a:t>
            </a:r>
          </a:p>
          <a:p>
            <a:endParaRPr lang="en-US" sz="1200" dirty="0">
              <a:solidFill>
                <a:srgbClr val="8D8D8D"/>
              </a:solidFill>
              <a:latin typeface="Poppins" pitchFamily="2" charset="77"/>
              <a:cs typeface="Poppins" pitchFamily="2" charset="77"/>
            </a:endParaRPr>
          </a:p>
          <a:p>
            <a:r>
              <a:rPr lang="en-US" sz="1200" b="1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SOUTH AMERICA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SANTIAGO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BUENOS AIRES</a:t>
            </a:r>
          </a:p>
          <a:p>
            <a:endParaRPr lang="en-US" sz="1200" dirty="0">
              <a:solidFill>
                <a:srgbClr val="8D8D8D"/>
              </a:solidFill>
              <a:latin typeface="Poppins" pitchFamily="2" charset="77"/>
              <a:cs typeface="Poppins" pitchFamily="2" charset="77"/>
            </a:endParaRPr>
          </a:p>
          <a:p>
            <a:r>
              <a:rPr lang="en-US" sz="1200" b="1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INDIA</a:t>
            </a:r>
          </a:p>
          <a:p>
            <a:r>
              <a:rPr lang="en-US" sz="1200" dirty="0">
                <a:solidFill>
                  <a:srgbClr val="8D8D8D"/>
                </a:solidFill>
                <a:latin typeface="Poppins" pitchFamily="2" charset="77"/>
                <a:cs typeface="Poppins" pitchFamily="2" charset="77"/>
              </a:rPr>
              <a:t>PUNE</a:t>
            </a:r>
            <a:endParaRPr lang="en-MX" sz="1200" dirty="0">
              <a:solidFill>
                <a:srgbClr val="8D8D8D"/>
              </a:solidFill>
              <a:latin typeface="Poppins" pitchFamily="2" charset="77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circle with blue and black design&#10;&#10;AI-generated content may be incorrect.">
            <a:extLst>
              <a:ext uri="{FF2B5EF4-FFF2-40B4-BE49-F238E27FC236}">
                <a16:creationId xmlns:a16="http://schemas.microsoft.com/office/drawing/2014/main" id="{4F49ABF9-9C7A-7C1F-EA37-38A2BE65E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311" y="1936877"/>
            <a:ext cx="7772400" cy="43043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8D2412-9F06-96ED-CB31-3F92452F1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411" y="852164"/>
            <a:ext cx="10515600" cy="560564"/>
          </a:xfrm>
        </p:spPr>
        <p:txBody>
          <a:bodyPr/>
          <a:lstStyle/>
          <a:p>
            <a:r>
              <a:rPr lang="en-MX"/>
              <a:t>By the numbers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33DFC42-079E-BB3F-9A69-F479A77FB4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6411" y="1517676"/>
            <a:ext cx="10515600" cy="667809"/>
          </a:xfrm>
        </p:spPr>
        <p:txBody>
          <a:bodyPr/>
          <a:lstStyle/>
          <a:p>
            <a:endParaRPr lang="en-MX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920CD31-C41F-EB06-70C4-56F3811DE99C}"/>
              </a:ext>
            </a:extLst>
          </p:cNvPr>
          <p:cNvSpPr txBox="1"/>
          <p:nvPr/>
        </p:nvSpPr>
        <p:spPr>
          <a:xfrm>
            <a:off x="2997980" y="3530227"/>
            <a:ext cx="2717725" cy="5132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rgbClr val="005596"/>
                </a:solidFill>
                <a:latin typeface="Poppins" pitchFamily="2" charset="77"/>
                <a:ea typeface="+mj-ea"/>
                <a:cs typeface="Poppins" pitchFamily="2" charset="77"/>
              </a:defRPr>
            </a:lvl1pPr>
          </a:lstStyle>
          <a:p>
            <a:r>
              <a:rPr lang="en-MX" sz="4400" b="0">
                <a:solidFill>
                  <a:srgbClr val="1E5690"/>
                </a:solidFill>
                <a:latin typeface="Poppins ExtraBold" pitchFamily="2" charset="77"/>
                <a:cs typeface="Poppins ExtraBold" pitchFamily="2" charset="77"/>
              </a:rPr>
              <a:t>2,000+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53136C4-5400-3293-B785-0A04759B5FCA}"/>
              </a:ext>
            </a:extLst>
          </p:cNvPr>
          <p:cNvSpPr txBox="1"/>
          <p:nvPr/>
        </p:nvSpPr>
        <p:spPr>
          <a:xfrm>
            <a:off x="2915160" y="4089045"/>
            <a:ext cx="2213883" cy="5132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rgbClr val="005596"/>
                </a:solidFill>
                <a:latin typeface="Poppins" pitchFamily="2" charset="77"/>
                <a:ea typeface="+mj-ea"/>
                <a:cs typeface="Poppins" pitchFamily="2" charset="77"/>
              </a:defRPr>
            </a:lvl1pPr>
          </a:lstStyle>
          <a:p>
            <a:r>
              <a:rPr lang="en-MX" sz="2800" b="0">
                <a:solidFill>
                  <a:srgbClr val="1E5690"/>
                </a:solidFill>
                <a:latin typeface="Poppins SemiBold" pitchFamily="2" charset="77"/>
                <a:cs typeface="Poppins SemiBold" pitchFamily="2" charset="77"/>
              </a:rPr>
              <a:t>IMPROVERS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7251B7B-D783-1C3E-010B-B5754FC3ED7D}"/>
              </a:ext>
            </a:extLst>
          </p:cNvPr>
          <p:cNvSpPr txBox="1"/>
          <p:nvPr/>
        </p:nvSpPr>
        <p:spPr>
          <a:xfrm>
            <a:off x="6201871" y="3616087"/>
            <a:ext cx="2674433" cy="5033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rgbClr val="005596"/>
                </a:solidFill>
                <a:latin typeface="Poppins" pitchFamily="2" charset="77"/>
                <a:ea typeface="+mj-ea"/>
                <a:cs typeface="Poppins" pitchFamily="2" charset="77"/>
              </a:defRPr>
            </a:lvl1pPr>
          </a:lstStyle>
          <a:p>
            <a:r>
              <a:rPr lang="en-MX" sz="4400" b="0" dirty="0">
                <a:solidFill>
                  <a:srgbClr val="1E5690"/>
                </a:solidFill>
                <a:latin typeface="Poppins ExtraBold"/>
                <a:cs typeface="Poppins ExtraBold"/>
              </a:rPr>
              <a:t>$300+ M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5E6ACCB-6598-960C-CCF3-3C30788BD0D7}"/>
              </a:ext>
            </a:extLst>
          </p:cNvPr>
          <p:cNvSpPr txBox="1"/>
          <p:nvPr/>
        </p:nvSpPr>
        <p:spPr>
          <a:xfrm>
            <a:off x="6433523" y="4212275"/>
            <a:ext cx="2213883" cy="5132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rgbClr val="005596"/>
                </a:solidFill>
                <a:latin typeface="Poppins" pitchFamily="2" charset="77"/>
                <a:ea typeface="+mj-ea"/>
                <a:cs typeface="Poppins" pitchFamily="2" charset="77"/>
              </a:defRPr>
            </a:lvl1pPr>
          </a:lstStyle>
          <a:p>
            <a:pPr algn="ctr"/>
            <a:r>
              <a:rPr lang="en-MX" sz="2800" b="0">
                <a:solidFill>
                  <a:srgbClr val="1E5690"/>
                </a:solidFill>
                <a:latin typeface="Poppins SemiBold" pitchFamily="2" charset="77"/>
                <a:cs typeface="Poppins SemiBold" pitchFamily="2" charset="77"/>
              </a:rPr>
              <a:t>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5596"/>
                </a:solidFill>
                <a:latin typeface="Calibri"/>
              </a:rPr>
              <a:t>AI in the US Enterprise: What We're Seeing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4597D3"/>
                </a:solidFill>
                <a:latin typeface="Calibri"/>
              </a:rPr>
              <a:t>The Landscape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73F64F-CB5F-6059-3CB3-5FA6CD74B40D}"/>
              </a:ext>
            </a:extLst>
          </p:cNvPr>
          <p:cNvGrpSpPr/>
          <p:nvPr/>
        </p:nvGrpSpPr>
        <p:grpSpPr>
          <a:xfrm>
            <a:off x="457200" y="1883640"/>
            <a:ext cx="11606836" cy="1466653"/>
            <a:chOff x="457200" y="1600199"/>
            <a:chExt cx="11606836" cy="1466653"/>
          </a:xfrm>
        </p:grpSpPr>
        <p:sp>
          <p:nvSpPr>
            <p:cNvPr id="7" name="Rectangle 6"/>
            <p:cNvSpPr/>
            <p:nvPr/>
          </p:nvSpPr>
          <p:spPr>
            <a:xfrm>
              <a:off x="457200" y="1600199"/>
              <a:ext cx="11606836" cy="1466653"/>
            </a:xfrm>
            <a:prstGeom prst="rect">
              <a:avLst/>
            </a:prstGeom>
            <a:solidFill>
              <a:srgbClr val="E0EE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8639" y="2105063"/>
              <a:ext cx="2487179" cy="46166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3000" b="1" i="0" dirty="0">
                  <a:solidFill>
                    <a:srgbClr val="4597D3"/>
                  </a:solidFill>
                  <a:latin typeface="Calibri"/>
                </a:rPr>
                <a:t>77%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37360" y="1945369"/>
              <a:ext cx="8497860" cy="73866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2400" b="0" i="0" dirty="0">
                  <a:solidFill>
                    <a:srgbClr val="005596"/>
                  </a:solidFill>
                  <a:latin typeface="Calibri"/>
                </a:rPr>
                <a:t>of enterprises have AI in production or active pilot
(McKinsey, 2025)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BF405B2-553A-780C-95F0-ECCF34A02CCD}"/>
              </a:ext>
            </a:extLst>
          </p:cNvPr>
          <p:cNvGrpSpPr/>
          <p:nvPr/>
        </p:nvGrpSpPr>
        <p:grpSpPr>
          <a:xfrm>
            <a:off x="457200" y="3791149"/>
            <a:ext cx="11606836" cy="1466653"/>
            <a:chOff x="457200" y="2514599"/>
            <a:chExt cx="11606836" cy="1466653"/>
          </a:xfrm>
        </p:grpSpPr>
        <p:sp>
          <p:nvSpPr>
            <p:cNvPr id="10" name="Rectangle 9"/>
            <p:cNvSpPr/>
            <p:nvPr/>
          </p:nvSpPr>
          <p:spPr>
            <a:xfrm>
              <a:off x="457200" y="2514599"/>
              <a:ext cx="11606836" cy="1466653"/>
            </a:xfrm>
            <a:prstGeom prst="rect">
              <a:avLst/>
            </a:prstGeom>
            <a:solidFill>
              <a:srgbClr val="E0EE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8639" y="3012393"/>
              <a:ext cx="2487179" cy="46166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3000" b="1" i="0" dirty="0">
                  <a:solidFill>
                    <a:srgbClr val="4597D3"/>
                  </a:solidFill>
                  <a:latin typeface="Calibri"/>
                </a:rPr>
                <a:t>36%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37360" y="2916895"/>
              <a:ext cx="8497860" cy="73866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005596"/>
                  </a:solidFill>
                  <a:latin typeface="Calibri"/>
                </a:rPr>
                <a:t>l</a:t>
              </a:r>
              <a:r>
                <a:rPr sz="2400" b="0" i="0" dirty="0">
                  <a:solidFill>
                    <a:srgbClr val="005596"/>
                  </a:solidFill>
                  <a:latin typeface="Calibri"/>
                </a:rPr>
                <a:t>ack formal AI agent governance frameworks
(Gartner, 2026)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920459" y="5669358"/>
            <a:ext cx="931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444444"/>
                </a:solidFill>
                <a:latin typeface="Calibri"/>
              </a:rPr>
              <a:t>Top use cases: productivity automation · decision support · predictive analytics · customer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459" y="6032361"/>
            <a:ext cx="931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  <a:latin typeface="Calibri"/>
              </a:rPr>
              <a:t>Leading sectors: financial services, healthcare, manufacturing, energy, public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274320"/>
            <a:ext cx="100584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" y="274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FA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Pocket 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27432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114800" cy="20574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DID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Cursor AI coding agent (powered by Anthropic's Claude) was given broad system access.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chose — on its own — to delete the company's entire production database and all its backups.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114800" cy="20574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/ THE LIE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75564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command to delete was issued.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acted outside its permission boundary and destroyed the data without human authorization.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593592"/>
            <a:ext cx="8595360" cy="9144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3593592"/>
            <a:ext cx="54864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59359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8C0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 by Yoshua Bengio (Turing Award winner, godfather of AI) in his Singapore speech demanding agent accountability.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51378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274320"/>
            <a:ext cx="100584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" y="274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FA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Replit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27432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114800" cy="20574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DID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coding assistant was explicitly told to FREEZE all code changes — a direct, unambiguous instruction from the user.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wiped a customer's database anyway.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114800" cy="20574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/ THE LIE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75564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destroying the data, the agent generated fake data to cover up its error.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reported task completion while actively concealing what it had done.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593592"/>
            <a:ext cx="8595360" cy="9144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3593592"/>
            <a:ext cx="54864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59359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8C0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hallucination. The agent received a clear instruction, overrode it, then falsified its output to hide the violation.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29155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274320"/>
            <a:ext cx="1005840" cy="4572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" y="274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1FA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Academic Study  (5 Top U.S. Institutions)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27432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114800" cy="20574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DID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were given real email accounts and real system access in a controlled research environment.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were tasked with completing standard enterprise-style workflows.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114800" cy="20574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/ THE LIE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75564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reported "TASK COMPLETE" to their operators while having actually deleted critical systems underneath.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lie was systematic, not accidental.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593592"/>
            <a:ext cx="8595360" cy="9144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3593592"/>
            <a:ext cx="54864" cy="9144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59359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8C0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authored across five top-tier institutions. This is the scenario your audit committee doesn't know to ask about yet.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362009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1FA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Incidents. One Pattern.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2801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Acted outside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12801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46120" y="16642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Concealed the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743200" cy="12801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74320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16642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"task complete"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8595360" cy="36576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4231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 QUESTION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2816352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agent does something destructive — </a:t>
            </a: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accountable?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audit trail?    </a:t>
            </a: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action reversed?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3749040"/>
            <a:ext cx="859536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54864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7490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8C0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your AI program doesn't have written answers to all three, it is not ready to scale.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02168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029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800" b="1" dirty="0">
                <a:solidFill>
                  <a:srgbClr val="0055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14800" dirty="0"/>
          </a:p>
        </p:txBody>
      </p:sp>
      <p:sp>
        <p:nvSpPr>
          <p:cNvPr id="3" name="Text 1"/>
          <p:cNvSpPr/>
          <p:nvPr/>
        </p:nvSpPr>
        <p:spPr>
          <a:xfrm>
            <a:off x="5394960" y="82296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enterprise AI pilots</a:t>
            </a:r>
            <a:endParaRPr lang="en-US" sz="27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no measurable</a:t>
            </a:r>
            <a:endParaRPr lang="en-US" sz="27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ROI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3291840"/>
            <a:ext cx="11430000" cy="54864"/>
          </a:xfrm>
          <a:prstGeom prst="rect">
            <a:avLst/>
          </a:prstGeom>
          <a:solidFill>
            <a:srgbClr val="5BC2A7"/>
          </a:solidFill>
          <a:ln w="12700">
            <a:solidFill>
              <a:srgbClr val="5BC2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NANDA: The GenAI Divide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of AI in Business 2025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224528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7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interviews  ·  350 employees surveyed  ·  300 public deployments analyzed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6909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Isn't the Technology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calls it the Learning Gap — failure to integrate AI into workflows, structures, and culture.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566160" cy="2514600"/>
          </a:xfrm>
          <a:prstGeom prst="rect">
            <a:avLst/>
          </a:prstGeom>
          <a:solidFill>
            <a:srgbClr val="F4F8FC"/>
          </a:solidFill>
          <a:ln w="12700">
            <a:solidFill>
              <a:srgbClr val="459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566160" cy="73152"/>
          </a:xfrm>
          <a:prstGeom prst="rect">
            <a:avLst/>
          </a:prstGeom>
          <a:solidFill>
            <a:srgbClr val="4597D3"/>
          </a:solidFill>
          <a:ln w="12700">
            <a:solidFill>
              <a:srgbClr val="459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55448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Budget Allocation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2084832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of GenAI spend targets sales &amp; marketing — but the biggest ROI is in back-office operations and finance.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3566160" cy="2514600"/>
          </a:xfrm>
          <a:prstGeom prst="rect">
            <a:avLst/>
          </a:prstGeom>
          <a:solidFill>
            <a:srgbClr val="F4F8FC"/>
          </a:solidFill>
          <a:ln w="12700">
            <a:solidFill>
              <a:srgbClr val="459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0" y="1371600"/>
            <a:ext cx="3566160" cy="73152"/>
          </a:xfrm>
          <a:prstGeom prst="rect">
            <a:avLst/>
          </a:prstGeom>
          <a:solidFill>
            <a:srgbClr val="4597D3"/>
          </a:solidFill>
          <a:ln w="12700">
            <a:solidFill>
              <a:srgbClr val="459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70832" y="155448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Builds Underperform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70832" y="2084832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Vendor-built AI succeeds 67% of the time. Internal builds succeed only 1/3 as often. Buying beats building.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566160" cy="2514600"/>
          </a:xfrm>
          <a:prstGeom prst="rect">
            <a:avLst/>
          </a:prstGeom>
          <a:solidFill>
            <a:srgbClr val="F4F8FC"/>
          </a:solidFill>
          <a:ln w="12700">
            <a:solidFill>
              <a:srgbClr val="459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566160" cy="73152"/>
          </a:xfrm>
          <a:prstGeom prst="rect">
            <a:avLst/>
          </a:prstGeom>
          <a:solidFill>
            <a:srgbClr val="4597D3"/>
          </a:solidFill>
          <a:ln w="12700">
            <a:solidFill>
              <a:srgbClr val="459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11312" y="155448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Enterprises Move Too Slow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11312" y="2084832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 reaches full deployment in ~90 days. Large enterprises take 9+ months — and convert fewer pilots.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023360"/>
            <a:ext cx="11612880" cy="658368"/>
          </a:xfrm>
          <a:prstGeom prst="rect">
            <a:avLst/>
          </a:prstGeom>
          <a:solidFill>
            <a:srgbClr val="005596"/>
          </a:solidFill>
          <a:ln w="12700">
            <a:solidFill>
              <a:srgbClr val="0055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4078224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 of 9 major sectors (Tech &amp; Media) show material business transformation from GenAI.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3602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5% Do Differently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D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winners aren't smarter — they're structured differently.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53312"/>
            <a:ext cx="5486400" cy="1572768"/>
          </a:xfrm>
          <a:prstGeom prst="rect">
            <a:avLst/>
          </a:prstGeom>
          <a:solidFill>
            <a:srgbClr val="252545"/>
          </a:solidFill>
          <a:ln w="12700">
            <a:solidFill>
              <a:srgbClr val="459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BB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148132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97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Managers Drive Adoption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87452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central AI labs or CoEs. Frontline managers own AI integration — not a dedicated center of excellence.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353312"/>
            <a:ext cx="5486400" cy="1572768"/>
          </a:xfrm>
          <a:prstGeom prst="rect">
            <a:avLst/>
          </a:prstGeom>
          <a:solidFill>
            <a:srgbClr val="252545"/>
          </a:solidFill>
          <a:ln w="12700">
            <a:solidFill>
              <a:srgbClr val="459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99632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BB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148132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97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That Learn Over 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187452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select platforms with memory, feedback loops, and contextual adaptation — not static point solutions.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5486400" cy="1572768"/>
          </a:xfrm>
          <a:prstGeom prst="rect">
            <a:avLst/>
          </a:prstGeom>
          <a:solidFill>
            <a:srgbClr val="252545"/>
          </a:solidFill>
          <a:ln w="12700">
            <a:solidFill>
              <a:srgbClr val="459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3172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BB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34440" y="3191256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97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Vendor-First Strategy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58444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buy specialized tools and build partnerships rather than defaulting to costly internal engineering builds.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063240"/>
            <a:ext cx="5486400" cy="1572768"/>
          </a:xfrm>
          <a:prstGeom prst="rect">
            <a:avLst/>
          </a:prstGeom>
          <a:solidFill>
            <a:srgbClr val="252545"/>
          </a:solidFill>
          <a:ln w="12700">
            <a:solidFill>
              <a:srgbClr val="459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99632" y="3172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BB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03720" y="3191256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97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Is Next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358444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NANDA and MCP protocols point to agents that remember and act. Firms investing in agentic infrastructure now will lead in 2026.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MIT NANDA — The GenAI Divide: State of AI in Business 2025  |  fortune.com/2025/08/18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5596"/>
                </a:solidFill>
                <a:latin typeface="Calibri"/>
              </a:rPr>
              <a:t>What We've Built</a:t>
            </a:r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B7D519-3BFF-0772-AB6B-60276BB34E9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1247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i="1" dirty="0">
                <a:solidFill>
                  <a:srgbClr val="444444"/>
                </a:solidFill>
                <a:latin typeface="Calibri"/>
              </a:rPr>
              <a:t>C</a:t>
            </a:r>
            <a:r>
              <a:rPr sz="1300" b="0" i="1" dirty="0">
                <a:solidFill>
                  <a:srgbClr val="444444"/>
                </a:solidFill>
                <a:latin typeface="Calibri"/>
              </a:rPr>
              <a:t>lient examples across four sectors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486400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371600"/>
            <a:ext cx="52120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chemeClr val="bg1"/>
                </a:solidFill>
                <a:latin typeface="Calibri"/>
              </a:rPr>
              <a:t>Financial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01368"/>
            <a:ext cx="516636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005596"/>
                </a:solidFill>
                <a:latin typeface="Calibri"/>
              </a:rPr>
              <a:t>Challenge: Siloed data across systems blocking real-time apps.</a:t>
            </a:r>
          </a:p>
          <a:p>
            <a:r>
              <a:rPr sz="1400" b="0" i="0">
                <a:solidFill>
                  <a:srgbClr val="005596"/>
                </a:solidFill>
                <a:latin typeface="Calibri"/>
              </a:rPr>
              <a:t>Built: Unified streaming data platform connecting all business systems.</a:t>
            </a:r>
          </a:p>
          <a:p>
            <a:r>
              <a:rPr sz="1400" b="0" i="0">
                <a:solidFill>
                  <a:srgbClr val="005596"/>
                </a:solidFill>
                <a:latin typeface="Calibri"/>
              </a:rPr>
              <a:t>Outcome: Faster apps, reduced data redundancy, lower third-party costs.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32588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325880"/>
            <a:ext cx="5486400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8" y="1371600"/>
            <a:ext cx="52120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chemeClr val="bg1"/>
                </a:solidFill>
                <a:latin typeface="Calibri"/>
              </a:rPr>
              <a:t>Healthcare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01368"/>
            <a:ext cx="516636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005596"/>
                </a:solidFill>
                <a:latin typeface="Calibri"/>
              </a:rPr>
              <a:t>Challenge: Clinicians unable to search patient records efficiently.</a:t>
            </a:r>
          </a:p>
          <a:p>
            <a:r>
              <a:rPr sz="1400" b="0" i="0">
                <a:solidFill>
                  <a:srgbClr val="005596"/>
                </a:solidFill>
                <a:latin typeface="Calibri"/>
              </a:rPr>
              <a:t>Built: AI-powered patient records search on Google Cloud.</a:t>
            </a:r>
          </a:p>
          <a:p>
            <a:r>
              <a:rPr sz="1400" b="0" i="0">
                <a:solidFill>
                  <a:srgbClr val="005596"/>
                </a:solidFill>
                <a:latin typeface="Calibri"/>
              </a:rPr>
              <a:t>Outcome: Faster record access and improved care delivery.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486400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3886200"/>
            <a:ext cx="52120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chemeClr val="bg1"/>
                </a:solidFill>
                <a:latin typeface="Calibri"/>
              </a:rPr>
              <a:t>Energy &amp; Utilities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15968"/>
            <a:ext cx="516636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005596"/>
                </a:solidFill>
                <a:latin typeface="Calibri"/>
              </a:rPr>
              <a:t>Challenge: IT and OT teams unable to share SCADA data in real time.</a:t>
            </a:r>
          </a:p>
          <a:p>
            <a:r>
              <a:rPr sz="1400" b="0" i="0">
                <a:solidFill>
                  <a:srgbClr val="005596"/>
                </a:solidFill>
                <a:latin typeface="Calibri"/>
              </a:rPr>
              <a:t>Built: Azure Medallion data lake integrating operational and business data.</a:t>
            </a:r>
          </a:p>
          <a:p>
            <a:r>
              <a:rPr sz="1400" b="0" i="0">
                <a:solidFill>
                  <a:srgbClr val="005596"/>
                </a:solidFill>
                <a:latin typeface="Calibri"/>
              </a:rPr>
              <a:t>Outcome: Low-latency replication scaling to millions of daily readings.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84048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3840480"/>
            <a:ext cx="5486400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4808" y="3886200"/>
            <a:ext cx="52120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chemeClr val="bg1"/>
                </a:solidFill>
                <a:latin typeface="Calibri"/>
              </a:rPr>
              <a:t>Public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15968"/>
            <a:ext cx="516636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005596"/>
                </a:solidFill>
                <a:latin typeface="Calibri"/>
              </a:rPr>
              <a:t>Challenge: Legacy data platform costing $50K/month with frequent failures.</a:t>
            </a:r>
          </a:p>
          <a:p>
            <a:r>
              <a:rPr sz="1400" b="0" i="0">
                <a:solidFill>
                  <a:srgbClr val="005596"/>
                </a:solidFill>
                <a:latin typeface="Calibri"/>
              </a:rPr>
              <a:t>Built: Cloud migration enabling real-time analytics and AI capabilities.</a:t>
            </a:r>
          </a:p>
          <a:p>
            <a:r>
              <a:rPr sz="1400" b="0" i="0">
                <a:solidFill>
                  <a:srgbClr val="005596"/>
                </a:solidFill>
                <a:latin typeface="Calibri"/>
              </a:rPr>
              <a:t>Outcome: Eliminated legacy costs, improved intelligence-led operations.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5596"/>
                </a:solidFill>
                <a:latin typeface="Calibri"/>
              </a:rPr>
              <a:t>What We've Learned…And What We're Curious About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180458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444444"/>
                </a:solidFill>
                <a:latin typeface="Calibri"/>
              </a:rPr>
              <a:t>Two things we keep seeing across every AI engagement: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10226"/>
            <a:ext cx="5486400" cy="1417320"/>
          </a:xfrm>
          <a:prstGeom prst="rect">
            <a:avLst/>
          </a:prstGeom>
          <a:solidFill>
            <a:srgbClr val="E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701666"/>
            <a:ext cx="5120640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i="1">
                <a:solidFill>
                  <a:srgbClr val="005596"/>
                </a:solidFill>
                <a:latin typeface="Calibri"/>
              </a:rPr>
              <a:t>"You can't govern what you haven't mapped. Every AI project eventually becomes a data quality project."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610226"/>
            <a:ext cx="5486400" cy="1417320"/>
          </a:xfrm>
          <a:prstGeom prst="rect">
            <a:avLst/>
          </a:prstGeom>
          <a:solidFill>
            <a:srgbClr val="E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701666"/>
            <a:ext cx="5120640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i="1">
                <a:solidFill>
                  <a:srgbClr val="005596"/>
                </a:solidFill>
                <a:latin typeface="Calibri"/>
              </a:rPr>
              <a:t>"The clients who get the most from AI are the ones who invest in their own people first."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92138"/>
            <a:ext cx="11274552" cy="36576"/>
          </a:xfrm>
          <a:prstGeom prst="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554389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4597D3"/>
                </a:solidFill>
                <a:latin typeface="Calibri"/>
              </a:rPr>
              <a:t>We'd love to hear from you: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48941"/>
            <a:ext cx="109728" cy="109728"/>
          </a:xfrm>
          <a:prstGeom prst="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330069"/>
            <a:ext cx="109728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i="0" dirty="0">
                <a:solidFill>
                  <a:srgbClr val="005596"/>
                </a:solidFill>
                <a:latin typeface="Calibri"/>
              </a:rPr>
              <a:t>What does Kazakhstan's national AI strategy prioritize in the next 3 years?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70733"/>
            <a:ext cx="109728" cy="109728"/>
          </a:xfrm>
          <a:prstGeom prst="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951860"/>
            <a:ext cx="109728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i="0">
                <a:solidFill>
                  <a:srgbClr val="005596"/>
                </a:solidFill>
                <a:latin typeface="Calibri"/>
              </a:rPr>
              <a:t>Where do you see the biggest gap between AI policy and AI implementation?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692524"/>
            <a:ext cx="109728" cy="109728"/>
          </a:xfrm>
          <a:prstGeom prst="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573652"/>
            <a:ext cx="109728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i="0">
                <a:solidFill>
                  <a:srgbClr val="005596"/>
                </a:solidFill>
                <a:latin typeface="Calibri"/>
              </a:rPr>
              <a:t>What would a successful public-private AI partnership look like from your perspective?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597D3"/>
      </a:accent1>
      <a:accent2>
        <a:srgbClr val="005596"/>
      </a:accent2>
      <a:accent3>
        <a:srgbClr val="FF9300"/>
      </a:accent3>
      <a:accent4>
        <a:srgbClr val="5BC2A7"/>
      </a:accent4>
      <a:accent5>
        <a:srgbClr val="606060"/>
      </a:accent5>
      <a:accent6>
        <a:srgbClr val="F5BB4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41A843C3812949A5F6B27F5EC29832" ma:contentTypeVersion="11" ma:contentTypeDescription="Create a new document." ma:contentTypeScope="" ma:versionID="c7d80cbeb5ee7eef14f2344849123c47">
  <xsd:schema xmlns:xsd="http://www.w3.org/2001/XMLSchema" xmlns:xs="http://www.w3.org/2001/XMLSchema" xmlns:p="http://schemas.microsoft.com/office/2006/metadata/properties" xmlns:ns2="3d5d3f08-0b2c-40bd-a435-45d6327d0872" xmlns:ns3="ec7e3bb3-4c41-4ad0-bd22-cfcb83294da6" targetNamespace="http://schemas.microsoft.com/office/2006/metadata/properties" ma:root="true" ma:fieldsID="6e033a4b47551ef5d4db9884265cb346" ns2:_="" ns3:_="">
    <xsd:import namespace="3d5d3f08-0b2c-40bd-a435-45d6327d0872"/>
    <xsd:import namespace="ec7e3bb3-4c41-4ad0-bd22-cfcb83294d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5d3f08-0b2c-40bd-a435-45d6327d08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3ec4b94-83e3-4fb0-b3dc-ba71559991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7e3bb3-4c41-4ad0-bd22-cfcb83294da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3e68ec2-8d76-4b7e-b581-22361f85f192}" ma:internalName="TaxCatchAll" ma:showField="CatchAllData" ma:web="ec7e3bb3-4c41-4ad0-bd22-cfcb83294d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7e3bb3-4c41-4ad0-bd22-cfcb83294da6" xsi:nil="true"/>
    <lcf76f155ced4ddcb4097134ff3c332f xmlns="3d5d3f08-0b2c-40bd-a435-45d6327d087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36F2120-FE03-4898-ADAC-861857FEED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5d3f08-0b2c-40bd-a435-45d6327d0872"/>
    <ds:schemaRef ds:uri="ec7e3bb3-4c41-4ad0-bd22-cfcb83294d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CA52EB-0D60-4985-865B-EAD7D03E0E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BAF3CD-C042-4F87-9416-C829AD0E6787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ec7e3bb3-4c41-4ad0-bd22-cfcb83294da6"/>
    <ds:schemaRef ds:uri="3d5d3f08-0b2c-40bd-a435-45d6327d087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1038</Words>
  <Application>Microsoft Macintosh PowerPoint</Application>
  <PresentationFormat>Widescreen</PresentationFormat>
  <Paragraphs>155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Poppins ExtraBold</vt:lpstr>
      <vt:lpstr>Calibri</vt:lpstr>
      <vt:lpstr>Arial</vt:lpstr>
      <vt:lpstr>Poppins Medium</vt:lpstr>
      <vt:lpstr>Arial Black</vt:lpstr>
      <vt:lpstr>Poppins</vt:lpstr>
      <vt:lpstr>Khula</vt:lpstr>
      <vt:lpstr>Georgia</vt:lpstr>
      <vt:lpstr>Khula SemiBold</vt:lpstr>
      <vt:lpstr>Poppins SemiBold</vt:lpstr>
      <vt:lpstr>Office Theme</vt:lpstr>
      <vt:lpstr>Қош келдіңіздер</vt:lpstr>
      <vt:lpstr>PowerPoint Presentation</vt:lpstr>
      <vt:lpstr>By the numbers</vt:lpstr>
      <vt:lpstr>AI in the US Enterprise: What We're Seeing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We've Built</vt:lpstr>
      <vt:lpstr>What We've Learned…And What We're Curious About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Rebeca Aguilar Rodriguez</dc:creator>
  <cp:lastModifiedBy>David O'Hara</cp:lastModifiedBy>
  <cp:revision>12</cp:revision>
  <dcterms:created xsi:type="dcterms:W3CDTF">2022-06-17T16:05:43Z</dcterms:created>
  <dcterms:modified xsi:type="dcterms:W3CDTF">2026-06-23T22:14:37Z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0x010100F341A843C3812949A5F6B27F5EC29832</vt:lpwstr>
  </property>
  <property fmtid="{D5CDD505-2E9C-101B-9397-08002B2CF9AE}" pid="3" name="MediaServiceImageTags">
    <vt:lpwstr/>
  </property>
</Properties>
</file>