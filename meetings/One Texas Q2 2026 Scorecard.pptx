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A2560"/>
          </a:solidFill>
          <a:ln w="12700">
            <a:solidFill>
              <a:srgbClr val="1A2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TEXAS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5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 END-OF-QUARTER SCORECARD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2026 Annual Goals  |  Jun 22,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1 — REVENUE GROWTH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59536"/>
            <a:ext cx="1335024" cy="960120"/>
          </a:xfrm>
          <a:prstGeom prst="rect">
            <a:avLst/>
          </a:prstGeom>
          <a:solidFill>
            <a:srgbClr val="1E2D6B"/>
          </a:solidFill>
          <a:ln w="12700">
            <a:solidFill>
              <a:srgbClr val="2D3F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59536"/>
            <a:ext cx="50292" cy="9601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" y="914400"/>
            <a:ext cx="11704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74904" y="1060704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$2.73M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74904" y="158191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+2% vs target  |  95% fcst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682496" y="859536"/>
            <a:ext cx="1335024" cy="960120"/>
          </a:xfrm>
          <a:prstGeom prst="rect">
            <a:avLst/>
          </a:prstGeom>
          <a:solidFill>
            <a:srgbClr val="1E2D6B"/>
          </a:solidFill>
          <a:ln w="12700">
            <a:solidFill>
              <a:srgbClr val="2D3F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82496" y="859536"/>
            <a:ext cx="50292" cy="9601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83080" y="914400"/>
            <a:ext cx="11704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TEXAS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783080" y="1060704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$3.02M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783080" y="158191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-24% vs target  |  74% fcst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1911096"/>
            <a:ext cx="2743200" cy="420624"/>
          </a:xfrm>
          <a:prstGeom prst="rect">
            <a:avLst/>
          </a:prstGeom>
          <a:solidFill>
            <a:srgbClr val="1E2D6B"/>
          </a:solidFill>
          <a:ln w="12700">
            <a:solidFill>
              <a:srgbClr val="2D3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1911096"/>
            <a:ext cx="50292" cy="42062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" y="194767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TEXAS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74904" y="194767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$5.75M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74904" y="2167128"/>
            <a:ext cx="2578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2026  |  -11% vs combined target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74320" y="247802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2 — ACCOUNT PURSUIT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4320" y="2679192"/>
            <a:ext cx="1335024" cy="1261872"/>
          </a:xfrm>
          <a:prstGeom prst="rect">
            <a:avLst/>
          </a:prstGeom>
          <a:solidFill>
            <a:srgbClr val="1E2D6B"/>
          </a:solidFill>
          <a:ln w="12700">
            <a:solidFill>
              <a:srgbClr val="2D3F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679192"/>
            <a:ext cx="50292" cy="1261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" y="2734056"/>
            <a:ext cx="11704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LOGOS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74904" y="2880360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374904" y="3374136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est. 10 Q2 target  |  thru May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74904" y="3529584"/>
            <a:ext cx="1115568" cy="64008"/>
          </a:xfrm>
          <a:prstGeom prst="rect">
            <a:avLst/>
          </a:prstGeom>
          <a:solidFill>
            <a:srgbClr val="2A3875"/>
          </a:solidFill>
          <a:ln w="12700">
            <a:solidFill>
              <a:srgbClr val="2A387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4904" y="3529584"/>
            <a:ext cx="495808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" y="3621024"/>
            <a:ext cx="1170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70% of est. target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74904" y="3758184"/>
            <a:ext cx="1170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Texas goal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682496" y="2679192"/>
            <a:ext cx="1335024" cy="1261872"/>
          </a:xfrm>
          <a:prstGeom prst="rect">
            <a:avLst/>
          </a:prstGeom>
          <a:solidFill>
            <a:srgbClr val="1E2D6B"/>
          </a:solidFill>
          <a:ln w="12700">
            <a:solidFill>
              <a:srgbClr val="2D3F8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682496" y="2679192"/>
            <a:ext cx="50292" cy="1261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83080" y="2734056"/>
            <a:ext cx="11704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ANCHORS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783080" y="2880360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4400" dirty="0"/>
          </a:p>
        </p:txBody>
      </p:sp>
      <p:sp>
        <p:nvSpPr>
          <p:cNvPr id="36" name="Text 34"/>
          <p:cNvSpPr/>
          <p:nvPr/>
        </p:nvSpPr>
        <p:spPr>
          <a:xfrm>
            <a:off x="1783080" y="3374136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3 annual  |  67% on track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783080" y="3529584"/>
            <a:ext cx="1115568" cy="64008"/>
          </a:xfrm>
          <a:prstGeom prst="rect">
            <a:avLst/>
          </a:prstGeom>
          <a:solidFill>
            <a:srgbClr val="2A3875"/>
          </a:solidFill>
          <a:ln w="12700">
            <a:solidFill>
              <a:srgbClr val="2A387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783080" y="3529584"/>
            <a:ext cx="371856" cy="64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83080" y="3621024"/>
            <a:ext cx="1170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 annual (YTD)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783080" y="3758184"/>
            <a:ext cx="1170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target: 3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200400" y="6583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1 — PIPELINE COVERAGE  (ROCK 1)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200400" y="859536"/>
            <a:ext cx="1335024" cy="960120"/>
          </a:xfrm>
          <a:prstGeom prst="rect">
            <a:avLst/>
          </a:prstGeom>
          <a:solidFill>
            <a:srgbClr val="1E2D6B"/>
          </a:solidFill>
          <a:ln w="12700">
            <a:solidFill>
              <a:srgbClr val="2D3F8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0" y="859536"/>
            <a:ext cx="50292" cy="9601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00984" y="914400"/>
            <a:ext cx="11704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DALLAS 90D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300984" y="1060704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$12.0M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3300984" y="158191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608576" y="859536"/>
            <a:ext cx="1335024" cy="960120"/>
          </a:xfrm>
          <a:prstGeom prst="rect">
            <a:avLst/>
          </a:prstGeom>
          <a:solidFill>
            <a:srgbClr val="1E2D6B"/>
          </a:solidFill>
          <a:ln w="12700">
            <a:solidFill>
              <a:srgbClr val="2D3F8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08576" y="859536"/>
            <a:ext cx="50292" cy="9601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914400"/>
            <a:ext cx="11704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STX 90D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709160" y="1060704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$9.6M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4709160" y="158191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— 74% fcst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200400" y="1911096"/>
            <a:ext cx="2743200" cy="475488"/>
          </a:xfrm>
          <a:prstGeom prst="rect">
            <a:avLst/>
          </a:prstGeom>
          <a:solidFill>
            <a:srgbClr val="1E2D6B"/>
          </a:solidFill>
          <a:ln w="12700">
            <a:solidFill>
              <a:srgbClr val="2D3F8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00400" y="1911096"/>
            <a:ext cx="50292" cy="4754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00984" y="1947672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TEXAS 90-DAY WEIGHTED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300984" y="1947672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$21.6M</a:t>
            </a:r>
            <a:endParaRPr lang="en-US" sz="2600" dirty="0"/>
          </a:p>
        </p:txBody>
      </p:sp>
      <p:sp>
        <p:nvSpPr>
          <p:cNvPr id="56" name="Text 54"/>
          <p:cNvSpPr/>
          <p:nvPr/>
        </p:nvSpPr>
        <p:spPr>
          <a:xfrm>
            <a:off x="3300984" y="2231136"/>
            <a:ext cx="2578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 1 — Dallas on track, South Texas at risk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200400" y="253288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4 — PARTNER ENGAGEMENT  (ROCK 4)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200400" y="2734056"/>
            <a:ext cx="2743200" cy="1691640"/>
          </a:xfrm>
          <a:prstGeom prst="rect">
            <a:avLst/>
          </a:prstGeom>
          <a:solidFill>
            <a:srgbClr val="1E2D6B"/>
          </a:solidFill>
          <a:ln w="12700">
            <a:solidFill>
              <a:srgbClr val="2D3F8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200400" y="2734056"/>
            <a:ext cx="50292" cy="1691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029200" y="2798064"/>
            <a:ext cx="804672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29200" y="279806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3300984" y="2798064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CO-SELL TOTAL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3300984" y="2953512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$382K</a:t>
            </a:r>
            <a:endParaRPr lang="en-US" sz="3800" dirty="0"/>
          </a:p>
        </p:txBody>
      </p:sp>
      <p:sp>
        <p:nvSpPr>
          <p:cNvPr id="64" name="Text 62"/>
          <p:cNvSpPr/>
          <p:nvPr/>
        </p:nvSpPr>
        <p:spPr>
          <a:xfrm>
            <a:off x="3300984" y="3465576"/>
            <a:ext cx="2542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+ won  |  2.5% of $15M target  |  DATA INTEGRITY FLAG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3300984" y="3666744"/>
            <a:ext cx="2505456" cy="91440"/>
          </a:xfrm>
          <a:prstGeom prst="rect">
            <a:avLst/>
          </a:prstGeom>
          <a:solidFill>
            <a:srgbClr val="2A3875"/>
          </a:solidFill>
          <a:ln w="12700">
            <a:solidFill>
              <a:srgbClr val="2A387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300984" y="3666744"/>
            <a:ext cx="187909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300984" y="3794760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Microsoft $332K won  </a:t>
            </a:r>
            <a:pPr indent="0" marL="0">
              <a:buNone/>
            </a:pPr>
            <a:r>
              <a:rPr lang="en-US" sz="85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·  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Confluent $785K pipeline  </a:t>
            </a:r>
            <a:pPr indent="0" marL="0">
              <a:buNone/>
            </a:pPr>
            <a:r>
              <a:rPr lang="en-US" sz="85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·  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 verify w/ Sales Ops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3300984" y="4169664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$14.6M gap remaining  |  Q2 MISSED — Q3 stretch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126480" y="6583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GOAL SCORECARD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6126480" y="859536"/>
            <a:ext cx="2743200" cy="4169664"/>
          </a:xfrm>
          <a:prstGeom prst="rect">
            <a:avLst/>
          </a:prstGeom>
          <a:solidFill>
            <a:srgbClr val="1E2D6B"/>
          </a:solidFill>
          <a:ln w="12700">
            <a:solidFill>
              <a:srgbClr val="2D3F8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126480" y="859536"/>
            <a:ext cx="50292" cy="4169664"/>
          </a:xfrm>
          <a:prstGeom prst="rect">
            <a:avLst/>
          </a:prstGeom>
          <a:solidFill>
            <a:srgbClr val="1A2560"/>
          </a:solidFill>
          <a:ln w="12700">
            <a:solidFill>
              <a:srgbClr val="1A256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227064" y="996696"/>
            <a:ext cx="41148" cy="7132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327648" y="1033272"/>
            <a:ext cx="256032" cy="2011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327648" y="103327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6638544" y="1033272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6638544" y="1243584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large ($2M+) + 4 medium ($750K+) accts — One Texas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6638544" y="1399032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Texas -11% vs target  |  South Texas CRITICAL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6638544" y="1554480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Dallas +2% · South Texas -24% — gap widening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6227064" y="1746504"/>
            <a:ext cx="2542032" cy="0"/>
          </a:xfrm>
          <a:prstGeom prst="line">
            <a:avLst/>
          </a:prstGeom>
          <a:noFill/>
          <a:ln w="9525">
            <a:solidFill>
              <a:srgbClr val="2D3F8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227064" y="1801368"/>
            <a:ext cx="41148" cy="7132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327648" y="1837944"/>
            <a:ext cx="256032" cy="2011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327648" y="183794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6638544" y="1837944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Pursuit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6638544" y="2048256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new anchors + 3 stretch — One Texas annual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6638544" y="2203704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logos YTD / 2 anchors of 3 annual  (67% on anchors)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6638544" y="2359152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Anchors on pace — logo gap in South Texas is the watch item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6227064" y="2551176"/>
            <a:ext cx="2542032" cy="0"/>
          </a:xfrm>
          <a:prstGeom prst="line">
            <a:avLst/>
          </a:prstGeom>
          <a:noFill/>
          <a:ln w="9525">
            <a:solidFill>
              <a:srgbClr val="2D3F8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227064" y="2606040"/>
            <a:ext cx="41148" cy="713232"/>
          </a:xfrm>
          <a:prstGeom prst="rect">
            <a:avLst/>
          </a:prstGeom>
          <a:solidFill>
            <a:srgbClr val="5A6DB0"/>
          </a:solidFill>
          <a:ln w="12700">
            <a:solidFill>
              <a:srgbClr val="5A6DB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327648" y="2642616"/>
            <a:ext cx="256032" cy="201168"/>
          </a:xfrm>
          <a:prstGeom prst="rect">
            <a:avLst/>
          </a:prstGeom>
          <a:solidFill>
            <a:srgbClr val="5A6DB0"/>
          </a:solidFill>
          <a:ln w="12700">
            <a:solidFill>
              <a:srgbClr val="5A6DB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327648" y="264261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6638544" y="2642616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Improver Growth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6638544" y="2852928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EDP (H2 2026) + Exec Sales rollout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6638544" y="3008376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5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target — not yet applicable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6638544" y="3163824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manually in H2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6227064" y="3355848"/>
            <a:ext cx="2542032" cy="0"/>
          </a:xfrm>
          <a:prstGeom prst="line">
            <a:avLst/>
          </a:prstGeom>
          <a:noFill/>
          <a:ln w="9525">
            <a:solidFill>
              <a:srgbClr val="2D3F8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227064" y="3410712"/>
            <a:ext cx="41148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327648" y="3447288"/>
            <a:ext cx="256032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327648" y="344728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6638544" y="3447288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Engagement</a:t>
            </a:r>
            <a:endParaRPr lang="en-US" sz="1100" dirty="0"/>
          </a:p>
        </p:txBody>
      </p:sp>
      <p:sp>
        <p:nvSpPr>
          <p:cNvPr id="100" name="Text 98"/>
          <p:cNvSpPr/>
          <p:nvPr/>
        </p:nvSpPr>
        <p:spPr>
          <a:xfrm>
            <a:off x="6638544" y="3657600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$15M co-sell by Q2 end  |  10 C-Suite connections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6638544" y="3813048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$382K of $15M  |  2.5%  |  DATA FLAG — verify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6638544" y="3968496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MISSED — $14.6M gap  |  Q3 recovery required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6227064" y="4160520"/>
            <a:ext cx="2542032" cy="0"/>
          </a:xfrm>
          <a:prstGeom prst="line">
            <a:avLst/>
          </a:prstGeom>
          <a:noFill/>
          <a:ln w="9525">
            <a:solidFill>
              <a:srgbClr val="2D3F8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227064" y="4215384"/>
            <a:ext cx="41148" cy="713232"/>
          </a:xfrm>
          <a:prstGeom prst="rect">
            <a:avLst/>
          </a:prstGeom>
          <a:solidFill>
            <a:srgbClr val="5A6DB0"/>
          </a:solidFill>
          <a:ln w="12700">
            <a:solidFill>
              <a:srgbClr val="5A6DB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327648" y="4251960"/>
            <a:ext cx="256032" cy="201168"/>
          </a:xfrm>
          <a:prstGeom prst="rect">
            <a:avLst/>
          </a:prstGeom>
          <a:solidFill>
            <a:srgbClr val="5A6DB0"/>
          </a:solidFill>
          <a:ln w="12700">
            <a:solidFill>
              <a:srgbClr val="5A6DB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327648" y="425196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6638544" y="4251960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 Leadership</a:t>
            </a:r>
            <a:endParaRPr lang="en-US" sz="1100" dirty="0"/>
          </a:p>
        </p:txBody>
      </p:sp>
      <p:sp>
        <p:nvSpPr>
          <p:cNvPr id="108" name="Text 106"/>
          <p:cNvSpPr/>
          <p:nvPr/>
        </p:nvSpPr>
        <p:spPr>
          <a:xfrm>
            <a:off x="6638544" y="4462272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speaking engagements — One Texas, full year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6638544" y="4617720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5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tracking required</a:t>
            </a:r>
            <a:endParaRPr lang="en-US" sz="850" dirty="0"/>
          </a:p>
        </p:txBody>
      </p:sp>
      <p:sp>
        <p:nvSpPr>
          <p:cNvPr id="110" name="Text 108"/>
          <p:cNvSpPr/>
          <p:nvPr/>
        </p:nvSpPr>
        <p:spPr>
          <a:xfrm>
            <a:off x="6638544" y="4773168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automated scorecard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0" y="4951476"/>
            <a:ext cx="9144000" cy="192024"/>
          </a:xfrm>
          <a:prstGeom prst="rect">
            <a:avLst/>
          </a:prstGeom>
          <a:solidFill>
            <a:srgbClr val="1A2560"/>
          </a:solidFill>
          <a:ln w="12700">
            <a:solidFill>
              <a:srgbClr val="1A256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20040" y="4951476"/>
            <a:ext cx="8503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Improving Enterprise Scorecard v4 + Sales Analytics PowerBI  |  Goals: Texas Goals 2026 (Dec 29, 2025)  |  Snapshot: Jun 22, 2026  |  Jarvis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2026-04-20T21:29:02Z</dcterms:created>
  <dcterms:modified xsi:type="dcterms:W3CDTF">2026-04-20T21:29:02Z</dcterms:modified>
</cp:coreProperties>
</file>