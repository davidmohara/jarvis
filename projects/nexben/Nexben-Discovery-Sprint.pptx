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534"/>
    <p:restoredTop sz="94610"/>
  </p:normalViewPr>
  <p:slideViewPr>
    <p:cSldViewPr snapToGrid="0" snapToObjects="1">
      <p:cViewPr varScale="1">
        <p:scale>
          <a:sx n="145" d="100"/>
          <a:sy n="145" d="100"/>
        </p:scale>
        <p:origin x="776" y="4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vid O'Hara" userId="8f90669b-8651-42ab-8d95-20602fbdf8e8" providerId="ADAL" clId="{A236AE32-B983-55C9-B7CE-2378BA1C83AB}"/>
    <pc:docChg chg="modSld">
      <pc:chgData name="David O'Hara" userId="8f90669b-8651-42ab-8d95-20602fbdf8e8" providerId="ADAL" clId="{A236AE32-B983-55C9-B7CE-2378BA1C83AB}" dt="2026-03-25T23:48:55.705" v="2" actId="20577"/>
      <pc:docMkLst>
        <pc:docMk/>
      </pc:docMkLst>
      <pc:sldChg chg="modSp mod">
        <pc:chgData name="David O'Hara" userId="8f90669b-8651-42ab-8d95-20602fbdf8e8" providerId="ADAL" clId="{A236AE32-B983-55C9-B7CE-2378BA1C83AB}" dt="2026-03-25T23:48:55.705" v="2" actId="20577"/>
        <pc:sldMkLst>
          <pc:docMk/>
          <pc:sldMk cId="0" sldId="256"/>
        </pc:sldMkLst>
        <pc:spChg chg="mod">
          <ac:chgData name="David O'Hara" userId="8f90669b-8651-42ab-8d95-20602fbdf8e8" providerId="ADAL" clId="{A236AE32-B983-55C9-B7CE-2378BA1C83AB}" dt="2026-03-25T23:48:55.705" v="2" actId="20577"/>
          <ac:spMkLst>
            <pc:docMk/>
            <pc:sldMk cId="0" sldId="256"/>
            <ac:spMk id="47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44122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bold-keen-hopper/mnt/.claude/skills/improving-pdf/images/new-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10058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3716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1-Week Discovery Sprint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45720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Nexben  |  Pricing Analysis Tool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274320" y="1234440"/>
            <a:ext cx="1572768" cy="2377440"/>
          </a:xfrm>
          <a:prstGeom prst="roundRect">
            <a:avLst>
              <a:gd name="adj" fmla="val 4651"/>
            </a:avLst>
          </a:prstGeom>
          <a:solidFill>
            <a:srgbClr val="F5F7FA"/>
          </a:solidFill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809244" y="1417320"/>
            <a:ext cx="502920" cy="502920"/>
          </a:xfrm>
          <a:prstGeom prst="ellipse">
            <a:avLst/>
          </a:prstGeom>
          <a:solidFill>
            <a:srgbClr val="2D5F8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544" y="1531620"/>
            <a:ext cx="274320" cy="2743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74320" y="2011680"/>
            <a:ext cx="1572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347472" y="2240280"/>
            <a:ext cx="1426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Kickoff &amp;</a:t>
            </a:r>
            <a:endParaRPr lang="en-US" sz="11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Alignment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347472" y="2743200"/>
            <a:ext cx="14264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scope, goals,</a:t>
            </a:r>
            <a:endParaRPr lang="en-US" sz="8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success criteria</a:t>
            </a:r>
            <a:endParaRPr lang="en-US" sz="850" dirty="0"/>
          </a:p>
        </p:txBody>
      </p:sp>
      <p:sp>
        <p:nvSpPr>
          <p:cNvPr id="11" name="Shape 7"/>
          <p:cNvSpPr/>
          <p:nvPr/>
        </p:nvSpPr>
        <p:spPr>
          <a:xfrm>
            <a:off x="1865376" y="2423160"/>
            <a:ext cx="146304" cy="0"/>
          </a:xfrm>
          <a:prstGeom prst="line">
            <a:avLst/>
          </a:prstGeom>
          <a:noFill/>
          <a:ln w="19050">
            <a:solidFill>
              <a:srgbClr val="2D5F8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8"/>
          <p:cNvSpPr/>
          <p:nvPr/>
        </p:nvSpPr>
        <p:spPr>
          <a:xfrm>
            <a:off x="2029968" y="1234440"/>
            <a:ext cx="1572768" cy="2377440"/>
          </a:xfrm>
          <a:prstGeom prst="roundRect">
            <a:avLst>
              <a:gd name="adj" fmla="val 4651"/>
            </a:avLst>
          </a:prstGeom>
          <a:solidFill>
            <a:srgbClr val="F5F7FA"/>
          </a:solidFill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9"/>
          <p:cNvSpPr/>
          <p:nvPr/>
        </p:nvSpPr>
        <p:spPr>
          <a:xfrm>
            <a:off x="2564892" y="1417320"/>
            <a:ext cx="502920" cy="502920"/>
          </a:xfrm>
          <a:prstGeom prst="ellipse">
            <a:avLst/>
          </a:prstGeom>
          <a:solidFill>
            <a:srgbClr val="2D5F8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79192" y="1531620"/>
            <a:ext cx="274320" cy="2743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029968" y="2011680"/>
            <a:ext cx="1572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1-2</a:t>
            </a:r>
            <a:endParaRPr lang="en-US" sz="900" dirty="0"/>
          </a:p>
        </p:txBody>
      </p:sp>
      <p:sp>
        <p:nvSpPr>
          <p:cNvPr id="16" name="Text 11"/>
          <p:cNvSpPr/>
          <p:nvPr/>
        </p:nvSpPr>
        <p:spPr>
          <a:xfrm>
            <a:off x="2103120" y="2240280"/>
            <a:ext cx="1426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</a:t>
            </a:r>
            <a:endParaRPr lang="en-US" sz="11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</a:t>
            </a:r>
            <a:endParaRPr lang="en-US" sz="1100" dirty="0"/>
          </a:p>
        </p:txBody>
      </p:sp>
      <p:sp>
        <p:nvSpPr>
          <p:cNvPr id="17" name="Text 12"/>
          <p:cNvSpPr/>
          <p:nvPr/>
        </p:nvSpPr>
        <p:spPr>
          <a:xfrm>
            <a:off x="2103120" y="2743200"/>
            <a:ext cx="14264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2-3 focused working</a:t>
            </a:r>
            <a:endParaRPr lang="en-US" sz="8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(1-2 hrs each)</a:t>
            </a:r>
            <a:endParaRPr lang="en-US" sz="850" dirty="0"/>
          </a:p>
        </p:txBody>
      </p:sp>
      <p:sp>
        <p:nvSpPr>
          <p:cNvPr id="18" name="Shape 13"/>
          <p:cNvSpPr/>
          <p:nvPr/>
        </p:nvSpPr>
        <p:spPr>
          <a:xfrm>
            <a:off x="3621024" y="2423160"/>
            <a:ext cx="146304" cy="0"/>
          </a:xfrm>
          <a:prstGeom prst="line">
            <a:avLst/>
          </a:prstGeom>
          <a:noFill/>
          <a:ln w="19050">
            <a:solidFill>
              <a:srgbClr val="2D5F8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4"/>
          <p:cNvSpPr/>
          <p:nvPr/>
        </p:nvSpPr>
        <p:spPr>
          <a:xfrm>
            <a:off x="3785616" y="1234440"/>
            <a:ext cx="1572768" cy="2377440"/>
          </a:xfrm>
          <a:prstGeom prst="roundRect">
            <a:avLst>
              <a:gd name="adj" fmla="val 4651"/>
            </a:avLst>
          </a:prstGeom>
          <a:solidFill>
            <a:srgbClr val="F5F7FA"/>
          </a:solidFill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4320540" y="1417320"/>
            <a:ext cx="502920" cy="502920"/>
          </a:xfrm>
          <a:prstGeom prst="ellipse">
            <a:avLst/>
          </a:prstGeom>
          <a:solidFill>
            <a:srgbClr val="2D5F8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34840" y="1531620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3785616" y="2011680"/>
            <a:ext cx="1572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2-3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3858768" y="2240280"/>
            <a:ext cx="1426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11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3858768" y="2743200"/>
            <a:ext cx="14264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Inputs, outputs, data</a:t>
            </a:r>
            <a:endParaRPr lang="en-US" sz="8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mapping</a:t>
            </a:r>
            <a:endParaRPr lang="en-US" sz="850" dirty="0"/>
          </a:p>
        </p:txBody>
      </p:sp>
      <p:sp>
        <p:nvSpPr>
          <p:cNvPr id="25" name="Shape 19"/>
          <p:cNvSpPr/>
          <p:nvPr/>
        </p:nvSpPr>
        <p:spPr>
          <a:xfrm>
            <a:off x="5376672" y="2423160"/>
            <a:ext cx="146304" cy="0"/>
          </a:xfrm>
          <a:prstGeom prst="line">
            <a:avLst/>
          </a:prstGeom>
          <a:noFill/>
          <a:ln w="19050">
            <a:solidFill>
              <a:srgbClr val="2D5F8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0"/>
          <p:cNvSpPr/>
          <p:nvPr/>
        </p:nvSpPr>
        <p:spPr>
          <a:xfrm>
            <a:off x="5541264" y="1234440"/>
            <a:ext cx="1572768" cy="2377440"/>
          </a:xfrm>
          <a:prstGeom prst="roundRect">
            <a:avLst>
              <a:gd name="adj" fmla="val 4651"/>
            </a:avLst>
          </a:prstGeom>
          <a:solidFill>
            <a:srgbClr val="F5F7FA"/>
          </a:solidFill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1"/>
          <p:cNvSpPr/>
          <p:nvPr/>
        </p:nvSpPr>
        <p:spPr>
          <a:xfrm>
            <a:off x="6076188" y="1417320"/>
            <a:ext cx="502920" cy="502920"/>
          </a:xfrm>
          <a:prstGeom prst="ellipse">
            <a:avLst/>
          </a:prstGeom>
          <a:solidFill>
            <a:srgbClr val="2D5F8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90488" y="1531620"/>
            <a:ext cx="274320" cy="27432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5541264" y="2011680"/>
            <a:ext cx="1572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3-4</a:t>
            </a:r>
            <a:endParaRPr lang="en-US" sz="900" dirty="0"/>
          </a:p>
        </p:txBody>
      </p:sp>
      <p:sp>
        <p:nvSpPr>
          <p:cNvPr id="30" name="Text 23"/>
          <p:cNvSpPr/>
          <p:nvPr/>
        </p:nvSpPr>
        <p:spPr>
          <a:xfrm>
            <a:off x="5614416" y="2240280"/>
            <a:ext cx="1426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100" dirty="0"/>
          </a:p>
        </p:txBody>
      </p:sp>
      <p:sp>
        <p:nvSpPr>
          <p:cNvPr id="31" name="Text 24"/>
          <p:cNvSpPr/>
          <p:nvPr/>
        </p:nvSpPr>
        <p:spPr>
          <a:xfrm>
            <a:off x="5614416" y="2743200"/>
            <a:ext cx="14264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Stack, hosting, API</a:t>
            </a:r>
            <a:endParaRPr lang="en-US" sz="8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integration, data flow</a:t>
            </a:r>
            <a:endParaRPr lang="en-US" sz="850" dirty="0"/>
          </a:p>
        </p:txBody>
      </p:sp>
      <p:sp>
        <p:nvSpPr>
          <p:cNvPr id="32" name="Shape 25"/>
          <p:cNvSpPr/>
          <p:nvPr/>
        </p:nvSpPr>
        <p:spPr>
          <a:xfrm>
            <a:off x="7132320" y="2423160"/>
            <a:ext cx="146304" cy="0"/>
          </a:xfrm>
          <a:prstGeom prst="line">
            <a:avLst/>
          </a:prstGeom>
          <a:noFill/>
          <a:ln w="19050">
            <a:solidFill>
              <a:srgbClr val="2D5F8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26"/>
          <p:cNvSpPr/>
          <p:nvPr/>
        </p:nvSpPr>
        <p:spPr>
          <a:xfrm>
            <a:off x="7296912" y="1234440"/>
            <a:ext cx="1572768" cy="2377440"/>
          </a:xfrm>
          <a:prstGeom prst="roundRect">
            <a:avLst>
              <a:gd name="adj" fmla="val 4651"/>
            </a:avLst>
          </a:prstGeom>
          <a:solidFill>
            <a:srgbClr val="F5F7FA"/>
          </a:solidFill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27"/>
          <p:cNvSpPr/>
          <p:nvPr/>
        </p:nvSpPr>
        <p:spPr>
          <a:xfrm>
            <a:off x="7831836" y="1417320"/>
            <a:ext cx="502920" cy="502920"/>
          </a:xfrm>
          <a:prstGeom prst="ellipse">
            <a:avLst/>
          </a:prstGeom>
          <a:solidFill>
            <a:srgbClr val="2D5F8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46136" y="1531620"/>
            <a:ext cx="274320" cy="274320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7296912" y="2011680"/>
            <a:ext cx="1572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</a:t>
            </a:r>
            <a:endParaRPr lang="en-US" sz="900" dirty="0"/>
          </a:p>
        </p:txBody>
      </p:sp>
      <p:sp>
        <p:nvSpPr>
          <p:cNvPr id="37" name="Text 29"/>
          <p:cNvSpPr/>
          <p:nvPr/>
        </p:nvSpPr>
        <p:spPr>
          <a:xfrm>
            <a:off x="7370064" y="2240280"/>
            <a:ext cx="1426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</a:t>
            </a:r>
            <a:endParaRPr lang="en-US" sz="11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</a:t>
            </a:r>
            <a:endParaRPr lang="en-US" sz="1100" dirty="0"/>
          </a:p>
        </p:txBody>
      </p:sp>
      <p:sp>
        <p:nvSpPr>
          <p:cNvPr id="38" name="Text 30"/>
          <p:cNvSpPr/>
          <p:nvPr/>
        </p:nvSpPr>
        <p:spPr>
          <a:xfrm>
            <a:off x="7370064" y="2743200"/>
            <a:ext cx="14264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Scoping doc, architecture</a:t>
            </a:r>
            <a:endParaRPr lang="en-US" sz="8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recs, T&amp;M estimate</a:t>
            </a:r>
            <a:endParaRPr lang="en-US" sz="850" dirty="0"/>
          </a:p>
        </p:txBody>
      </p:sp>
      <p:sp>
        <p:nvSpPr>
          <p:cNvPr id="39" name="Shape 31"/>
          <p:cNvSpPr/>
          <p:nvPr/>
        </p:nvSpPr>
        <p:spPr>
          <a:xfrm>
            <a:off x="457200" y="3794760"/>
            <a:ext cx="8229600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2"/>
          <p:cNvSpPr/>
          <p:nvPr/>
        </p:nvSpPr>
        <p:spPr>
          <a:xfrm>
            <a:off x="457200" y="3886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Receive</a:t>
            </a:r>
            <a:endParaRPr lang="en-US" sz="1200" dirty="0"/>
          </a:p>
        </p:txBody>
      </p:sp>
      <p:sp>
        <p:nvSpPr>
          <p:cNvPr id="41" name="Text 33"/>
          <p:cNvSpPr/>
          <p:nvPr/>
        </p:nvSpPr>
        <p:spPr>
          <a:xfrm>
            <a:off x="457200" y="4160520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D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Scoping Document</a:t>
            </a:r>
            <a:endParaRPr lang="en-US" sz="950" dirty="0"/>
          </a:p>
        </p:txBody>
      </p:sp>
      <p:sp>
        <p:nvSpPr>
          <p:cNvPr id="42" name="Text 34"/>
          <p:cNvSpPr/>
          <p:nvPr/>
        </p:nvSpPr>
        <p:spPr>
          <a:xfrm>
            <a:off x="457200" y="434340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Inputs, outputs, data integration</a:t>
            </a:r>
            <a:endParaRPr lang="en-US" sz="8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requirements, full functional spec</a:t>
            </a:r>
            <a:endParaRPr lang="en-US" sz="800" dirty="0"/>
          </a:p>
        </p:txBody>
      </p:sp>
      <p:sp>
        <p:nvSpPr>
          <p:cNvPr id="43" name="Text 35"/>
          <p:cNvSpPr/>
          <p:nvPr/>
        </p:nvSpPr>
        <p:spPr>
          <a:xfrm>
            <a:off x="3246120" y="4160520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D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Recommendations</a:t>
            </a:r>
            <a:endParaRPr lang="en-US" sz="950" dirty="0"/>
          </a:p>
        </p:txBody>
      </p:sp>
      <p:sp>
        <p:nvSpPr>
          <p:cNvPr id="44" name="Text 36"/>
          <p:cNvSpPr/>
          <p:nvPr/>
        </p:nvSpPr>
        <p:spPr>
          <a:xfrm>
            <a:off x="3246120" y="434340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Stack, hosting model, integration</a:t>
            </a:r>
            <a:endParaRPr lang="en-US" sz="8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approach, and data flow design</a:t>
            </a:r>
            <a:endParaRPr lang="en-US" sz="800" dirty="0"/>
          </a:p>
        </p:txBody>
      </p:sp>
      <p:sp>
        <p:nvSpPr>
          <p:cNvPr id="45" name="Text 37"/>
          <p:cNvSpPr/>
          <p:nvPr/>
        </p:nvSpPr>
        <p:spPr>
          <a:xfrm>
            <a:off x="6035040" y="4160520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D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T&amp;M Estimate</a:t>
            </a:r>
            <a:endParaRPr lang="en-US" sz="950" dirty="0"/>
          </a:p>
        </p:txBody>
      </p:sp>
      <p:sp>
        <p:nvSpPr>
          <p:cNvPr id="46" name="Text 38"/>
          <p:cNvSpPr/>
          <p:nvPr/>
        </p:nvSpPr>
        <p:spPr>
          <a:xfrm>
            <a:off x="6035040" y="434340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and materials estimate</a:t>
            </a:r>
            <a:endParaRPr lang="en-US" sz="8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full build phase</a:t>
            </a:r>
            <a:endParaRPr lang="en-US" sz="800" dirty="0"/>
          </a:p>
        </p:txBody>
      </p:sp>
      <p:sp>
        <p:nvSpPr>
          <p:cNvPr id="47" name="Text 39"/>
          <p:cNvSpPr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 are yours to keep; regardless of whether you proceed with Improving.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130</Words>
  <Application>Microsoft Macintosh PowerPoint</Application>
  <PresentationFormat>On-screen Show (16:9)</PresentationFormat>
  <Paragraphs>39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Nexben Discovery Sprint</dc:title>
  <dc:subject>PptxGenJS Presentation</dc:subject>
  <dc:creator>David O'Hara</dc:creator>
  <cp:lastModifiedBy>David O'Hara</cp:lastModifiedBy>
  <cp:revision>1</cp:revision>
  <dcterms:created xsi:type="dcterms:W3CDTF">2026-03-25T23:46:58Z</dcterms:created>
  <dcterms:modified xsi:type="dcterms:W3CDTF">2026-03-25T23:49:05Z</dcterms:modified>
</cp:coreProperties>
</file>