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4"/>
  </p:sldMasterIdLst>
  <p:notesMasterIdLst>
    <p:notesMasterId r:id="rId10"/>
  </p:notesMasterIdLst>
  <p:handoutMasterIdLst>
    <p:handoutMasterId r:id="rId11"/>
  </p:handoutMasterIdLst>
  <p:sldIdLst>
    <p:sldId id="270" r:id="rId5"/>
    <p:sldId id="271" r:id="rId6"/>
    <p:sldId id="272" r:id="rId7"/>
    <p:sldId id="273" r:id="rId8"/>
    <p:sldId id="274" r:id="rId9"/>
  </p:sldIdLst>
  <p:sldSz cx="12192000" cy="6858000"/>
  <p:notesSz cx="6858000" cy="9144000"/>
  <p:embeddedFontLst>
    <p:embeddedFont>
      <p:font typeface="Khula" panose="02000000000000000000" pitchFamily="2" charset="0"/>
      <p:regular r:id="rId12"/>
      <p:bold r:id="rId13"/>
    </p:embeddedFont>
    <p:embeddedFont>
      <p:font typeface="Khula SemiBold" panose="02000000000000000000" pitchFamily="2" charset="0"/>
      <p:regular r:id="rId14"/>
      <p:bold r:id="rId15"/>
    </p:embeddedFont>
    <p:embeddedFont>
      <p:font typeface="Poppins" pitchFamily="2" charset="77"/>
      <p:regular r:id="rId16"/>
      <p:bold r:id="rId17"/>
      <p:italic r:id="rId18"/>
      <p:boldItalic r:id="rId19"/>
    </p:embeddedFont>
    <p:embeddedFont>
      <p:font typeface="Poppins Medium" panose="00000600000000000000" pitchFamily="2" charset="77"/>
      <p:regular r:id="rId20"/>
      <p:italic r:id="rId21"/>
    </p:embeddedFont>
  </p:embeddedFontLst>
  <p:defaultTextStyle>
    <a:defPPr>
      <a:defRPr lang="en-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E5690"/>
    <a:srgbClr val="4597D3"/>
    <a:srgbClr val="8D338A"/>
    <a:srgbClr val="E2833C"/>
    <a:srgbClr val="5A97CC"/>
    <a:srgbClr val="EBBB58"/>
    <a:srgbClr val="6FB59F"/>
    <a:srgbClr val="5996A3"/>
    <a:srgbClr val="000000"/>
    <a:srgbClr val="78126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056"/>
    <p:restoredTop sz="79178"/>
  </p:normalViewPr>
  <p:slideViewPr>
    <p:cSldViewPr snapToGrid="0">
      <p:cViewPr varScale="1">
        <p:scale>
          <a:sx n="95" d="100"/>
          <a:sy n="95" d="100"/>
        </p:scale>
        <p:origin x="1152" y="176"/>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Relationships xmlns="http://schemas.openxmlformats.org/package/2006/relationships"><Relationship Id="rId8" Type="http://schemas.openxmlformats.org/officeDocument/2006/relationships/slide" Target="slides/slide4.xml"/><Relationship Id="rId13" Type="http://schemas.openxmlformats.org/officeDocument/2006/relationships/font" Target="fonts/font2.fntdata"/><Relationship Id="rId18" Type="http://schemas.openxmlformats.org/officeDocument/2006/relationships/font" Target="fonts/font7.fntdata"/><Relationship Id="rId26" Type="http://schemas.microsoft.com/office/2016/11/relationships/changesInfo" Target="changesInfos/changesInfo1.xml"/><Relationship Id="rId3" Type="http://schemas.openxmlformats.org/officeDocument/2006/relationships/customXml" Target="../customXml/item3.xml"/><Relationship Id="rId21" Type="http://schemas.openxmlformats.org/officeDocument/2006/relationships/font" Target="fonts/font10.fntdata"/><Relationship Id="rId7" Type="http://schemas.openxmlformats.org/officeDocument/2006/relationships/slide" Target="slides/slide3.xml"/><Relationship Id="rId12" Type="http://schemas.openxmlformats.org/officeDocument/2006/relationships/font" Target="fonts/font1.fntdata"/><Relationship Id="rId17" Type="http://schemas.openxmlformats.org/officeDocument/2006/relationships/font" Target="fonts/font6.fntdata"/><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font" Target="fonts/font5.fntdata"/><Relationship Id="rId20" Type="http://schemas.openxmlformats.org/officeDocument/2006/relationships/font" Target="fonts/font9.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handoutMaster" Target="handoutMasters/handoutMaster1.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font" Target="fonts/font4.fntdata"/><Relationship Id="rId23" Type="http://schemas.openxmlformats.org/officeDocument/2006/relationships/viewProps" Target="viewProps.xml"/><Relationship Id="rId10" Type="http://schemas.openxmlformats.org/officeDocument/2006/relationships/notesMaster" Target="notesMasters/notesMaster1.xml"/><Relationship Id="rId19" Type="http://schemas.openxmlformats.org/officeDocument/2006/relationships/font" Target="fonts/font8.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font" Target="fonts/font3.fntdata"/><Relationship Id="rId2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vid O'Hara" userId="8f90669b-8651-42ab-8d95-20602fbdf8e8" providerId="ADAL" clId="{A236AE32-B983-55C9-B7CE-2378BA1C83AB}"/>
    <pc:docChg chg="custSel modSld">
      <pc:chgData name="David O'Hara" userId="8f90669b-8651-42ab-8d95-20602fbdf8e8" providerId="ADAL" clId="{A236AE32-B983-55C9-B7CE-2378BA1C83AB}" dt="2026-05-13T16:36:51.630" v="2" actId="478"/>
      <pc:docMkLst>
        <pc:docMk/>
      </pc:docMkLst>
      <pc:sldChg chg="delSp mod">
        <pc:chgData name="David O'Hara" userId="8f90669b-8651-42ab-8d95-20602fbdf8e8" providerId="ADAL" clId="{A236AE32-B983-55C9-B7CE-2378BA1C83AB}" dt="2026-05-13T16:36:45.849" v="0" actId="478"/>
        <pc:sldMkLst>
          <pc:docMk/>
          <pc:sldMk cId="0" sldId="270"/>
        </pc:sldMkLst>
        <pc:spChg chg="del">
          <ac:chgData name="David O'Hara" userId="8f90669b-8651-42ab-8d95-20602fbdf8e8" providerId="ADAL" clId="{A236AE32-B983-55C9-B7CE-2378BA1C83AB}" dt="2026-05-13T16:36:45.849" v="0" actId="478"/>
          <ac:spMkLst>
            <pc:docMk/>
            <pc:sldMk cId="0" sldId="270"/>
            <ac:spMk id="20" creationId="{00000000-0000-0000-0000-000000000000}"/>
          </ac:spMkLst>
        </pc:spChg>
      </pc:sldChg>
      <pc:sldChg chg="delSp modSp mod">
        <pc:chgData name="David O'Hara" userId="8f90669b-8651-42ab-8d95-20602fbdf8e8" providerId="ADAL" clId="{A236AE32-B983-55C9-B7CE-2378BA1C83AB}" dt="2026-05-13T16:36:51.630" v="2" actId="478"/>
        <pc:sldMkLst>
          <pc:docMk/>
          <pc:sldMk cId="0" sldId="271"/>
        </pc:sldMkLst>
        <pc:spChg chg="del mod">
          <ac:chgData name="David O'Hara" userId="8f90669b-8651-42ab-8d95-20602fbdf8e8" providerId="ADAL" clId="{A236AE32-B983-55C9-B7CE-2378BA1C83AB}" dt="2026-05-13T16:36:51.630" v="2" actId="478"/>
          <ac:spMkLst>
            <pc:docMk/>
            <pc:sldMk cId="0" sldId="271"/>
            <ac:spMk id="20" creationId="{00000000-0000-0000-0000-000000000000}"/>
          </ac:spMkLst>
        </pc:spChg>
      </pc:sldChg>
    </pc:docChg>
  </pc:docChgLst>
</pc:chgInfo>
</file>

<file path=ppt/handoutMasters/_rels/handoutMaster1.xml.rels><?xml version="1.0" encoding="UTF-8"?><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28282CA-E236-4614-036E-C5C0C936C65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4E8B065F-4AF1-21F2-CF82-78658D8AD9E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A586793-C8A1-F947-908B-E0EDCF860903}" type="datetimeFigureOut">
              <a:rPr lang="en-US" smtClean="0"/>
              <a:t>5/13/26</a:t>
            </a:fld>
            <a:endParaRPr lang="en-US"/>
          </a:p>
        </p:txBody>
      </p:sp>
      <p:sp>
        <p:nvSpPr>
          <p:cNvPr id="4" name="Footer Placeholder 3">
            <a:extLst>
              <a:ext uri="{FF2B5EF4-FFF2-40B4-BE49-F238E27FC236}">
                <a16:creationId xmlns:a16="http://schemas.microsoft.com/office/drawing/2014/main" id="{178BE100-080F-43CA-3598-3B1AF4069CD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4843D58-784A-ABD4-14C2-E6339A9C0D6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B9651B8-9A00-AB4E-BE59-6952469B4ED5}" type="slidenum">
              <a:rPr lang="en-US" smtClean="0"/>
              <a:t>‹#›</a:t>
            </a:fld>
            <a:endParaRPr lang="en-US"/>
          </a:p>
        </p:txBody>
      </p:sp>
    </p:spTree>
    <p:extLst>
      <p:ext uri="{BB962C8B-B14F-4D97-AF65-F5344CB8AC3E}">
        <p14:creationId xmlns:p14="http://schemas.microsoft.com/office/powerpoint/2010/main" val="788892421"/>
      </p:ext>
    </p:extLst>
  </p:cSld>
  <p:clrMap bg1="lt1" tx1="dk1" bg2="lt2" tx2="dk2" accent1="accent1" accent2="accent2" accent3="accent3" accent4="accent4" accent5="accent5" accent6="accent6" hlink="hlink" folHlink="folHlink"/>
</p:handoutMaster>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MX"/>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1A18E33-7982-7242-B011-19D9B39AC4BA}" type="datetimeFigureOut">
              <a:rPr lang="en-MX" smtClean="0"/>
              <a:t>5/13/26</a:t>
            </a:fld>
            <a:endParaRPr lang="en-MX"/>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MX"/>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X"/>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MX"/>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BDEB2A5-DDCF-604F-A595-5664085F7F7D}" type="slidenum">
              <a:rPr lang="en-MX" smtClean="0"/>
              <a:t>‹#›</a:t>
            </a:fld>
            <a:endParaRPr lang="en-MX"/>
          </a:p>
        </p:txBody>
      </p:sp>
    </p:spTree>
    <p:extLst>
      <p:ext uri="{BB962C8B-B14F-4D97-AF65-F5344CB8AC3E}">
        <p14:creationId xmlns:p14="http://schemas.microsoft.com/office/powerpoint/2010/main" val="37876451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I’m David O’Hara, Regional Director at Improving. We’re a technology consulting firm that was founded in 2007 on a simple belief: that how you do business matters as much as what you build. We now have over 2,400 Improvers across 20+ offices and crossed $300M in revenue — but we’re still operating like a community-first company because that’s exactly what we are. Dallas isn’t just a market for us; it’s where we’ve chosen to put down roots and build something that lasts.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Texas is the second-largest economy in the country, and it’s growing nearly twice as fast as the U.S. average. That context matters — because when we talk about what Improving is building here, we’re building into a tailwind, not against headwinds. Our One Texas initiative isn’t just a sales strategy; it’s a deliberate bet that if we unify our Dallas, Austin, and Houston markets, we can reach $100M in Texas revenue by 2030. That’s not wishful thinking — it’s a plan, and it’s already in motion.</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Conscious Capitalism isn’t a PR strategy for us — it’s the actual operating model. It means we run a stakeholder-balanced business where the interests of our clients, our people, our communities, and our investors don’t have to compete. Higher Purpose gives our people a reason to come to work beyond a paycheck. Conscious Leadership means I hold myself to the same standard I hold my team. And when we say we measure success by more than margin, we mean it — rooms like this, conversations like this, are part of what success looks like to us.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Q1 2026 was a strong quarter for Dallas — $3.1M, 3% growth, 101% of target. More importantly, we have $21.6M in weighted pipeline behind it. These aren’t just internal numbers — they represent jobs, projects, and partnerships right here in the DFW economy. Our engagement with the DRC isn’t transactional; it’s directional. The Tomorrow Fund pillars — economic development and talent — are the exact pillars Improving sits on. We show up here because this is the right table to be at, not because we need the exposure.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I’ll close with this: the Tomorrow Fund’s work on economic prosperity and talent development is exactly the work Improving is built to support. Not as a vendor — as a partner. If you’re working on workforce challenges, technology strategy, or want to connect your organization to what Improving is doing in Dallas, I’d love to continue the conversation. Find me after, connect on LinkedIn, or visit improving.com. Thank you to the DRC and the Tomorrow Fund for the platform — and for keeping rooms like this one at the center of how Dallas builds its future.</a:t>
            </a:r>
          </a:p>
        </p:txBody>
      </p:sp>
    </p:spTree>
  </p:cSld>
  <p:clrMapOvr>
    <a:masterClrMapping/>
  </p:clrMapOvr>
</p:notes>
</file>

<file path=ppt/slideLayouts/_rels/slideLayout1.xml.rels><?xml version="1.0" encoding="UTF-8"?><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Principal Title Slide">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6C00CA04-690D-0AD1-8D1C-4C56E0AB863E}"/>
              </a:ext>
            </a:extLst>
          </p:cNvPr>
          <p:cNvSpPr>
            <a:spLocks noGrp="1"/>
          </p:cNvSpPr>
          <p:nvPr>
            <p:ph type="title"/>
          </p:nvPr>
        </p:nvSpPr>
        <p:spPr>
          <a:xfrm>
            <a:off x="420756" y="804557"/>
            <a:ext cx="10515600" cy="560564"/>
          </a:xfrm>
          <a:prstGeom prst="rect">
            <a:avLst/>
          </a:prstGeom>
        </p:spPr>
        <p:txBody>
          <a:bodyPr vert="horz" lIns="91440" tIns="45720" rIns="91440" bIns="45720" rtlCol="0" anchor="ctr">
            <a:normAutofit/>
          </a:bodyPr>
          <a:lstStyle>
            <a:lvl1pPr>
              <a:defRPr sz="2900"/>
            </a:lvl1pPr>
          </a:lstStyle>
          <a:p>
            <a:r>
              <a:rPr lang="en-US"/>
              <a:t>Click to edit Master title style</a:t>
            </a:r>
            <a:endParaRPr lang="en-MX"/>
          </a:p>
        </p:txBody>
      </p:sp>
      <p:sp>
        <p:nvSpPr>
          <p:cNvPr id="7" name="Text Placeholder 8">
            <a:extLst>
              <a:ext uri="{FF2B5EF4-FFF2-40B4-BE49-F238E27FC236}">
                <a16:creationId xmlns:a16="http://schemas.microsoft.com/office/drawing/2014/main" id="{48D60278-F35A-892D-8A4D-EFFC764D68E0}"/>
              </a:ext>
            </a:extLst>
          </p:cNvPr>
          <p:cNvSpPr>
            <a:spLocks noGrp="1"/>
          </p:cNvSpPr>
          <p:nvPr>
            <p:ph idx="1"/>
          </p:nvPr>
        </p:nvSpPr>
        <p:spPr>
          <a:xfrm>
            <a:off x="420756" y="2156791"/>
            <a:ext cx="10515600" cy="4183802"/>
          </a:xfrm>
          <a:prstGeom prst="rect">
            <a:avLst/>
          </a:prstGeom>
        </p:spPr>
        <p:txBody>
          <a:bodyPr vert="horz" lIns="91440" tIns="45720" rIns="91440" bIns="45720" rtlCol="0">
            <a:normAutofit/>
          </a:bodyPr>
          <a:lstStyle>
            <a:lvl1pPr marL="285750" indent="-285750">
              <a:buFont typeface="Arial" panose="020B0604020202020204" pitchFamily="34" charset="0"/>
              <a:buChar char="•"/>
              <a:defRPr>
                <a:solidFill>
                  <a:schemeClr val="bg2">
                    <a:lumMod val="50000"/>
                  </a:schemeClr>
                </a:solidFill>
              </a:defRPr>
            </a:lvl1pPr>
            <a:lvl2pPr marL="742950" indent="-285750">
              <a:buFont typeface="Arial" panose="020B0604020202020204" pitchFamily="34" charset="0"/>
              <a:buChar char="•"/>
              <a:defRPr>
                <a:solidFill>
                  <a:schemeClr val="bg2">
                    <a:lumMod val="50000"/>
                  </a:schemeClr>
                </a:solidFill>
              </a:defRPr>
            </a:lvl2pPr>
            <a:lvl3pPr marL="1085850" indent="-171450">
              <a:buFont typeface="Arial" panose="020B0604020202020204" pitchFamily="34" charset="0"/>
              <a:buChar char="•"/>
              <a:defRPr>
                <a:solidFill>
                  <a:schemeClr val="bg2">
                    <a:lumMod val="50000"/>
                  </a:schemeClr>
                </a:solidFill>
              </a:defRPr>
            </a:lvl3pPr>
            <a:lvl4pPr marL="1543050" indent="-171450">
              <a:buFont typeface="Arial" panose="020B0604020202020204" pitchFamily="34" charset="0"/>
              <a:buChar char="•"/>
              <a:defRPr>
                <a:solidFill>
                  <a:schemeClr val="bg2">
                    <a:lumMod val="50000"/>
                  </a:schemeClr>
                </a:solidFill>
              </a:defRPr>
            </a:lvl4pPr>
            <a:lvl5pPr marL="2000250" indent="-171450">
              <a:buFont typeface="Arial" panose="020B0604020202020204" pitchFamily="34" charset="0"/>
              <a:buChar cha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X"/>
          </a:p>
        </p:txBody>
      </p:sp>
      <p:pic>
        <p:nvPicPr>
          <p:cNvPr id="8" name="Picture 7" descr="A blue text on a black background  Description automatically generated">
            <a:extLst>
              <a:ext uri="{FF2B5EF4-FFF2-40B4-BE49-F238E27FC236}">
                <a16:creationId xmlns:a16="http://schemas.microsoft.com/office/drawing/2014/main" id="{CC7A7323-8F54-C113-9E31-6A1C2F862ED3}"/>
              </a:ext>
            </a:extLst>
          </p:cNvPr>
          <p:cNvPicPr>
            <a:picLocks noChangeAspect="1"/>
          </p:cNvPicPr>
          <p:nvPr userDrawn="1"/>
        </p:nvPicPr>
        <p:blipFill>
          <a:blip r:embed="rId2"/>
          <a:stretch>
            <a:fillRect/>
          </a:stretch>
        </p:blipFill>
        <p:spPr>
          <a:xfrm>
            <a:off x="10120654" y="366299"/>
            <a:ext cx="1893379" cy="718540"/>
          </a:xfrm>
          <a:prstGeom prst="rect">
            <a:avLst/>
          </a:prstGeom>
        </p:spPr>
      </p:pic>
      <p:sp>
        <p:nvSpPr>
          <p:cNvPr id="9" name="Text Placeholder 6">
            <a:extLst>
              <a:ext uri="{FF2B5EF4-FFF2-40B4-BE49-F238E27FC236}">
                <a16:creationId xmlns:a16="http://schemas.microsoft.com/office/drawing/2014/main" id="{436CCBF4-4D6E-1F6C-0913-8D364923F0FB}"/>
              </a:ext>
            </a:extLst>
          </p:cNvPr>
          <p:cNvSpPr>
            <a:spLocks noGrp="1"/>
          </p:cNvSpPr>
          <p:nvPr>
            <p:ph type="body" sz="quarter" idx="11" hasCustomPrompt="1"/>
          </p:nvPr>
        </p:nvSpPr>
        <p:spPr>
          <a:xfrm>
            <a:off x="420756" y="1470069"/>
            <a:ext cx="10515600" cy="560564"/>
          </a:xfrm>
        </p:spPr>
        <p:txBody>
          <a:bodyPr lIns="72000" tIns="36000" rIns="216000" bIns="288000">
            <a:normAutofit/>
          </a:bodyPr>
          <a:lstStyle>
            <a:lvl1pPr>
              <a:lnSpc>
                <a:spcPct val="100000"/>
              </a:lnSpc>
              <a:spcBef>
                <a:spcPts val="8"/>
              </a:spcBef>
              <a:spcAft>
                <a:spcPts val="8"/>
              </a:spcAft>
              <a:defRPr sz="1800" b="0" i="1">
                <a:solidFill>
                  <a:schemeClr val="bg1">
                    <a:lumMod val="50000"/>
                  </a:schemeClr>
                </a:solidFill>
                <a:latin typeface="Poppins Medium" pitchFamily="2" charset="77"/>
                <a:cs typeface="Poppins Medium" pitchFamily="2" charset="77"/>
              </a:defRPr>
            </a:lvl1pPr>
          </a:lstStyle>
          <a:p>
            <a:r>
              <a:rPr lang="en-US"/>
              <a:t>Click to edit Master subtitle style</a:t>
            </a:r>
          </a:p>
        </p:txBody>
      </p:sp>
    </p:spTree>
    <p:extLst>
      <p:ext uri="{BB962C8B-B14F-4D97-AF65-F5344CB8AC3E}">
        <p14:creationId xmlns:p14="http://schemas.microsoft.com/office/powerpoint/2010/main" val="36448199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te Page">
    <p:spTree>
      <p:nvGrpSpPr>
        <p:cNvPr id="1" name=""/>
        <p:cNvGrpSpPr/>
        <p:nvPr/>
      </p:nvGrpSpPr>
      <p:grpSpPr>
        <a:xfrm>
          <a:off x="0" y="0"/>
          <a:ext cx="0" cy="0"/>
          <a:chOff x="0" y="0"/>
          <a:chExt cx="0" cy="0"/>
        </a:xfrm>
      </p:grpSpPr>
      <p:pic>
        <p:nvPicPr>
          <p:cNvPr id="3" name="Picture 2" descr="A blue and green gradient  AI-generated content may be incorrect.">
            <a:extLst>
              <a:ext uri="{FF2B5EF4-FFF2-40B4-BE49-F238E27FC236}">
                <a16:creationId xmlns:a16="http://schemas.microsoft.com/office/drawing/2014/main" id="{B54EA83D-4D5E-3896-4C53-82E729DDBD2C}"/>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4" name="Picture 3" descr="A black background with white text  AI-generated content may be incorrect.">
            <a:extLst>
              <a:ext uri="{FF2B5EF4-FFF2-40B4-BE49-F238E27FC236}">
                <a16:creationId xmlns:a16="http://schemas.microsoft.com/office/drawing/2014/main" id="{0EF929EA-F9C6-25ED-3C68-FD4CD9D13B8C}"/>
              </a:ext>
            </a:extLst>
          </p:cNvPr>
          <p:cNvPicPr>
            <a:picLocks noChangeAspect="1"/>
          </p:cNvPicPr>
          <p:nvPr userDrawn="1"/>
        </p:nvPicPr>
        <p:blipFill>
          <a:blip r:embed="rId3"/>
          <a:stretch>
            <a:fillRect/>
          </a:stretch>
        </p:blipFill>
        <p:spPr>
          <a:xfrm>
            <a:off x="9849913" y="300735"/>
            <a:ext cx="2190011" cy="723600"/>
          </a:xfrm>
          <a:prstGeom prst="rect">
            <a:avLst/>
          </a:prstGeom>
        </p:spPr>
      </p:pic>
      <p:sp>
        <p:nvSpPr>
          <p:cNvPr id="2" name="Title 1">
            <a:extLst>
              <a:ext uri="{FF2B5EF4-FFF2-40B4-BE49-F238E27FC236}">
                <a16:creationId xmlns:a16="http://schemas.microsoft.com/office/drawing/2014/main" id="{155A03D7-0C8A-2FF8-DD55-E44EF7754A2A}"/>
              </a:ext>
            </a:extLst>
          </p:cNvPr>
          <p:cNvSpPr>
            <a:spLocks noGrp="1"/>
          </p:cNvSpPr>
          <p:nvPr>
            <p:ph type="title"/>
          </p:nvPr>
        </p:nvSpPr>
        <p:spPr>
          <a:xfrm>
            <a:off x="705913" y="2933878"/>
            <a:ext cx="10515600" cy="508001"/>
          </a:xfrm>
        </p:spPr>
        <p:txBody>
          <a:bodyPr>
            <a:normAutofit/>
          </a:bodyPr>
          <a:lstStyle>
            <a:lvl1pPr>
              <a:defRPr sz="2800">
                <a:solidFill>
                  <a:schemeClr val="bg1"/>
                </a:solidFill>
                <a:latin typeface="Poppins" pitchFamily="2" charset="77"/>
                <a:cs typeface="Poppins" pitchFamily="2" charset="77"/>
              </a:defRPr>
            </a:lvl1pPr>
          </a:lstStyle>
          <a:p>
            <a:r>
              <a:rPr lang="en-US"/>
              <a:t>Click to edit Master title style</a:t>
            </a:r>
            <a:endParaRPr lang="en-MX"/>
          </a:p>
        </p:txBody>
      </p:sp>
      <p:sp>
        <p:nvSpPr>
          <p:cNvPr id="11" name="Subtitle 2">
            <a:extLst>
              <a:ext uri="{FF2B5EF4-FFF2-40B4-BE49-F238E27FC236}">
                <a16:creationId xmlns:a16="http://schemas.microsoft.com/office/drawing/2014/main" id="{06160FDB-07E2-9B48-493B-80748EBAF3CC}"/>
              </a:ext>
            </a:extLst>
          </p:cNvPr>
          <p:cNvSpPr>
            <a:spLocks noGrp="1"/>
          </p:cNvSpPr>
          <p:nvPr>
            <p:ph type="subTitle" idx="1"/>
          </p:nvPr>
        </p:nvSpPr>
        <p:spPr>
          <a:xfrm>
            <a:off x="705913" y="3429000"/>
            <a:ext cx="9144000" cy="528370"/>
          </a:xfrm>
          <a:prstGeom prst="rect">
            <a:avLst/>
          </a:prstGeom>
        </p:spPr>
        <p:txBody>
          <a:bodyPr>
            <a:normAutofit/>
          </a:bodyPr>
          <a:lstStyle>
            <a:lvl1pPr marL="0" indent="0" algn="l">
              <a:buNone/>
              <a:defRPr sz="2000" b="0" i="0">
                <a:solidFill>
                  <a:schemeClr val="bg1"/>
                </a:solidFill>
                <a:latin typeface="Poppins" pitchFamily="2" charset="77"/>
                <a:cs typeface="Poppins"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MX"/>
          </a:p>
        </p:txBody>
      </p:sp>
      <p:cxnSp>
        <p:nvCxnSpPr>
          <p:cNvPr id="6" name="Straight Connector 5">
            <a:extLst>
              <a:ext uri="{FF2B5EF4-FFF2-40B4-BE49-F238E27FC236}">
                <a16:creationId xmlns:a16="http://schemas.microsoft.com/office/drawing/2014/main" id="{75948496-729F-47D0-0AA1-AEE439E24A68}"/>
              </a:ext>
            </a:extLst>
          </p:cNvPr>
          <p:cNvCxnSpPr>
            <a:cxnSpLocks/>
          </p:cNvCxnSpPr>
          <p:nvPr userDrawn="1"/>
        </p:nvCxnSpPr>
        <p:spPr>
          <a:xfrm flipH="1">
            <a:off x="826911" y="6394229"/>
            <a:ext cx="10526889"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D8B050FF-2D15-ED50-850B-3375A58843E7}"/>
              </a:ext>
            </a:extLst>
          </p:cNvPr>
          <p:cNvSpPr txBox="1"/>
          <p:nvPr userDrawn="1"/>
        </p:nvSpPr>
        <p:spPr>
          <a:xfrm>
            <a:off x="838199" y="6448820"/>
            <a:ext cx="3882887" cy="246221"/>
          </a:xfrm>
          <a:prstGeom prst="rect">
            <a:avLst/>
          </a:prstGeom>
          <a:noFill/>
        </p:spPr>
        <p:txBody>
          <a:bodyPr wrap="square" rtlCol="0">
            <a:spAutoFit/>
          </a:bodyPr>
          <a:lstStyle/>
          <a:p>
            <a:r>
              <a:rPr lang="en-US" sz="1000" b="0" i="0">
                <a:solidFill>
                  <a:schemeClr val="bg1"/>
                </a:solidFill>
                <a:latin typeface="Poppins Medium" pitchFamily="2" charset="77"/>
                <a:cs typeface="Poppins Medium" pitchFamily="2" charset="77"/>
              </a:rPr>
              <a:t>© 2025 Improving | All Rights Reserved</a:t>
            </a:r>
            <a:endParaRPr lang="en-MX" sz="1000" b="0" i="0">
              <a:solidFill>
                <a:schemeClr val="bg1"/>
              </a:solidFill>
              <a:latin typeface="Poppins Medium" pitchFamily="2" charset="77"/>
              <a:cs typeface="Poppins Medium" pitchFamily="2" charset="77"/>
            </a:endParaRPr>
          </a:p>
        </p:txBody>
      </p:sp>
      <p:sp>
        <p:nvSpPr>
          <p:cNvPr id="8" name="TextBox 7">
            <a:extLst>
              <a:ext uri="{FF2B5EF4-FFF2-40B4-BE49-F238E27FC236}">
                <a16:creationId xmlns:a16="http://schemas.microsoft.com/office/drawing/2014/main" id="{4A379795-4F47-802C-2A87-EE8B8DCB0543}"/>
              </a:ext>
            </a:extLst>
          </p:cNvPr>
          <p:cNvSpPr txBox="1"/>
          <p:nvPr userDrawn="1"/>
        </p:nvSpPr>
        <p:spPr>
          <a:xfrm>
            <a:off x="11067344" y="6479823"/>
            <a:ext cx="572911" cy="276999"/>
          </a:xfrm>
          <a:prstGeom prst="rect">
            <a:avLst/>
          </a:prstGeom>
          <a:noFill/>
        </p:spPr>
        <p:txBody>
          <a:bodyPr wrap="square" rtlCol="0">
            <a:spAutoFit/>
          </a:bodyPr>
          <a:lstStyle/>
          <a:p>
            <a:fld id="{C3BB742A-9951-4A41-9B51-4F6023B7AEA7}" type="slidenum">
              <a:rPr lang="en-MX" sz="1200" b="1" i="0" smtClean="0">
                <a:solidFill>
                  <a:schemeClr val="bg1"/>
                </a:solidFill>
                <a:latin typeface="Khula SemiBold" panose="02000000000000000000" pitchFamily="2" charset="0"/>
                <a:cs typeface="Khula SemiBold" panose="02000000000000000000" pitchFamily="2" charset="0"/>
              </a:rPr>
              <a:t>‹#›</a:t>
            </a:fld>
            <a:endParaRPr lang="en-MX" sz="1200" b="1" i="0">
              <a:solidFill>
                <a:schemeClr val="bg1"/>
              </a:solidFill>
              <a:latin typeface="Khula SemiBold" panose="02000000000000000000" pitchFamily="2" charset="0"/>
              <a:cs typeface="Khula SemiBold" panose="02000000000000000000" pitchFamily="2" charset="0"/>
            </a:endParaRPr>
          </a:p>
        </p:txBody>
      </p:sp>
    </p:spTree>
    <p:extLst>
      <p:ext uri="{BB962C8B-B14F-4D97-AF65-F5344CB8AC3E}">
        <p14:creationId xmlns:p14="http://schemas.microsoft.com/office/powerpoint/2010/main" val="3851831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ext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BF37F2-5E51-EBE6-FB74-03ECD1F0CB05}"/>
              </a:ext>
            </a:extLst>
          </p:cNvPr>
          <p:cNvSpPr>
            <a:spLocks noGrp="1"/>
          </p:cNvSpPr>
          <p:nvPr>
            <p:ph type="title"/>
          </p:nvPr>
        </p:nvSpPr>
        <p:spPr>
          <a:xfrm>
            <a:off x="468489" y="434446"/>
            <a:ext cx="11205668" cy="667808"/>
          </a:xfrm>
        </p:spPr>
        <p:txBody>
          <a:bodyPr anchor="b">
            <a:normAutofit/>
          </a:bodyPr>
          <a:lstStyle>
            <a:lvl1pPr algn="r">
              <a:defRPr sz="2900" b="1">
                <a:solidFill>
                  <a:srgbClr val="005596"/>
                </a:solidFill>
                <a:latin typeface="Poppins" pitchFamily="2" charset="77"/>
                <a:cs typeface="Poppins" pitchFamily="2" charset="77"/>
              </a:defRPr>
            </a:lvl1pPr>
          </a:lstStyle>
          <a:p>
            <a:r>
              <a:rPr lang="en-US"/>
              <a:t>Click to edit Master title style</a:t>
            </a:r>
            <a:endParaRPr lang="en-MX"/>
          </a:p>
        </p:txBody>
      </p:sp>
      <p:sp>
        <p:nvSpPr>
          <p:cNvPr id="10" name="Content Placeholder 9">
            <a:extLst>
              <a:ext uri="{FF2B5EF4-FFF2-40B4-BE49-F238E27FC236}">
                <a16:creationId xmlns:a16="http://schemas.microsoft.com/office/drawing/2014/main" id="{76DB217A-F6B3-74AC-D9F2-0EF851F4881D}"/>
              </a:ext>
            </a:extLst>
          </p:cNvPr>
          <p:cNvSpPr>
            <a:spLocks noGrp="1"/>
          </p:cNvSpPr>
          <p:nvPr>
            <p:ph sz="quarter" idx="10"/>
          </p:nvPr>
        </p:nvSpPr>
        <p:spPr>
          <a:xfrm>
            <a:off x="468313" y="1885244"/>
            <a:ext cx="11206162" cy="3999619"/>
          </a:xfrm>
          <a:prstGeom prst="rect">
            <a:avLst/>
          </a:prstGeom>
        </p:spPr>
        <p:txBody>
          <a:bodyPr>
            <a:normAutofit/>
          </a:bodyPr>
          <a:lstStyle>
            <a:lvl1pPr marL="285750" indent="-285750">
              <a:buFont typeface="Arial" panose="020B0604020202020204" pitchFamily="34" charset="0"/>
              <a:buChar char="•"/>
              <a:defRPr sz="1400">
                <a:solidFill>
                  <a:schemeClr val="bg2">
                    <a:lumMod val="50000"/>
                  </a:schemeClr>
                </a:solidFill>
                <a:latin typeface="Khula" panose="02000000000000000000" pitchFamily="2" charset="0"/>
                <a:cs typeface="Khula" panose="02000000000000000000" pitchFamily="2" charset="0"/>
              </a:defRPr>
            </a:lvl1pPr>
          </a:lstStyle>
          <a:p>
            <a:pPr lvl="0"/>
            <a:r>
              <a:rPr lang="en-US"/>
              <a:t>Click to edit Master text styles</a:t>
            </a:r>
          </a:p>
        </p:txBody>
      </p:sp>
      <p:sp>
        <p:nvSpPr>
          <p:cNvPr id="7" name="Text Placeholder 6">
            <a:extLst>
              <a:ext uri="{FF2B5EF4-FFF2-40B4-BE49-F238E27FC236}">
                <a16:creationId xmlns:a16="http://schemas.microsoft.com/office/drawing/2014/main" id="{8B772F0C-A603-1AAE-F130-CB75D94E66CB}"/>
              </a:ext>
            </a:extLst>
          </p:cNvPr>
          <p:cNvSpPr>
            <a:spLocks noGrp="1"/>
          </p:cNvSpPr>
          <p:nvPr>
            <p:ph type="body" sz="quarter" idx="11" hasCustomPrompt="1"/>
          </p:nvPr>
        </p:nvSpPr>
        <p:spPr>
          <a:xfrm>
            <a:off x="468313" y="1030638"/>
            <a:ext cx="11206162" cy="667809"/>
          </a:xfrm>
        </p:spPr>
        <p:txBody>
          <a:bodyPr lIns="72000" tIns="36000" rIns="216000" bIns="288000">
            <a:normAutofit/>
          </a:bodyPr>
          <a:lstStyle>
            <a:lvl1pPr>
              <a:lnSpc>
                <a:spcPct val="100000"/>
              </a:lnSpc>
              <a:spcBef>
                <a:spcPts val="8"/>
              </a:spcBef>
              <a:spcAft>
                <a:spcPts val="8"/>
              </a:spcAft>
              <a:defRPr sz="1800" b="0" i="1">
                <a:solidFill>
                  <a:schemeClr val="bg1">
                    <a:lumMod val="50000"/>
                  </a:schemeClr>
                </a:solidFill>
                <a:latin typeface="Poppins Medium" pitchFamily="2" charset="77"/>
                <a:cs typeface="Poppins Medium" pitchFamily="2" charset="77"/>
              </a:defRPr>
            </a:lvl1pPr>
          </a:lstStyle>
          <a:p>
            <a:r>
              <a:rPr lang="en-US"/>
              <a:t>Click to edit Master subtitle style</a:t>
            </a:r>
          </a:p>
        </p:txBody>
      </p:sp>
      <p:pic>
        <p:nvPicPr>
          <p:cNvPr id="3" name="Picture 2" descr="A blue text on a black background  Description automatically generated">
            <a:extLst>
              <a:ext uri="{FF2B5EF4-FFF2-40B4-BE49-F238E27FC236}">
                <a16:creationId xmlns:a16="http://schemas.microsoft.com/office/drawing/2014/main" id="{EFDB8958-F2C7-FD28-BC39-C75A7F900E95}"/>
              </a:ext>
            </a:extLst>
          </p:cNvPr>
          <p:cNvPicPr>
            <a:picLocks noChangeAspect="1"/>
          </p:cNvPicPr>
          <p:nvPr userDrawn="1"/>
        </p:nvPicPr>
        <p:blipFill>
          <a:blip r:embed="rId2"/>
          <a:stretch>
            <a:fillRect/>
          </a:stretch>
        </p:blipFill>
        <p:spPr>
          <a:xfrm>
            <a:off x="340549" y="366299"/>
            <a:ext cx="1893379" cy="718540"/>
          </a:xfrm>
          <a:prstGeom prst="rect">
            <a:avLst/>
          </a:prstGeom>
        </p:spPr>
      </p:pic>
    </p:spTree>
    <p:extLst>
      <p:ext uri="{BB962C8B-B14F-4D97-AF65-F5344CB8AC3E}">
        <p14:creationId xmlns:p14="http://schemas.microsoft.com/office/powerpoint/2010/main" val="26979689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 text box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BF37F2-5E51-EBE6-FB74-03ECD1F0CB05}"/>
              </a:ext>
            </a:extLst>
          </p:cNvPr>
          <p:cNvSpPr>
            <a:spLocks noGrp="1"/>
          </p:cNvSpPr>
          <p:nvPr>
            <p:ph type="title"/>
          </p:nvPr>
        </p:nvSpPr>
        <p:spPr>
          <a:xfrm>
            <a:off x="468489" y="434446"/>
            <a:ext cx="11255022" cy="667808"/>
          </a:xfrm>
        </p:spPr>
        <p:txBody>
          <a:bodyPr anchor="b">
            <a:normAutofit/>
          </a:bodyPr>
          <a:lstStyle>
            <a:lvl1pPr>
              <a:defRPr sz="2900" b="1">
                <a:solidFill>
                  <a:srgbClr val="005596"/>
                </a:solidFill>
                <a:latin typeface="Poppins" pitchFamily="2" charset="77"/>
                <a:cs typeface="Poppins" pitchFamily="2" charset="77"/>
              </a:defRPr>
            </a:lvl1pPr>
          </a:lstStyle>
          <a:p>
            <a:r>
              <a:rPr lang="en-US"/>
              <a:t>Click to edit Master title style</a:t>
            </a:r>
            <a:endParaRPr lang="en-MX"/>
          </a:p>
        </p:txBody>
      </p:sp>
      <p:sp>
        <p:nvSpPr>
          <p:cNvPr id="6" name="Content Placeholder 5">
            <a:extLst>
              <a:ext uri="{FF2B5EF4-FFF2-40B4-BE49-F238E27FC236}">
                <a16:creationId xmlns:a16="http://schemas.microsoft.com/office/drawing/2014/main" id="{9E73EDE8-942A-C67F-DE1C-BE6A4B25F941}"/>
              </a:ext>
            </a:extLst>
          </p:cNvPr>
          <p:cNvSpPr>
            <a:spLocks noGrp="1"/>
          </p:cNvSpPr>
          <p:nvPr>
            <p:ph sz="quarter" idx="11"/>
          </p:nvPr>
        </p:nvSpPr>
        <p:spPr>
          <a:xfrm>
            <a:off x="468489" y="1744134"/>
            <a:ext cx="5394960" cy="4194466"/>
          </a:xfrm>
          <a:prstGeom prst="rect">
            <a:avLst/>
          </a:prstGeom>
        </p:spPr>
        <p:txBody>
          <a:bodyPr>
            <a:normAutofit/>
          </a:bodyPr>
          <a:lstStyle>
            <a:lvl1pPr marL="285750" indent="-285750">
              <a:buFont typeface="Arial" panose="020B0604020202020204" pitchFamily="34" charset="0"/>
              <a:buChar char="•"/>
              <a:defRPr sz="1400">
                <a:solidFill>
                  <a:schemeClr val="bg2">
                    <a:lumMod val="50000"/>
                  </a:schemeClr>
                </a:solidFill>
              </a:defRPr>
            </a:lvl1pPr>
            <a:lvl2pPr>
              <a:defRPr sz="1400"/>
            </a:lvl2pPr>
            <a:lvl3pPr>
              <a:defRPr sz="1400"/>
            </a:lvl3pPr>
            <a:lvl4pPr>
              <a:defRPr sz="1400"/>
            </a:lvl4pPr>
            <a:lvl5pPr>
              <a:defRPr sz="1400"/>
            </a:lvl5pPr>
          </a:lstStyle>
          <a:p>
            <a:pPr lvl="0"/>
            <a:r>
              <a:rPr lang="en-US"/>
              <a:t>Click to edit Master text styles</a:t>
            </a:r>
          </a:p>
        </p:txBody>
      </p:sp>
      <p:sp>
        <p:nvSpPr>
          <p:cNvPr id="8" name="Content Placeholder 5">
            <a:extLst>
              <a:ext uri="{FF2B5EF4-FFF2-40B4-BE49-F238E27FC236}">
                <a16:creationId xmlns:a16="http://schemas.microsoft.com/office/drawing/2014/main" id="{774CE37E-4F1A-62C7-ADCA-33781ABD6614}"/>
              </a:ext>
            </a:extLst>
          </p:cNvPr>
          <p:cNvSpPr>
            <a:spLocks noGrp="1"/>
          </p:cNvSpPr>
          <p:nvPr>
            <p:ph sz="quarter" idx="12"/>
          </p:nvPr>
        </p:nvSpPr>
        <p:spPr>
          <a:xfrm>
            <a:off x="6279197" y="1743240"/>
            <a:ext cx="5394960" cy="4194467"/>
          </a:xfrm>
          <a:prstGeom prst="rect">
            <a:avLst/>
          </a:prstGeom>
        </p:spPr>
        <p:txBody>
          <a:bodyPr>
            <a:normAutofit/>
          </a:bodyPr>
          <a:lstStyle>
            <a:lvl1pPr marL="285750" indent="-285750">
              <a:buFont typeface="Arial" panose="020B0604020202020204" pitchFamily="34" charset="0"/>
              <a:buChar char="•"/>
              <a:defRPr sz="1400">
                <a:solidFill>
                  <a:schemeClr val="bg2">
                    <a:lumMod val="50000"/>
                  </a:schemeClr>
                </a:solidFill>
              </a:defRPr>
            </a:lvl1pPr>
            <a:lvl2pPr>
              <a:defRPr sz="1400"/>
            </a:lvl2pPr>
            <a:lvl3pPr>
              <a:defRPr sz="1400"/>
            </a:lvl3pPr>
            <a:lvl4pPr>
              <a:defRPr sz="1400"/>
            </a:lvl4pPr>
            <a:lvl5pPr>
              <a:defRPr sz="1400"/>
            </a:lvl5pPr>
          </a:lstStyle>
          <a:p>
            <a:pPr lvl="0"/>
            <a:r>
              <a:rPr lang="en-US"/>
              <a:t>Click to edit Master text styles</a:t>
            </a:r>
          </a:p>
        </p:txBody>
      </p:sp>
      <p:sp>
        <p:nvSpPr>
          <p:cNvPr id="3" name="Text Placeholder 6">
            <a:extLst>
              <a:ext uri="{FF2B5EF4-FFF2-40B4-BE49-F238E27FC236}">
                <a16:creationId xmlns:a16="http://schemas.microsoft.com/office/drawing/2014/main" id="{BE8B51DB-C770-DED1-2745-73661B76F888}"/>
              </a:ext>
            </a:extLst>
          </p:cNvPr>
          <p:cNvSpPr>
            <a:spLocks noGrp="1"/>
          </p:cNvSpPr>
          <p:nvPr>
            <p:ph type="body" sz="quarter" idx="13" hasCustomPrompt="1"/>
          </p:nvPr>
        </p:nvSpPr>
        <p:spPr>
          <a:xfrm>
            <a:off x="468313" y="1030638"/>
            <a:ext cx="11206162" cy="667809"/>
          </a:xfrm>
        </p:spPr>
        <p:txBody>
          <a:bodyPr lIns="72000" tIns="36000" rIns="216000" bIns="288000">
            <a:normAutofit/>
          </a:bodyPr>
          <a:lstStyle>
            <a:lvl1pPr>
              <a:lnSpc>
                <a:spcPct val="100000"/>
              </a:lnSpc>
              <a:spcBef>
                <a:spcPts val="8"/>
              </a:spcBef>
              <a:spcAft>
                <a:spcPts val="8"/>
              </a:spcAft>
              <a:defRPr sz="1800" b="0" i="1">
                <a:solidFill>
                  <a:schemeClr val="bg1">
                    <a:lumMod val="50000"/>
                  </a:schemeClr>
                </a:solidFill>
                <a:latin typeface="Poppins Medium" pitchFamily="2" charset="77"/>
                <a:cs typeface="Poppins Medium" pitchFamily="2" charset="77"/>
              </a:defRPr>
            </a:lvl1pPr>
          </a:lstStyle>
          <a:p>
            <a:r>
              <a:rPr lang="en-US"/>
              <a:t>Click to edit Master subtitle style</a:t>
            </a:r>
          </a:p>
        </p:txBody>
      </p:sp>
      <p:pic>
        <p:nvPicPr>
          <p:cNvPr id="4" name="Picture 3" descr="A blue text on a black background  Description automatically generated">
            <a:extLst>
              <a:ext uri="{FF2B5EF4-FFF2-40B4-BE49-F238E27FC236}">
                <a16:creationId xmlns:a16="http://schemas.microsoft.com/office/drawing/2014/main" id="{2AAFFD30-7418-5FB2-1CEC-3BCDEA5FE100}"/>
              </a:ext>
            </a:extLst>
          </p:cNvPr>
          <p:cNvPicPr>
            <a:picLocks noChangeAspect="1"/>
          </p:cNvPicPr>
          <p:nvPr userDrawn="1"/>
        </p:nvPicPr>
        <p:blipFill>
          <a:blip r:embed="rId2"/>
          <a:stretch>
            <a:fillRect/>
          </a:stretch>
        </p:blipFill>
        <p:spPr>
          <a:xfrm>
            <a:off x="10120654" y="366299"/>
            <a:ext cx="1893379" cy="718540"/>
          </a:xfrm>
          <a:prstGeom prst="rect">
            <a:avLst/>
          </a:prstGeom>
        </p:spPr>
      </p:pic>
    </p:spTree>
    <p:extLst>
      <p:ext uri="{BB962C8B-B14F-4D97-AF65-F5344CB8AC3E}">
        <p14:creationId xmlns:p14="http://schemas.microsoft.com/office/powerpoint/2010/main" val="34602691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ullet Slide">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D562C5F-11BC-838C-96DD-BF84E16B5293}"/>
              </a:ext>
            </a:extLst>
          </p:cNvPr>
          <p:cNvSpPr>
            <a:spLocks noGrp="1"/>
          </p:cNvSpPr>
          <p:nvPr>
            <p:ph type="title"/>
          </p:nvPr>
        </p:nvSpPr>
        <p:spPr>
          <a:xfrm>
            <a:off x="468489" y="434446"/>
            <a:ext cx="6338711" cy="667808"/>
          </a:xfrm>
        </p:spPr>
        <p:txBody>
          <a:bodyPr anchor="b">
            <a:normAutofit/>
          </a:bodyPr>
          <a:lstStyle>
            <a:lvl1pPr>
              <a:defRPr sz="2900" b="1">
                <a:solidFill>
                  <a:srgbClr val="005596"/>
                </a:solidFill>
                <a:latin typeface="Poppins" pitchFamily="2" charset="77"/>
                <a:cs typeface="Poppins" pitchFamily="2" charset="77"/>
              </a:defRPr>
            </a:lvl1pPr>
          </a:lstStyle>
          <a:p>
            <a:r>
              <a:rPr lang="en-US"/>
              <a:t>Click to edit Master title style</a:t>
            </a:r>
            <a:endParaRPr lang="en-MX"/>
          </a:p>
        </p:txBody>
      </p:sp>
      <p:sp>
        <p:nvSpPr>
          <p:cNvPr id="2" name="Text Placeholder 6">
            <a:extLst>
              <a:ext uri="{FF2B5EF4-FFF2-40B4-BE49-F238E27FC236}">
                <a16:creationId xmlns:a16="http://schemas.microsoft.com/office/drawing/2014/main" id="{FD992D7D-9B11-EAF8-2BFF-D0C68BFB20A7}"/>
              </a:ext>
            </a:extLst>
          </p:cNvPr>
          <p:cNvSpPr>
            <a:spLocks noGrp="1"/>
          </p:cNvSpPr>
          <p:nvPr>
            <p:ph type="body" sz="quarter" idx="16" hasCustomPrompt="1"/>
          </p:nvPr>
        </p:nvSpPr>
        <p:spPr>
          <a:xfrm>
            <a:off x="468313" y="1030638"/>
            <a:ext cx="11206162" cy="667809"/>
          </a:xfrm>
        </p:spPr>
        <p:txBody>
          <a:bodyPr lIns="72000" tIns="36000" rIns="216000" bIns="288000">
            <a:normAutofit/>
          </a:bodyPr>
          <a:lstStyle>
            <a:lvl1pPr>
              <a:lnSpc>
                <a:spcPct val="100000"/>
              </a:lnSpc>
              <a:spcBef>
                <a:spcPts val="8"/>
              </a:spcBef>
              <a:spcAft>
                <a:spcPts val="8"/>
              </a:spcAft>
              <a:defRPr sz="1800" b="0" i="1">
                <a:solidFill>
                  <a:schemeClr val="bg1">
                    <a:lumMod val="50000"/>
                  </a:schemeClr>
                </a:solidFill>
                <a:latin typeface="Poppins Medium" pitchFamily="2" charset="77"/>
                <a:cs typeface="Poppins Medium" pitchFamily="2" charset="77"/>
              </a:defRPr>
            </a:lvl1pPr>
          </a:lstStyle>
          <a:p>
            <a:r>
              <a:rPr lang="en-US"/>
              <a:t>Click to edit Master subtitle style</a:t>
            </a:r>
          </a:p>
        </p:txBody>
      </p:sp>
      <p:sp>
        <p:nvSpPr>
          <p:cNvPr id="3" name="Content Placeholder 5">
            <a:extLst>
              <a:ext uri="{FF2B5EF4-FFF2-40B4-BE49-F238E27FC236}">
                <a16:creationId xmlns:a16="http://schemas.microsoft.com/office/drawing/2014/main" id="{F0156AF4-E910-6DDD-08C2-0F219BAD1973}"/>
              </a:ext>
            </a:extLst>
          </p:cNvPr>
          <p:cNvSpPr>
            <a:spLocks noGrp="1"/>
          </p:cNvSpPr>
          <p:nvPr>
            <p:ph sz="quarter" idx="11"/>
          </p:nvPr>
        </p:nvSpPr>
        <p:spPr>
          <a:xfrm>
            <a:off x="468489" y="1952856"/>
            <a:ext cx="5394960" cy="4194466"/>
          </a:xfrm>
          <a:prstGeom prst="rect">
            <a:avLst/>
          </a:prstGeom>
        </p:spPr>
        <p:txBody>
          <a:bodyPr>
            <a:normAutofit/>
          </a:bodyPr>
          <a:lstStyle>
            <a:lvl1pPr marL="0" indent="0">
              <a:buFont typeface="Arial" panose="020B0604020202020204" pitchFamily="34" charset="0"/>
              <a:buNone/>
              <a:defRPr sz="1400"/>
            </a:lvl1pPr>
            <a:lvl2pPr>
              <a:defRPr sz="1400"/>
            </a:lvl2pPr>
            <a:lvl3pPr>
              <a:defRPr sz="1400"/>
            </a:lvl3pPr>
            <a:lvl4pPr>
              <a:defRPr sz="1400"/>
            </a:lvl4pPr>
            <a:lvl5pPr>
              <a:defRPr sz="1400"/>
            </a:lvl5pPr>
          </a:lstStyle>
          <a:p>
            <a:pPr lvl="0"/>
            <a:r>
              <a:rPr lang="en-US"/>
              <a:t>Click to edit Master text styles</a:t>
            </a:r>
          </a:p>
        </p:txBody>
      </p:sp>
      <p:sp>
        <p:nvSpPr>
          <p:cNvPr id="5" name="Picture Placeholder 6">
            <a:extLst>
              <a:ext uri="{FF2B5EF4-FFF2-40B4-BE49-F238E27FC236}">
                <a16:creationId xmlns:a16="http://schemas.microsoft.com/office/drawing/2014/main" id="{BAEAED59-B436-D854-A7A7-0E526CFFEE86}"/>
              </a:ext>
            </a:extLst>
          </p:cNvPr>
          <p:cNvSpPr>
            <a:spLocks noGrp="1"/>
          </p:cNvSpPr>
          <p:nvPr>
            <p:ph type="pic" sz="quarter" idx="13"/>
          </p:nvPr>
        </p:nvSpPr>
        <p:spPr>
          <a:xfrm>
            <a:off x="5943600" y="1952856"/>
            <a:ext cx="5730557" cy="4194466"/>
          </a:xfrm>
        </p:spPr>
        <p:txBody>
          <a:bodyPr>
            <a:normAutofit/>
          </a:bodyPr>
          <a:lstStyle>
            <a:lvl1pPr>
              <a:defRPr sz="1400"/>
            </a:lvl1pPr>
          </a:lstStyle>
          <a:p>
            <a:r>
              <a:rPr lang="en-US"/>
              <a:t>Click icon to add picture</a:t>
            </a:r>
            <a:endParaRPr lang="en-MX"/>
          </a:p>
        </p:txBody>
      </p:sp>
      <p:pic>
        <p:nvPicPr>
          <p:cNvPr id="14" name="Picture 13" descr="A blue text on a black background  Description automatically generated">
            <a:extLst>
              <a:ext uri="{FF2B5EF4-FFF2-40B4-BE49-F238E27FC236}">
                <a16:creationId xmlns:a16="http://schemas.microsoft.com/office/drawing/2014/main" id="{729907F7-5752-315E-233C-001592E10845}"/>
              </a:ext>
            </a:extLst>
          </p:cNvPr>
          <p:cNvPicPr>
            <a:picLocks noChangeAspect="1"/>
          </p:cNvPicPr>
          <p:nvPr userDrawn="1"/>
        </p:nvPicPr>
        <p:blipFill>
          <a:blip r:embed="rId2"/>
          <a:stretch>
            <a:fillRect/>
          </a:stretch>
        </p:blipFill>
        <p:spPr>
          <a:xfrm>
            <a:off x="10120654" y="366299"/>
            <a:ext cx="1893379" cy="718540"/>
          </a:xfrm>
          <a:prstGeom prst="rect">
            <a:avLst/>
          </a:prstGeom>
        </p:spPr>
      </p:pic>
    </p:spTree>
    <p:extLst>
      <p:ext uri="{BB962C8B-B14F-4D97-AF65-F5344CB8AC3E}">
        <p14:creationId xmlns:p14="http://schemas.microsoft.com/office/powerpoint/2010/main" val="35659560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Quote Slide">
    <p:spTree>
      <p:nvGrpSpPr>
        <p:cNvPr id="1" name=""/>
        <p:cNvGrpSpPr/>
        <p:nvPr/>
      </p:nvGrpSpPr>
      <p:grpSpPr>
        <a:xfrm>
          <a:off x="0" y="0"/>
          <a:ext cx="0" cy="0"/>
          <a:chOff x="0" y="0"/>
          <a:chExt cx="0" cy="0"/>
        </a:xfrm>
      </p:grpSpPr>
      <p:pic>
        <p:nvPicPr>
          <p:cNvPr id="3" name="Picture 2" descr="A blue and green circle with white text  Description automatically generated">
            <a:extLst>
              <a:ext uri="{FF2B5EF4-FFF2-40B4-BE49-F238E27FC236}">
                <a16:creationId xmlns:a16="http://schemas.microsoft.com/office/drawing/2014/main" id="{E2ECDCF6-BB3C-C41B-37BD-CF9A847D9E94}"/>
              </a:ext>
            </a:extLst>
          </p:cNvPr>
          <p:cNvPicPr>
            <a:picLocks noChangeAspect="1"/>
          </p:cNvPicPr>
          <p:nvPr userDrawn="1"/>
        </p:nvPicPr>
        <p:blipFill>
          <a:blip r:embed="rId2"/>
          <a:stretch>
            <a:fillRect/>
          </a:stretch>
        </p:blipFill>
        <p:spPr>
          <a:xfrm>
            <a:off x="1519604" y="1911350"/>
            <a:ext cx="2400300" cy="3035300"/>
          </a:xfrm>
          <a:prstGeom prst="rect">
            <a:avLst/>
          </a:prstGeom>
        </p:spPr>
      </p:pic>
      <p:pic>
        <p:nvPicPr>
          <p:cNvPr id="4" name="Picture 3" descr="A white rectangular object with blue edges  Description automatically generated">
            <a:extLst>
              <a:ext uri="{FF2B5EF4-FFF2-40B4-BE49-F238E27FC236}">
                <a16:creationId xmlns:a16="http://schemas.microsoft.com/office/drawing/2014/main" id="{B15EB905-7435-ED03-0D80-8B5BD86F2223}"/>
              </a:ext>
            </a:extLst>
          </p:cNvPr>
          <p:cNvPicPr>
            <a:picLocks noChangeAspect="1"/>
          </p:cNvPicPr>
          <p:nvPr userDrawn="1"/>
        </p:nvPicPr>
        <p:blipFill>
          <a:blip r:embed="rId3"/>
          <a:stretch>
            <a:fillRect/>
          </a:stretch>
        </p:blipFill>
        <p:spPr>
          <a:xfrm>
            <a:off x="6306038" y="3892550"/>
            <a:ext cx="3517900" cy="1054100"/>
          </a:xfrm>
          <a:prstGeom prst="rect">
            <a:avLst/>
          </a:prstGeom>
        </p:spPr>
      </p:pic>
      <p:sp>
        <p:nvSpPr>
          <p:cNvPr id="5" name="Text Placeholder 8">
            <a:extLst>
              <a:ext uri="{FF2B5EF4-FFF2-40B4-BE49-F238E27FC236}">
                <a16:creationId xmlns:a16="http://schemas.microsoft.com/office/drawing/2014/main" id="{2CC3C8C2-60FA-33AB-F407-74B9B673F822}"/>
              </a:ext>
            </a:extLst>
          </p:cNvPr>
          <p:cNvSpPr>
            <a:spLocks noGrp="1"/>
          </p:cNvSpPr>
          <p:nvPr>
            <p:ph type="body" sz="quarter" idx="17" hasCustomPrompt="1"/>
          </p:nvPr>
        </p:nvSpPr>
        <p:spPr>
          <a:xfrm>
            <a:off x="4015292" y="2514600"/>
            <a:ext cx="6132560" cy="914400"/>
          </a:xfrm>
        </p:spPr>
        <p:txBody>
          <a:bodyPr>
            <a:normAutofit/>
          </a:bodyPr>
          <a:lstStyle>
            <a:lvl1pPr marL="0" indent="0">
              <a:buNone/>
              <a:defRPr sz="2800" b="1" i="1">
                <a:solidFill>
                  <a:srgbClr val="2297D5"/>
                </a:solidFill>
                <a:latin typeface="Poppins" pitchFamily="2" charset="77"/>
                <a:cs typeface="Poppins" pitchFamily="2" charset="77"/>
              </a:defRPr>
            </a:lvl1pPr>
          </a:lstStyle>
          <a:p>
            <a:pPr lvl="0"/>
            <a:r>
              <a:rPr lang="en-US"/>
              <a:t>Click to edit text</a:t>
            </a:r>
            <a:endParaRPr lang="en-MX"/>
          </a:p>
        </p:txBody>
      </p:sp>
      <p:sp>
        <p:nvSpPr>
          <p:cNvPr id="6" name="Text Placeholder 11">
            <a:extLst>
              <a:ext uri="{FF2B5EF4-FFF2-40B4-BE49-F238E27FC236}">
                <a16:creationId xmlns:a16="http://schemas.microsoft.com/office/drawing/2014/main" id="{3E2DF9FC-F40C-183B-F172-071F2A130477}"/>
              </a:ext>
            </a:extLst>
          </p:cNvPr>
          <p:cNvSpPr>
            <a:spLocks noGrp="1"/>
          </p:cNvSpPr>
          <p:nvPr>
            <p:ph type="body" sz="quarter" idx="18" hasCustomPrompt="1"/>
          </p:nvPr>
        </p:nvSpPr>
        <p:spPr>
          <a:xfrm>
            <a:off x="6673544" y="4245153"/>
            <a:ext cx="2782887" cy="484188"/>
          </a:xfrm>
        </p:spPr>
        <p:txBody>
          <a:bodyPr>
            <a:noAutofit/>
          </a:bodyPr>
          <a:lstStyle>
            <a:lvl1pPr marL="0" indent="0" algn="ctr">
              <a:buNone/>
              <a:defRPr sz="1800" b="1">
                <a:solidFill>
                  <a:srgbClr val="2297D5"/>
                </a:solidFill>
                <a:latin typeface="Poppins" pitchFamily="2" charset="77"/>
                <a:cs typeface="Poppins" pitchFamily="2" charset="77"/>
              </a:defRPr>
            </a:lvl1pPr>
          </a:lstStyle>
          <a:p>
            <a:pPr lvl="0"/>
            <a:r>
              <a:rPr lang="en-US"/>
              <a:t>Click to edit text</a:t>
            </a:r>
            <a:endParaRPr lang="en-MX"/>
          </a:p>
        </p:txBody>
      </p:sp>
      <p:sp>
        <p:nvSpPr>
          <p:cNvPr id="9" name="Text Placeholder 6">
            <a:extLst>
              <a:ext uri="{FF2B5EF4-FFF2-40B4-BE49-F238E27FC236}">
                <a16:creationId xmlns:a16="http://schemas.microsoft.com/office/drawing/2014/main" id="{43AD41B2-BB90-9084-6EB3-182E1FB7C8AC}"/>
              </a:ext>
            </a:extLst>
          </p:cNvPr>
          <p:cNvSpPr>
            <a:spLocks noGrp="1"/>
          </p:cNvSpPr>
          <p:nvPr>
            <p:ph type="body" sz="quarter" idx="16" hasCustomPrompt="1"/>
          </p:nvPr>
        </p:nvSpPr>
        <p:spPr>
          <a:xfrm>
            <a:off x="468313" y="1485460"/>
            <a:ext cx="11206162" cy="417162"/>
          </a:xfrm>
        </p:spPr>
        <p:txBody>
          <a:bodyPr lIns="72000" tIns="36000" rIns="216000" bIns="288000">
            <a:normAutofit/>
          </a:bodyPr>
          <a:lstStyle>
            <a:lvl1pPr marL="0" indent="0">
              <a:lnSpc>
                <a:spcPct val="100000"/>
              </a:lnSpc>
              <a:spcBef>
                <a:spcPts val="8"/>
              </a:spcBef>
              <a:spcAft>
                <a:spcPts val="8"/>
              </a:spcAft>
              <a:buNone/>
              <a:defRPr sz="1800" b="0" i="1">
                <a:solidFill>
                  <a:schemeClr val="tx1">
                    <a:lumMod val="65000"/>
                    <a:lumOff val="35000"/>
                  </a:schemeClr>
                </a:solidFill>
                <a:latin typeface="Poppins Medium" pitchFamily="2" charset="77"/>
                <a:cs typeface="Poppins Medium" pitchFamily="2" charset="77"/>
              </a:defRPr>
            </a:lvl1pPr>
          </a:lstStyle>
          <a:p>
            <a:r>
              <a:rPr lang="en-US"/>
              <a:t>Click to edit Master subtitle style</a:t>
            </a:r>
          </a:p>
        </p:txBody>
      </p:sp>
      <p:sp>
        <p:nvSpPr>
          <p:cNvPr id="11" name="Title 1">
            <a:extLst>
              <a:ext uri="{FF2B5EF4-FFF2-40B4-BE49-F238E27FC236}">
                <a16:creationId xmlns:a16="http://schemas.microsoft.com/office/drawing/2014/main" id="{D2213D86-4B51-8516-15A9-97D89C71387F}"/>
              </a:ext>
            </a:extLst>
          </p:cNvPr>
          <p:cNvSpPr>
            <a:spLocks noGrp="1"/>
          </p:cNvSpPr>
          <p:nvPr>
            <p:ph type="title" hasCustomPrompt="1"/>
          </p:nvPr>
        </p:nvSpPr>
        <p:spPr>
          <a:xfrm>
            <a:off x="468489" y="773332"/>
            <a:ext cx="11205668" cy="667808"/>
          </a:xfrm>
        </p:spPr>
        <p:txBody>
          <a:bodyPr anchor="t">
            <a:normAutofit/>
          </a:bodyPr>
          <a:lstStyle>
            <a:lvl1pPr>
              <a:defRPr sz="2900" b="1">
                <a:solidFill>
                  <a:srgbClr val="005596"/>
                </a:solidFill>
                <a:latin typeface="Poppins" pitchFamily="2" charset="77"/>
                <a:cs typeface="Poppins" pitchFamily="2" charset="77"/>
              </a:defRPr>
            </a:lvl1pPr>
          </a:lstStyle>
          <a:p>
            <a:r>
              <a:rPr lang="en-US"/>
              <a:t>Click to edit master title style</a:t>
            </a:r>
            <a:endParaRPr lang="en-MX"/>
          </a:p>
        </p:txBody>
      </p:sp>
      <p:pic>
        <p:nvPicPr>
          <p:cNvPr id="12" name="Picture 11" descr="A blue text on a black background  Description automatically generated">
            <a:extLst>
              <a:ext uri="{FF2B5EF4-FFF2-40B4-BE49-F238E27FC236}">
                <a16:creationId xmlns:a16="http://schemas.microsoft.com/office/drawing/2014/main" id="{2E7BCEFA-1ECC-E8BC-1461-194A7F7EF28A}"/>
              </a:ext>
            </a:extLst>
          </p:cNvPr>
          <p:cNvPicPr>
            <a:picLocks noChangeAspect="1"/>
          </p:cNvPicPr>
          <p:nvPr userDrawn="1"/>
        </p:nvPicPr>
        <p:blipFill>
          <a:blip r:embed="rId4"/>
          <a:stretch>
            <a:fillRect/>
          </a:stretch>
        </p:blipFill>
        <p:spPr>
          <a:xfrm>
            <a:off x="10120654" y="366299"/>
            <a:ext cx="1893379" cy="718540"/>
          </a:xfrm>
          <a:prstGeom prst="rect">
            <a:avLst/>
          </a:prstGeom>
        </p:spPr>
      </p:pic>
    </p:spTree>
    <p:extLst>
      <p:ext uri="{BB962C8B-B14F-4D97-AF65-F5344CB8AC3E}">
        <p14:creationId xmlns:p14="http://schemas.microsoft.com/office/powerpoint/2010/main" val="1731854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F6F94E-5EC9-EDBD-17A2-64005DA36E15}"/>
              </a:ext>
            </a:extLst>
          </p:cNvPr>
          <p:cNvSpPr>
            <a:spLocks noGrp="1"/>
          </p:cNvSpPr>
          <p:nvPr>
            <p:ph type="title"/>
          </p:nvPr>
        </p:nvSpPr>
        <p:spPr/>
        <p:txBody>
          <a:bodyPr>
            <a:normAutofit/>
          </a:bodyPr>
          <a:lstStyle>
            <a:lvl1pPr>
              <a:defRPr sz="2900"/>
            </a:lvl1pPr>
          </a:lstStyle>
          <a:p>
            <a:r>
              <a:rPr lang="en-US"/>
              <a:t>Click to edit Master title style</a:t>
            </a:r>
            <a:endParaRPr lang="en-MX"/>
          </a:p>
        </p:txBody>
      </p:sp>
    </p:spTree>
    <p:extLst>
      <p:ext uri="{BB962C8B-B14F-4D97-AF65-F5344CB8AC3E}">
        <p14:creationId xmlns:p14="http://schemas.microsoft.com/office/powerpoint/2010/main" val="2110357207"/>
      </p:ext>
    </p:extLst>
  </p:cSld>
  <p:clrMapOvr>
    <a:masterClrMapping/>
  </p:clrMapOvr>
</p:sldLayout>
</file>

<file path=ppt/slideMasters/_rels/slideMaster1.xml.rels><?xml version="1.0" encoding="UTF-8"?><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5" name="Picture 4" descr="A blue and white background with circles  Description automatically generated">
            <a:extLst>
              <a:ext uri="{FF2B5EF4-FFF2-40B4-BE49-F238E27FC236}">
                <a16:creationId xmlns:a16="http://schemas.microsoft.com/office/drawing/2014/main" id="{22708DD8-7420-F55D-12C4-32866CC72D23}"/>
              </a:ext>
            </a:extLst>
          </p:cNvPr>
          <p:cNvPicPr>
            <a:picLocks noChangeAspect="1"/>
          </p:cNvPicPr>
          <p:nvPr userDrawn="1"/>
        </p:nvPicPr>
        <p:blipFill>
          <a:blip r:embed="rId9"/>
          <a:stretch>
            <a:fillRect/>
          </a:stretch>
        </p:blipFill>
        <p:spPr>
          <a:xfrm>
            <a:off x="0" y="0"/>
            <a:ext cx="12192000" cy="6858000"/>
          </a:xfrm>
          <a:prstGeom prst="rect">
            <a:avLst/>
          </a:prstGeom>
        </p:spPr>
      </p:pic>
      <p:sp>
        <p:nvSpPr>
          <p:cNvPr id="2" name="Title Placeholder 1">
            <a:extLst>
              <a:ext uri="{FF2B5EF4-FFF2-40B4-BE49-F238E27FC236}">
                <a16:creationId xmlns:a16="http://schemas.microsoft.com/office/drawing/2014/main" id="{6440EBC7-ADE3-F209-E554-2D41BB8DEF24}"/>
              </a:ext>
            </a:extLst>
          </p:cNvPr>
          <p:cNvSpPr>
            <a:spLocks noGrp="1"/>
          </p:cNvSpPr>
          <p:nvPr>
            <p:ph type="title"/>
          </p:nvPr>
        </p:nvSpPr>
        <p:spPr>
          <a:xfrm>
            <a:off x="838200" y="365126"/>
            <a:ext cx="10515600" cy="560564"/>
          </a:xfrm>
          <a:prstGeom prst="rect">
            <a:avLst/>
          </a:prstGeom>
        </p:spPr>
        <p:txBody>
          <a:bodyPr vert="horz" lIns="91440" tIns="45720" rIns="91440" bIns="45720" rtlCol="0" anchor="ctr">
            <a:normAutofit/>
          </a:bodyPr>
          <a:lstStyle/>
          <a:p>
            <a:r>
              <a:rPr lang="en-US"/>
              <a:t>Click to edit Master title style</a:t>
            </a:r>
            <a:endParaRPr lang="en-MX"/>
          </a:p>
        </p:txBody>
      </p:sp>
      <p:sp>
        <p:nvSpPr>
          <p:cNvPr id="9" name="Text Placeholder 8">
            <a:extLst>
              <a:ext uri="{FF2B5EF4-FFF2-40B4-BE49-F238E27FC236}">
                <a16:creationId xmlns:a16="http://schemas.microsoft.com/office/drawing/2014/main" id="{442D941F-3EA9-5B81-108F-188A61A1C6ED}"/>
              </a:ext>
            </a:extLst>
          </p:cNvPr>
          <p:cNvSpPr>
            <a:spLocks noGrp="1"/>
          </p:cNvSpPr>
          <p:nvPr>
            <p:ph type="body" idx="1"/>
          </p:nvPr>
        </p:nvSpPr>
        <p:spPr>
          <a:xfrm>
            <a:off x="838200" y="1290816"/>
            <a:ext cx="10515600" cy="48974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X"/>
          </a:p>
        </p:txBody>
      </p:sp>
      <p:cxnSp>
        <p:nvCxnSpPr>
          <p:cNvPr id="6" name="Straight Connector 5">
            <a:extLst>
              <a:ext uri="{FF2B5EF4-FFF2-40B4-BE49-F238E27FC236}">
                <a16:creationId xmlns:a16="http://schemas.microsoft.com/office/drawing/2014/main" id="{885246C9-67DA-6C7E-BE35-4C6A3271F174}"/>
              </a:ext>
            </a:extLst>
          </p:cNvPr>
          <p:cNvCxnSpPr>
            <a:cxnSpLocks/>
          </p:cNvCxnSpPr>
          <p:nvPr userDrawn="1"/>
        </p:nvCxnSpPr>
        <p:spPr>
          <a:xfrm flipH="1">
            <a:off x="826911" y="6394229"/>
            <a:ext cx="10526889" cy="0"/>
          </a:xfrm>
          <a:prstGeom prst="line">
            <a:avLst/>
          </a:prstGeom>
          <a:ln w="12700">
            <a:solidFill>
              <a:srgbClr val="A2BDC1"/>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6CC19694-A6F0-BA0A-2B27-AB1914034E5A}"/>
              </a:ext>
            </a:extLst>
          </p:cNvPr>
          <p:cNvSpPr txBox="1"/>
          <p:nvPr userDrawn="1"/>
        </p:nvSpPr>
        <p:spPr>
          <a:xfrm>
            <a:off x="838199" y="6448820"/>
            <a:ext cx="3882887" cy="246221"/>
          </a:xfrm>
          <a:prstGeom prst="rect">
            <a:avLst/>
          </a:prstGeom>
          <a:noFill/>
        </p:spPr>
        <p:txBody>
          <a:bodyPr wrap="square" rtlCol="0">
            <a:spAutoFit/>
          </a:bodyPr>
          <a:lstStyle/>
          <a:p>
            <a:r>
              <a:rPr lang="en-US" sz="1000" b="0" i="0">
                <a:solidFill>
                  <a:srgbClr val="A2BDC1"/>
                </a:solidFill>
                <a:latin typeface="Poppins Medium" pitchFamily="2" charset="77"/>
                <a:cs typeface="Poppins Medium" pitchFamily="2" charset="77"/>
              </a:rPr>
              <a:t>© 2025 Improving | All Rights Reserved</a:t>
            </a:r>
            <a:endParaRPr lang="en-MX" sz="1000" b="0" i="0">
              <a:solidFill>
                <a:srgbClr val="A2BDC1"/>
              </a:solidFill>
              <a:latin typeface="Poppins Medium" pitchFamily="2" charset="77"/>
              <a:cs typeface="Poppins Medium" pitchFamily="2" charset="77"/>
            </a:endParaRPr>
          </a:p>
        </p:txBody>
      </p:sp>
      <p:sp>
        <p:nvSpPr>
          <p:cNvPr id="10" name="TextBox 9">
            <a:extLst>
              <a:ext uri="{FF2B5EF4-FFF2-40B4-BE49-F238E27FC236}">
                <a16:creationId xmlns:a16="http://schemas.microsoft.com/office/drawing/2014/main" id="{0EE1052C-B58E-AB68-2C3D-C7C42F51B0E4}"/>
              </a:ext>
            </a:extLst>
          </p:cNvPr>
          <p:cNvSpPr txBox="1"/>
          <p:nvPr userDrawn="1"/>
        </p:nvSpPr>
        <p:spPr>
          <a:xfrm>
            <a:off x="11067344" y="6479823"/>
            <a:ext cx="572911" cy="276999"/>
          </a:xfrm>
          <a:prstGeom prst="rect">
            <a:avLst/>
          </a:prstGeom>
          <a:noFill/>
        </p:spPr>
        <p:txBody>
          <a:bodyPr wrap="square" rtlCol="0">
            <a:spAutoFit/>
          </a:bodyPr>
          <a:lstStyle/>
          <a:p>
            <a:fld id="{C3BB742A-9951-4A41-9B51-4F6023B7AEA7}" type="slidenum">
              <a:rPr lang="en-MX" sz="1200" b="1" i="0" smtClean="0">
                <a:solidFill>
                  <a:schemeClr val="bg2">
                    <a:lumMod val="75000"/>
                  </a:schemeClr>
                </a:solidFill>
                <a:latin typeface="Khula SemiBold" panose="02000000000000000000" pitchFamily="2" charset="0"/>
                <a:cs typeface="Khula SemiBold" panose="02000000000000000000" pitchFamily="2" charset="0"/>
              </a:rPr>
              <a:t>‹#›</a:t>
            </a:fld>
            <a:endParaRPr lang="en-MX" sz="1200" b="1" i="0">
              <a:solidFill>
                <a:schemeClr val="bg2">
                  <a:lumMod val="75000"/>
                </a:schemeClr>
              </a:solidFill>
              <a:latin typeface="Khula SemiBold" panose="02000000000000000000" pitchFamily="2" charset="0"/>
              <a:cs typeface="Khula SemiBold" panose="02000000000000000000" pitchFamily="2" charset="0"/>
            </a:endParaRPr>
          </a:p>
        </p:txBody>
      </p:sp>
    </p:spTree>
    <p:extLst>
      <p:ext uri="{BB962C8B-B14F-4D97-AF65-F5344CB8AC3E}">
        <p14:creationId xmlns:p14="http://schemas.microsoft.com/office/powerpoint/2010/main" val="360884763"/>
      </p:ext>
    </p:extLst>
  </p:cSld>
  <p:clrMap bg1="lt1" tx1="dk1" bg2="lt2" tx2="dk2" accent1="accent1" accent2="accent2" accent3="accent3" accent4="accent4" accent5="accent5" accent6="accent6" hlink="hlink" folHlink="folHlink"/>
  <p:sldLayoutIdLst>
    <p:sldLayoutId id="2147483649" r:id="rId1"/>
    <p:sldLayoutId id="2147483652" r:id="rId2"/>
    <p:sldLayoutId id="2147483651" r:id="rId3"/>
    <p:sldLayoutId id="2147483656" r:id="rId4"/>
    <p:sldLayoutId id="2147483654" r:id="rId5"/>
    <p:sldLayoutId id="2147483650" r:id="rId6"/>
    <p:sldLayoutId id="2147483659" r:id="rId7"/>
  </p:sldLayoutIdLst>
  <p:hf hdr="0" dt="0"/>
  <p:txStyles>
    <p:titleStyle>
      <a:lvl1pPr algn="l" defTabSz="914400" rtl="0" eaLnBrk="1" latinLnBrk="0" hangingPunct="1">
        <a:lnSpc>
          <a:spcPct val="90000"/>
        </a:lnSpc>
        <a:spcBef>
          <a:spcPct val="0"/>
        </a:spcBef>
        <a:buNone/>
        <a:defRPr sz="3200" b="1" i="0" kern="1200">
          <a:solidFill>
            <a:srgbClr val="005596"/>
          </a:solidFill>
          <a:latin typeface="Poppins" pitchFamily="2" charset="77"/>
          <a:ea typeface="+mj-ea"/>
          <a:cs typeface="Poppins" pitchFamily="2" charset="77"/>
        </a:defRPr>
      </a:lvl1pPr>
    </p:titleStyle>
    <p:bodyStyle>
      <a:lvl1pPr marL="0" indent="0" algn="l" defTabSz="914400" rtl="0" eaLnBrk="1" latinLnBrk="0" hangingPunct="1">
        <a:lnSpc>
          <a:spcPct val="90000"/>
        </a:lnSpc>
        <a:spcBef>
          <a:spcPts val="1000"/>
        </a:spcBef>
        <a:buFontTx/>
        <a:buNone/>
        <a:defRPr sz="1600" kern="1200">
          <a:solidFill>
            <a:schemeClr val="tx1">
              <a:lumMod val="95000"/>
              <a:lumOff val="5000"/>
            </a:schemeClr>
          </a:solidFill>
          <a:latin typeface="Khula" panose="02000000000000000000" pitchFamily="2" charset="0"/>
          <a:ea typeface="+mn-ea"/>
          <a:cs typeface="Khula" panose="02000000000000000000" pitchFamily="2" charset="0"/>
        </a:defRPr>
      </a:lvl1pPr>
      <a:lvl2pPr marL="457200" indent="0" algn="l" defTabSz="914400" rtl="0" eaLnBrk="1" latinLnBrk="0" hangingPunct="1">
        <a:lnSpc>
          <a:spcPct val="90000"/>
        </a:lnSpc>
        <a:spcBef>
          <a:spcPts val="500"/>
        </a:spcBef>
        <a:buFontTx/>
        <a:buNone/>
        <a:defRPr sz="1400" kern="1200">
          <a:solidFill>
            <a:schemeClr val="tx1">
              <a:lumMod val="95000"/>
              <a:lumOff val="5000"/>
            </a:schemeClr>
          </a:solidFill>
          <a:latin typeface="Khula" panose="02000000000000000000" pitchFamily="2" charset="0"/>
          <a:ea typeface="+mn-ea"/>
          <a:cs typeface="Khula" panose="02000000000000000000" pitchFamily="2" charset="0"/>
        </a:defRPr>
      </a:lvl2pPr>
      <a:lvl3pPr marL="914400" indent="0" algn="l" defTabSz="914400" rtl="0" eaLnBrk="1" latinLnBrk="0" hangingPunct="1">
        <a:lnSpc>
          <a:spcPct val="90000"/>
        </a:lnSpc>
        <a:spcBef>
          <a:spcPts val="500"/>
        </a:spcBef>
        <a:buFontTx/>
        <a:buNone/>
        <a:defRPr sz="1200" kern="1200">
          <a:solidFill>
            <a:schemeClr val="tx1">
              <a:lumMod val="95000"/>
              <a:lumOff val="5000"/>
            </a:schemeClr>
          </a:solidFill>
          <a:latin typeface="Khula" panose="02000000000000000000" pitchFamily="2" charset="0"/>
          <a:ea typeface="+mn-ea"/>
          <a:cs typeface="Khula" panose="02000000000000000000" pitchFamily="2" charset="0"/>
        </a:defRPr>
      </a:lvl3pPr>
      <a:lvl4pPr marL="1371600" indent="0" algn="l" defTabSz="914400" rtl="0" eaLnBrk="1" latinLnBrk="0" hangingPunct="1">
        <a:lnSpc>
          <a:spcPct val="90000"/>
        </a:lnSpc>
        <a:spcBef>
          <a:spcPts val="500"/>
        </a:spcBef>
        <a:buFontTx/>
        <a:buNone/>
        <a:defRPr sz="1100" kern="1200">
          <a:solidFill>
            <a:schemeClr val="tx1">
              <a:lumMod val="95000"/>
              <a:lumOff val="5000"/>
            </a:schemeClr>
          </a:solidFill>
          <a:latin typeface="Khula" panose="02000000000000000000" pitchFamily="2" charset="0"/>
          <a:ea typeface="+mn-ea"/>
          <a:cs typeface="Khula" panose="02000000000000000000" pitchFamily="2" charset="0"/>
        </a:defRPr>
      </a:lvl4pPr>
      <a:lvl5pPr marL="1828800" indent="0" algn="l" defTabSz="914400" rtl="0" eaLnBrk="1" latinLnBrk="0" hangingPunct="1">
        <a:lnSpc>
          <a:spcPct val="90000"/>
        </a:lnSpc>
        <a:spcBef>
          <a:spcPts val="500"/>
        </a:spcBef>
        <a:buFontTx/>
        <a:buNone/>
        <a:defRPr sz="1050" kern="1200">
          <a:solidFill>
            <a:schemeClr val="tx1">
              <a:lumMod val="95000"/>
              <a:lumOff val="5000"/>
            </a:schemeClr>
          </a:solidFill>
          <a:latin typeface="Khula" panose="02000000000000000000" pitchFamily="2" charset="0"/>
          <a:ea typeface="+mn-ea"/>
          <a:cs typeface="Khula"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43000"/>
            <a:ext cx="7315400" cy="1600000"/>
          </a:xfrm>
        </p:spPr>
        <p:txBody>
          <a:bodyPr/>
          <a:lstStyle/>
          <a:p>
            <a:pPr algn="l">
              <a:buNone/>
            </a:pPr>
            <a:r>
              <a:rPr lang="en-US" sz="5400" b="1" dirty="0">
                <a:solidFill>
                  <a:srgbClr val="003A6B"/>
                </a:solidFill>
                <a:latin typeface="Poppins Medium"/>
              </a:rPr>
              <a:t>Who We Are</a:t>
            </a:r>
          </a:p>
        </p:txBody>
      </p:sp>
      <p:sp>
        <p:nvSpPr>
          <p:cNvPr id="3" name="Subtitle 2"/>
          <p:cNvSpPr>
            <a:spLocks noGrp="1"/>
          </p:cNvSpPr>
          <p:nvPr>
            <p:ph idx="1"/>
          </p:nvPr>
        </p:nvSpPr>
        <p:spPr>
          <a:xfrm>
            <a:off x="457200" y="2800000"/>
            <a:ext cx="10000000" cy="3200000"/>
          </a:xfrm>
        </p:spPr>
        <p:txBody>
          <a:bodyPr/>
          <a:lstStyle/>
          <a:p>
            <a:pPr algn="l">
              <a:buNone/>
            </a:pPr>
            <a:r>
              <a:rPr lang="en-US" sz="2400" b="0" dirty="0">
                <a:solidFill>
                  <a:srgbClr val="FF9300"/>
                </a:solidFill>
                <a:latin typeface="Poppins"/>
              </a:rPr>
              <a:t>Built on trust. Grown through people.</a:t>
            </a:r>
          </a:p>
          <a:p>
            <a:pPr algn="l">
              <a:buNone/>
            </a:pPr>
            <a:endParaRPr lang="en-US" sz="1600" dirty="0">
              <a:solidFill>
                <a:srgbClr val="005596"/>
              </a:solidFill>
            </a:endParaRPr>
          </a:p>
          <a:p>
            <a:pPr algn="l">
              <a:buNone/>
            </a:pPr>
            <a:r>
              <a:rPr lang="en-US" sz="1800" dirty="0">
                <a:solidFill>
                  <a:srgbClr val="003A6B"/>
                </a:solidFill>
                <a:latin typeface="Poppins"/>
              </a:rPr>
              <a:t>Founded 2007  ·  2,400+ Improvers  ·  $300M+ Revenue  ·  20+ Offices</a:t>
            </a:r>
          </a:p>
          <a:p>
            <a:pPr algn="l">
              <a:buNone/>
            </a:pPr>
            <a:endParaRPr lang="en-US" sz="1200" dirty="0"/>
          </a:p>
          <a:p>
            <a:pPr algn="l">
              <a:buNone/>
            </a:pPr>
            <a:r>
              <a:rPr lang="en-US" sz="1600" dirty="0">
                <a:solidFill>
                  <a:srgbClr val="4597D3"/>
                </a:solidFill>
                <a:latin typeface="Poppins"/>
              </a:rPr>
              <a:t>Technology consulting built on people, purpose, and a belief that</a:t>
            </a:r>
          </a:p>
          <a:p>
            <a:pPr algn="l">
              <a:buNone/>
            </a:pPr>
            <a:r>
              <a:rPr lang="en-US" sz="1600" dirty="0">
                <a:solidFill>
                  <a:srgbClr val="4597D3"/>
                </a:solidFill>
                <a:latin typeface="Poppins"/>
              </a:rPr>
              <a:t>how you do business matters as much as what you build.</a:t>
            </a:r>
          </a:p>
        </p:txBody>
      </p:sp>
      <p:sp>
        <p:nvSpPr>
          <p:cNvPr id="10" name="AccentBar"/>
          <p:cNvSpPr>
            <a:spLocks noGrp="1"/>
          </p:cNvSpPr>
          <p:nvPr/>
        </p:nvSpPr>
        <p:spPr>
          <a:xfrm>
            <a:off x="457200" y="2550000"/>
            <a:ext cx="1600000" cy="80000"/>
          </a:xfrm>
          <a:prstGeom prst="rect">
            <a:avLst/>
          </a:prstGeom>
          <a:solidFill>
            <a:srgbClr val="FF9300"/>
          </a:solidFill>
          <a:ln>
            <a:noFill/>
          </a:ln>
        </p:spPr>
        <p:txBody>
          <a:bodyPr/>
          <a:lstStyle/>
          <a:p>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11277600" cy="900000"/>
          </a:xfrm>
        </p:spPr>
        <p:txBody>
          <a:bodyPr/>
          <a:lstStyle/>
          <a:p>
            <a:pPr algn="l">
              <a:buNone/>
            </a:pPr>
            <a:r>
              <a:rPr lang="en-US" sz="3600" b="1" dirty="0">
                <a:solidFill>
                  <a:srgbClr val="003A6B"/>
                </a:solidFill>
                <a:latin typeface="Poppins Medium"/>
              </a:rPr>
              <a:t>We’re Building Dallas</a:t>
            </a:r>
          </a:p>
        </p:txBody>
      </p:sp>
      <p:sp>
        <p:nvSpPr>
          <p:cNvPr id="3" name="LeftContent"/>
          <p:cNvSpPr>
            <a:spLocks noGrp="1"/>
          </p:cNvSpPr>
          <p:nvPr>
            <p:ph sz="quarter" idx="11"/>
          </p:nvPr>
        </p:nvSpPr>
        <p:spPr>
          <a:xfrm>
            <a:off x="457200" y="1371600"/>
            <a:ext cx="5486400" cy="4800000"/>
          </a:xfrm>
        </p:spPr>
        <p:txBody>
          <a:bodyPr/>
          <a:lstStyle/>
          <a:p>
            <a:pPr algn="l">
              <a:buNone/>
            </a:pPr>
            <a:r>
              <a:rPr lang="en-US" sz="1800" b="1" dirty="0">
                <a:solidFill>
                  <a:srgbClr val="FF9300"/>
                </a:solidFill>
                <a:latin typeface="Poppins Medium"/>
              </a:rPr>
              <a:t>Texas by the Numbers</a:t>
            </a:r>
          </a:p>
          <a:p>
            <a:pPr algn="l">
              <a:buNone/>
            </a:pPr>
            <a:endParaRPr lang="en-US" sz="1000" dirty="0"/>
          </a:p>
          <a:p>
            <a:pPr algn="l">
              <a:buNone/>
            </a:pPr>
            <a:r>
              <a:rPr lang="en-US" sz="3600" b="1" dirty="0">
                <a:solidFill>
                  <a:srgbClr val="4597D3"/>
                </a:solidFill>
                <a:latin typeface="Poppins Medium"/>
              </a:rPr>
              <a:t>#2</a:t>
            </a:r>
          </a:p>
          <a:p>
            <a:pPr algn="l">
              <a:buNone/>
            </a:pPr>
            <a:r>
              <a:rPr lang="en-US" sz="1400" dirty="0">
                <a:solidFill>
                  <a:srgbClr val="003A6B"/>
                </a:solidFill>
                <a:latin typeface="Poppins"/>
              </a:rPr>
              <a:t>State economy in the U.S.</a:t>
            </a:r>
          </a:p>
          <a:p>
            <a:pPr algn="l">
              <a:buNone/>
            </a:pPr>
            <a:endParaRPr lang="en-US" sz="1000" dirty="0"/>
          </a:p>
          <a:p>
            <a:pPr algn="l">
              <a:buNone/>
            </a:pPr>
            <a:r>
              <a:rPr lang="en-US" sz="3600" b="1" dirty="0">
                <a:solidFill>
                  <a:srgbClr val="4597D3"/>
                </a:solidFill>
                <a:latin typeface="Poppins Medium"/>
              </a:rPr>
              <a:t>$2.879T</a:t>
            </a:r>
          </a:p>
          <a:p>
            <a:pPr algn="l">
              <a:buNone/>
            </a:pPr>
            <a:r>
              <a:rPr lang="en-US" sz="1400" dirty="0">
                <a:solidFill>
                  <a:srgbClr val="003A6B"/>
                </a:solidFill>
                <a:latin typeface="Poppins"/>
              </a:rPr>
              <a:t>Texas GDP</a:t>
            </a:r>
          </a:p>
          <a:p>
            <a:pPr algn="l">
              <a:buNone/>
            </a:pPr>
            <a:endParaRPr lang="en-US" sz="1000" dirty="0"/>
          </a:p>
          <a:p>
            <a:pPr algn="l">
              <a:buNone/>
            </a:pPr>
            <a:r>
              <a:rPr lang="en-US" sz="3600" b="1" dirty="0">
                <a:solidFill>
                  <a:srgbClr val="4597D3"/>
                </a:solidFill>
                <a:latin typeface="Poppins Medium"/>
              </a:rPr>
              <a:t>6.8%</a:t>
            </a:r>
          </a:p>
          <a:p>
            <a:pPr algn="l">
              <a:buNone/>
            </a:pPr>
            <a:r>
              <a:rPr lang="en-US" sz="1400" dirty="0">
                <a:solidFill>
                  <a:srgbClr val="003A6B"/>
                </a:solidFill>
                <a:latin typeface="Poppins"/>
              </a:rPr>
              <a:t>GDP growth vs. 3.8% U.S. average</a:t>
            </a:r>
          </a:p>
        </p:txBody>
      </p:sp>
      <p:sp>
        <p:nvSpPr>
          <p:cNvPr id="4" name="RightContent"/>
          <p:cNvSpPr>
            <a:spLocks noGrp="1"/>
          </p:cNvSpPr>
          <p:nvPr>
            <p:ph sz="quarter" idx="12"/>
          </p:nvPr>
        </p:nvSpPr>
        <p:spPr>
          <a:xfrm>
            <a:off x="6248400" y="1371600"/>
            <a:ext cx="5486400" cy="4800000"/>
          </a:xfrm>
        </p:spPr>
        <p:txBody>
          <a:bodyPr/>
          <a:lstStyle/>
          <a:p>
            <a:pPr algn="l">
              <a:buNone/>
            </a:pPr>
            <a:r>
              <a:rPr lang="en-US" sz="1800" b="1" dirty="0">
                <a:solidFill>
                  <a:srgbClr val="FF9300"/>
                </a:solidFill>
                <a:latin typeface="Poppins Medium"/>
              </a:rPr>
              <a:t>One Texas Vision</a:t>
            </a:r>
          </a:p>
          <a:p>
            <a:pPr algn="l">
              <a:buNone/>
            </a:pPr>
            <a:endParaRPr lang="en-US" sz="1000" dirty="0"/>
          </a:p>
          <a:p>
            <a:pPr algn="l">
              <a:buNone/>
            </a:pPr>
            <a:r>
              <a:rPr lang="en-US" sz="1600" dirty="0">
                <a:solidFill>
                  <a:srgbClr val="003A6B"/>
                </a:solidFill>
                <a:latin typeface="Poppins"/>
              </a:rPr>
              <a:t>Improving’s Texas-wide strategy: align Dallas, Austin, and Houston as one coordinated market.</a:t>
            </a:r>
          </a:p>
          <a:p>
            <a:pPr algn="l">
              <a:buNone/>
            </a:pPr>
            <a:endParaRPr lang="en-US" sz="1000" dirty="0"/>
          </a:p>
          <a:p>
            <a:pPr algn="l">
              <a:buNone/>
            </a:pPr>
            <a:r>
              <a:rPr lang="en-US" sz="3600" b="1" dirty="0">
                <a:solidFill>
                  <a:srgbClr val="F5BB41"/>
                </a:solidFill>
                <a:latin typeface="Poppins Medium"/>
              </a:rPr>
              <a:t>$100M+</a:t>
            </a:r>
          </a:p>
          <a:p>
            <a:pPr algn="l">
              <a:buNone/>
            </a:pPr>
            <a:r>
              <a:rPr lang="en-US" sz="1400" dirty="0">
                <a:solidFill>
                  <a:srgbClr val="003A6B"/>
                </a:solidFill>
                <a:latin typeface="Poppins"/>
              </a:rPr>
              <a:t>Texas target by 2030</a:t>
            </a:r>
          </a:p>
          <a:p>
            <a:pPr algn="l">
              <a:buNone/>
            </a:pPr>
            <a:endParaRPr lang="en-US" sz="1000" dirty="0"/>
          </a:p>
          <a:p>
            <a:pPr algn="l">
              <a:buNone/>
            </a:pPr>
            <a:r>
              <a:rPr lang="en-US" sz="1600" dirty="0">
                <a:solidFill>
                  <a:srgbClr val="003A6B"/>
                </a:solidFill>
                <a:latin typeface="Poppins"/>
              </a:rPr>
              <a:t>We’re not just doing business in Dallas. We’re investing in it.</a:t>
            </a:r>
          </a:p>
        </p:txBody>
      </p:sp>
      <p:sp>
        <p:nvSpPr>
          <p:cNvPr id="10" name="Divider"/>
          <p:cNvSpPr>
            <a:spLocks noGrp="1"/>
          </p:cNvSpPr>
          <p:nvPr/>
        </p:nvSpPr>
        <p:spPr>
          <a:xfrm>
            <a:off x="5943600" y="1371600"/>
            <a:ext cx="60000" cy="4800000"/>
          </a:xfrm>
          <a:prstGeom prst="rect">
            <a:avLst/>
          </a:prstGeom>
          <a:solidFill>
            <a:srgbClr val="005596"/>
          </a:solidFill>
          <a:ln>
            <a:noFill/>
          </a:ln>
        </p:spPr>
        <p:txBody>
          <a:bodyPr/>
          <a:lstStyle/>
          <a:p>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50000"/>
            <a:ext cx="8229600" cy="800000"/>
          </a:xfrm>
        </p:spPr>
        <p:txBody>
          <a:bodyPr/>
          <a:lstStyle/>
          <a:p>
            <a:pPr algn="l">
              <a:buNone/>
            </a:pPr>
            <a:r>
              <a:rPr lang="en-US" sz="3600" b="1" dirty="0">
                <a:solidFill>
                  <a:srgbClr val="003A6B"/>
                </a:solidFill>
                <a:latin typeface="Poppins Medium"/>
              </a:rPr>
              <a:t>Why We Invest</a:t>
            </a:r>
          </a:p>
        </p:txBody>
      </p:sp>
      <p:sp>
        <p:nvSpPr>
          <p:cNvPr id="3" name="Body 2"/>
          <p:cNvSpPr>
            <a:spLocks noGrp="1"/>
          </p:cNvSpPr>
          <p:nvPr>
            <p:ph type="body" sz="quarter" idx="11"/>
          </p:nvPr>
        </p:nvSpPr>
        <p:spPr>
          <a:xfrm>
            <a:off x="457200" y="2050000"/>
            <a:ext cx="11277600" cy="4500000"/>
          </a:xfrm>
        </p:spPr>
        <p:txBody>
          <a:bodyPr/>
          <a:lstStyle/>
          <a:p>
            <a:pPr algn="l">
              <a:buNone/>
            </a:pPr>
            <a:r>
              <a:rPr lang="en-US" sz="1600" b="0" dirty="0">
                <a:solidFill>
                  <a:srgbClr val="F5BB41"/>
                </a:solidFill>
                <a:latin typeface="Poppins"/>
              </a:rPr>
              <a:t>Conscious Capitalism in Practice</a:t>
            </a:r>
          </a:p>
          <a:p>
            <a:pPr algn="l">
              <a:buNone/>
            </a:pPr>
            <a:endParaRPr lang="en-US" sz="800" dirty="0"/>
          </a:p>
          <a:p>
            <a:pPr algn="l">
              <a:buNone/>
            </a:pPr>
            <a:r>
              <a:rPr lang="en-US" sz="1800" b="1" dirty="0">
                <a:solidFill>
                  <a:srgbClr val="FF9300"/>
                </a:solidFill>
                <a:latin typeface="Poppins Medium"/>
              </a:rPr>
              <a:t>Higher Purpose</a:t>
            </a:r>
            <a:r>
              <a:rPr lang="en-US" sz="1800" dirty="0">
                <a:solidFill>
                  <a:srgbClr val="003A6B"/>
                </a:solidFill>
                <a:latin typeface="Poppins"/>
              </a:rPr>
              <a:t xml:space="preserve">  —  We exist to improve the companies, teams, and communities we work with.</a:t>
            </a:r>
          </a:p>
          <a:p>
            <a:pPr algn="l">
              <a:buNone/>
            </a:pPr>
            <a:endParaRPr lang="en-US" sz="800" dirty="0"/>
          </a:p>
          <a:p>
            <a:pPr algn="l">
              <a:buNone/>
            </a:pPr>
            <a:r>
              <a:rPr lang="en-US" sz="1800" b="1" dirty="0">
                <a:solidFill>
                  <a:srgbClr val="FF9300"/>
                </a:solidFill>
                <a:latin typeface="Poppins Medium"/>
              </a:rPr>
              <a:t>Stakeholder Model</a:t>
            </a:r>
            <a:r>
              <a:rPr lang="en-US" sz="1800" dirty="0">
                <a:solidFill>
                  <a:srgbClr val="003A6B"/>
                </a:solidFill>
                <a:latin typeface="Poppins"/>
              </a:rPr>
              <a:t xml:space="preserve">  —  Clients, Improvers, communities, and investors all matter equally.</a:t>
            </a:r>
          </a:p>
          <a:p>
            <a:pPr algn="l">
              <a:buNone/>
            </a:pPr>
            <a:endParaRPr lang="en-US" sz="800" dirty="0"/>
          </a:p>
          <a:p>
            <a:pPr algn="l">
              <a:buNone/>
            </a:pPr>
            <a:r>
              <a:rPr lang="en-US" sz="1800" b="1" dirty="0">
                <a:solidFill>
                  <a:srgbClr val="FF9300"/>
                </a:solidFill>
                <a:latin typeface="Poppins Medium"/>
              </a:rPr>
              <a:t>Conscious Culture</a:t>
            </a:r>
            <a:r>
              <a:rPr lang="en-US" sz="1800" dirty="0">
                <a:solidFill>
                  <a:srgbClr val="003A6B"/>
                </a:solidFill>
                <a:latin typeface="Poppins"/>
              </a:rPr>
              <a:t xml:space="preserve">  —  A high-trust environment where people can do the best work of their lives.</a:t>
            </a:r>
          </a:p>
          <a:p>
            <a:pPr algn="l">
              <a:buNone/>
            </a:pPr>
            <a:endParaRPr lang="en-US" sz="800" dirty="0"/>
          </a:p>
          <a:p>
            <a:pPr algn="l">
              <a:buNone/>
            </a:pPr>
            <a:r>
              <a:rPr lang="en-US" sz="1800" b="1" dirty="0">
                <a:solidFill>
                  <a:srgbClr val="FF9300"/>
                </a:solidFill>
                <a:latin typeface="Poppins Medium"/>
              </a:rPr>
              <a:t>Conscious Leadership</a:t>
            </a:r>
            <a:r>
              <a:rPr lang="en-US" sz="1800" dirty="0">
                <a:solidFill>
                  <a:srgbClr val="003A6B"/>
                </a:solidFill>
                <a:latin typeface="Poppins"/>
              </a:rPr>
              <a:t xml:space="preserve">  —  Leaders who serve the organization, not the other way around.</a:t>
            </a:r>
          </a:p>
          <a:p>
            <a:pPr algn="l">
              <a:buNone/>
            </a:pPr>
            <a:endParaRPr lang="en-US" sz="800" dirty="0"/>
          </a:p>
          <a:p>
            <a:pPr algn="l">
              <a:buNone/>
            </a:pPr>
            <a:r>
              <a:rPr lang="en-US" sz="1600" i="1" dirty="0">
                <a:solidFill>
                  <a:srgbClr val="005596"/>
                </a:solidFill>
                <a:latin typeface="Poppins"/>
              </a:rPr>
              <a:t>We measure success by more than margin.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11277600" cy="900000"/>
          </a:xfrm>
        </p:spPr>
        <p:txBody>
          <a:bodyPr/>
          <a:lstStyle/>
          <a:p>
            <a:pPr algn="l">
              <a:buNone/>
            </a:pPr>
            <a:r>
              <a:rPr lang="en-US" sz="3600" b="1" dirty="0">
                <a:solidFill>
                  <a:srgbClr val="003A6B"/>
                </a:solidFill>
                <a:latin typeface="Poppins Medium"/>
              </a:rPr>
              <a:t>Improving + DRC</a:t>
            </a:r>
          </a:p>
        </p:txBody>
      </p:sp>
      <p:sp>
        <p:nvSpPr>
          <p:cNvPr id="3" name="LeftContent"/>
          <p:cNvSpPr>
            <a:spLocks noGrp="1"/>
          </p:cNvSpPr>
          <p:nvPr>
            <p:ph sz="quarter" idx="11"/>
          </p:nvPr>
        </p:nvSpPr>
        <p:spPr>
          <a:xfrm>
            <a:off x="457200" y="1371600"/>
            <a:ext cx="5486400" cy="4800000"/>
          </a:xfrm>
        </p:spPr>
        <p:txBody>
          <a:bodyPr/>
          <a:lstStyle/>
          <a:p>
            <a:pPr algn="l">
              <a:buNone/>
            </a:pPr>
            <a:r>
              <a:rPr lang="en-US" sz="1800" b="1" dirty="0">
                <a:solidFill>
                  <a:srgbClr val="FF9300"/>
                </a:solidFill>
                <a:latin typeface="Poppins Medium"/>
              </a:rPr>
              <a:t>Dallas Performance</a:t>
            </a:r>
          </a:p>
          <a:p>
            <a:pPr algn="l">
              <a:buNone/>
            </a:pPr>
            <a:endParaRPr lang="en-US" sz="1000" dirty="0"/>
          </a:p>
          <a:p>
            <a:pPr algn="l">
              <a:buNone/>
            </a:pPr>
            <a:r>
              <a:rPr lang="en-US" sz="3200" b="1" dirty="0">
                <a:solidFill>
                  <a:srgbClr val="5BC2A7"/>
                </a:solidFill>
                <a:latin typeface="Poppins Medium"/>
              </a:rPr>
              <a:t>$3.1M</a:t>
            </a:r>
          </a:p>
          <a:p>
            <a:pPr algn="l">
              <a:buNone/>
            </a:pPr>
            <a:r>
              <a:rPr lang="en-US" sz="1400" dirty="0">
                <a:solidFill>
                  <a:srgbClr val="003A6B"/>
                </a:solidFill>
                <a:latin typeface="Poppins"/>
              </a:rPr>
              <a:t>Q1 2026 Revenue  ·  +3%  ·  101% of target</a:t>
            </a:r>
          </a:p>
          <a:p>
            <a:pPr algn="l">
              <a:buNone/>
            </a:pPr>
            <a:endParaRPr lang="en-US" sz="1000" dirty="0"/>
          </a:p>
          <a:p>
            <a:pPr algn="l">
              <a:buNone/>
            </a:pPr>
            <a:r>
              <a:rPr lang="en-US" sz="3200" b="1" dirty="0">
                <a:solidFill>
                  <a:srgbClr val="5BC2A7"/>
                </a:solidFill>
                <a:latin typeface="Poppins Medium"/>
              </a:rPr>
              <a:t>$21.6M</a:t>
            </a:r>
          </a:p>
          <a:p>
            <a:pPr algn="l">
              <a:buNone/>
            </a:pPr>
            <a:r>
              <a:rPr lang="en-US" sz="1400" dirty="0">
                <a:solidFill>
                  <a:srgbClr val="003A6B"/>
                </a:solidFill>
                <a:latin typeface="Poppins"/>
              </a:rPr>
              <a:t>Weighted 90-day pipeline</a:t>
            </a:r>
          </a:p>
        </p:txBody>
      </p:sp>
      <p:sp>
        <p:nvSpPr>
          <p:cNvPr id="4" name="RightContent"/>
          <p:cNvSpPr>
            <a:spLocks noGrp="1"/>
          </p:cNvSpPr>
          <p:nvPr>
            <p:ph sz="quarter" idx="12"/>
          </p:nvPr>
        </p:nvSpPr>
        <p:spPr>
          <a:xfrm>
            <a:off x="6248400" y="1371600"/>
            <a:ext cx="5486400" cy="4800000"/>
          </a:xfrm>
        </p:spPr>
        <p:txBody>
          <a:bodyPr/>
          <a:lstStyle/>
          <a:p>
            <a:pPr algn="l">
              <a:buNone/>
            </a:pPr>
            <a:r>
              <a:rPr lang="en-US" sz="1800" b="1" dirty="0">
                <a:solidFill>
                  <a:srgbClr val="FF9300"/>
                </a:solidFill>
                <a:latin typeface="Poppins Medium"/>
              </a:rPr>
              <a:t>DRC Community Engagement</a:t>
            </a:r>
          </a:p>
          <a:p>
            <a:pPr algn="l">
              <a:buNone/>
            </a:pPr>
            <a:endParaRPr lang="en-US" sz="1000" dirty="0"/>
          </a:p>
          <a:p>
            <a:pPr algn="l">
              <a:buNone/>
            </a:pPr>
            <a:r>
              <a:rPr lang="en-US" sz="1600" b="1" dirty="0">
                <a:solidFill>
                  <a:srgbClr val="F5BB41"/>
                </a:solidFill>
                <a:latin typeface="Poppins Medium"/>
              </a:rPr>
              <a:t>Tomorrow Fund Breakfast</a:t>
            </a:r>
          </a:p>
          <a:p>
            <a:pPr algn="l">
              <a:buNone/>
            </a:pPr>
            <a:r>
              <a:rPr lang="en-US" sz="1400" dirty="0">
                <a:solidFill>
                  <a:srgbClr val="003A6B"/>
                </a:solidFill>
                <a:latin typeface="Poppins"/>
              </a:rPr>
              <a:t>Prosperity &amp; Economic Development  ·  Talent &amp; Workforce</a:t>
            </a:r>
          </a:p>
          <a:p>
            <a:pPr algn="l">
              <a:buNone/>
            </a:pPr>
            <a:endParaRPr lang="en-US" sz="1000" dirty="0"/>
          </a:p>
          <a:p>
            <a:pPr algn="l">
              <a:buNone/>
            </a:pPr>
            <a:r>
              <a:rPr lang="en-US" sz="1600" b="1" dirty="0">
                <a:solidFill>
                  <a:srgbClr val="F5BB41"/>
                </a:solidFill>
                <a:latin typeface="Poppins Medium"/>
              </a:rPr>
              <a:t>Convergence AI Conference</a:t>
            </a:r>
          </a:p>
          <a:p>
            <a:pPr algn="l">
              <a:buNone/>
            </a:pPr>
            <a:r>
              <a:rPr lang="en-US" sz="1400" dirty="0">
                <a:solidFill>
                  <a:srgbClr val="003A6B"/>
                </a:solidFill>
                <a:latin typeface="Poppins"/>
              </a:rPr>
              <a:t>Presenting on AI adoption in the enterprise</a:t>
            </a:r>
          </a:p>
          <a:p>
            <a:pPr algn="l">
              <a:buNone/>
            </a:pPr>
            <a:endParaRPr lang="en-US" sz="1000" dirty="0"/>
          </a:p>
          <a:p>
            <a:pPr algn="l">
              <a:buNone/>
            </a:pPr>
            <a:r>
              <a:rPr lang="en-US" sz="1400" i="1" dirty="0">
                <a:solidFill>
                  <a:srgbClr val="003A6B"/>
                </a:solidFill>
                <a:latin typeface="Poppins"/>
              </a:rPr>
              <a:t>Aligned with Tomorrow Fund pillars: economic growth and talent development.</a:t>
            </a:r>
          </a:p>
        </p:txBody>
      </p:sp>
      <p:sp>
        <p:nvSpPr>
          <p:cNvPr id="10" name="Divider"/>
          <p:cNvSpPr>
            <a:spLocks noGrp="1"/>
          </p:cNvSpPr>
          <p:nvPr/>
        </p:nvSpPr>
        <p:spPr>
          <a:xfrm>
            <a:off x="5943600" y="1371600"/>
            <a:ext cx="60000" cy="4800000"/>
          </a:xfrm>
          <a:prstGeom prst="rect">
            <a:avLst/>
          </a:prstGeom>
          <a:solidFill>
            <a:srgbClr val="005596"/>
          </a:solidFill>
          <a:ln>
            <a:noFill/>
          </a:ln>
        </p:spPr>
        <p:txBody>
          <a:bodyPr/>
          <a:lstStyle/>
          <a:p>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371600"/>
            <a:ext cx="11277600" cy="1400000"/>
          </a:xfrm>
        </p:spPr>
        <p:txBody>
          <a:bodyPr/>
          <a:lstStyle/>
          <a:p>
            <a:pPr algn="l">
              <a:buNone/>
            </a:pPr>
            <a:r>
              <a:rPr lang="en-US" sz="5400" b="1" dirty="0">
                <a:solidFill>
                  <a:srgbClr val="003A6B"/>
                </a:solidFill>
                <a:latin typeface="Poppins Medium"/>
              </a:rPr>
              <a:t>Join Us</a:t>
            </a:r>
          </a:p>
        </p:txBody>
      </p:sp>
      <p:sp>
        <p:nvSpPr>
          <p:cNvPr id="3" name="Subtitle 2"/>
          <p:cNvSpPr>
            <a:spLocks noGrp="1"/>
          </p:cNvSpPr>
          <p:nvPr>
            <p:ph type="subTitle" idx="1"/>
          </p:nvPr>
        </p:nvSpPr>
        <p:spPr>
          <a:xfrm>
            <a:off x="457200" y="2900000"/>
            <a:ext cx="11277600" cy="2800000"/>
          </a:xfrm>
        </p:spPr>
        <p:txBody>
          <a:bodyPr/>
          <a:lstStyle/>
          <a:p>
            <a:pPr algn="l">
              <a:buNone/>
            </a:pPr>
            <a:r>
              <a:rPr lang="en-US" sz="2000" dirty="0">
                <a:solidFill>
                  <a:srgbClr val="FF9300"/>
                </a:solidFill>
                <a:latin typeface="Poppins"/>
              </a:rPr>
              <a:t>Partner with us. Build Dallas with us.</a:t>
            </a:r>
          </a:p>
          <a:p>
            <a:pPr algn="l">
              <a:buNone/>
            </a:pPr>
            <a:endParaRPr lang="en-US" sz="1400" dirty="0"/>
          </a:p>
          <a:p>
            <a:pPr algn="l">
              <a:buNone/>
            </a:pPr>
            <a:r>
              <a:rPr lang="en-US" sz="1800" dirty="0">
                <a:solidFill>
                  <a:srgbClr val="005596"/>
                </a:solidFill>
                <a:latin typeface="Poppins"/>
              </a:rPr>
              <a:t>Attend the next Conscious Capitalism Dallas chapter breakfast.</a:t>
            </a:r>
          </a:p>
          <a:p>
            <a:pPr algn="l">
              <a:buNone/>
            </a:pPr>
            <a:r>
              <a:rPr lang="en-US" sz="1800" dirty="0">
                <a:solidFill>
                  <a:srgbClr val="005596"/>
                </a:solidFill>
                <a:latin typeface="Poppins"/>
              </a:rPr>
              <a:t>Connect on LinkedIn or reach out directly.</a:t>
            </a:r>
          </a:p>
          <a:p>
            <a:pPr algn="l">
              <a:buNone/>
            </a:pPr>
            <a:endParaRPr lang="en-US" sz="1400" dirty="0"/>
          </a:p>
          <a:p>
            <a:pPr algn="l">
              <a:buNone/>
            </a:pPr>
            <a:r>
              <a:rPr lang="en-US" sz="1800" b="1" dirty="0">
                <a:solidFill>
                  <a:srgbClr val="4597D3"/>
                </a:solidFill>
                <a:latin typeface="Poppins"/>
              </a:rPr>
              <a:t>improving.com</a:t>
            </a:r>
          </a:p>
        </p:txBody>
      </p:sp>
      <p:sp>
        <p:nvSpPr>
          <p:cNvPr id="10" name="AccentBar"/>
          <p:cNvSpPr>
            <a:spLocks noGrp="1"/>
          </p:cNvSpPr>
          <p:nvPr/>
        </p:nvSpPr>
        <p:spPr>
          <a:xfrm>
            <a:off x="457200" y="1200000"/>
            <a:ext cx="2400000" cy="80000"/>
          </a:xfrm>
          <a:prstGeom prst="rect">
            <a:avLst/>
          </a:prstGeom>
          <a:solidFill>
            <a:srgbClr val="FF9300"/>
          </a:solidFill>
          <a:ln>
            <a:noFill/>
          </a:ln>
        </p:spPr>
        <p:txBody>
          <a:bodyPr/>
          <a:lstStyle/>
          <a:p>
            <a:endParaRPr/>
          </a:p>
        </p:txBody>
      </p:sp>
    </p:spTree>
  </p:cSld>
  <p:clrMapOvr>
    <a:masterClrMapping/>
  </p:clrMapOvr>
</p:sld>
</file>

<file path=ppt/theme/theme1.xml><?xml version="1.0" encoding="utf-8"?>
<a:theme xmlns:a="http://schemas.openxmlformats.org/drawingml/2006/main" name="Office Theme">
  <a:themeElements>
    <a:clrScheme name="Custom 1">
      <a:dk1>
        <a:srgbClr val="000000"/>
      </a:dk1>
      <a:lt1>
        <a:srgbClr val="FFFFFF"/>
      </a:lt1>
      <a:dk2>
        <a:srgbClr val="44546A"/>
      </a:dk2>
      <a:lt2>
        <a:srgbClr val="E7E6E6"/>
      </a:lt2>
      <a:accent1>
        <a:srgbClr val="4597D3"/>
      </a:accent1>
      <a:accent2>
        <a:srgbClr val="005596"/>
      </a:accent2>
      <a:accent3>
        <a:srgbClr val="FF9300"/>
      </a:accent3>
      <a:accent4>
        <a:srgbClr val="5BC2A7"/>
      </a:accent4>
      <a:accent5>
        <a:srgbClr val="606060"/>
      </a:accent5>
      <a:accent6>
        <a:srgbClr val="F5BB41"/>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tarter Preso Alternative Style NOV 2025  -  Read-Only" id="{C75AEAA9-E1D8-F344-8340-274BE91B507E}" vid="{C3CCE5E6-7A9A-5446-BD08-2616442BDB2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Relationships xmlns="http://schemas.openxmlformats.org/package/2006/relationships"><Relationship Id="rId1" Type="http://schemas.openxmlformats.org/officeDocument/2006/relationships/customXmlProps" Target="itemProps1.xml"/></Relationships>
</file>

<file path=customXml/_rels/item2.xml.rels><?xml version="1.0" encoding="UTF-8"?><Relationships xmlns="http://schemas.openxmlformats.org/package/2006/relationships"><Relationship Id="rId1" Type="http://schemas.openxmlformats.org/officeDocument/2006/relationships/customXmlProps" Target="itemProps2.xml"/></Relationships>
</file>

<file path=customXml/_rels/item3.xml.rels><?xml version="1.0" encoding="UTF-8"?><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ec7e3bb3-4c41-4ad0-bd22-cfcb83294da6" xsi:nil="true"/>
    <lcf76f155ced4ddcb4097134ff3c332f xmlns="3d5d3f08-0b2c-40bd-a435-45d6327d0872">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F341A843C3812949A5F6B27F5EC29832" ma:contentTypeVersion="11" ma:contentTypeDescription="Create a new document." ma:contentTypeScope="" ma:versionID="fccea7865305657c6d33b8297ef8721e">
  <xsd:schema xmlns:xsd="http://www.w3.org/2001/XMLSchema" xmlns:xs="http://www.w3.org/2001/XMLSchema" xmlns:p="http://schemas.microsoft.com/office/2006/metadata/properties" xmlns:ns2="3d5d3f08-0b2c-40bd-a435-45d6327d0872" xmlns:ns3="ec7e3bb3-4c41-4ad0-bd22-cfcb83294da6" targetNamespace="http://schemas.microsoft.com/office/2006/metadata/properties" ma:root="true" ma:fieldsID="b1b688b7a187d277d384d6935c342fce" ns2:_="" ns3:_="">
    <xsd:import namespace="3d5d3f08-0b2c-40bd-a435-45d6327d0872"/>
    <xsd:import namespace="ec7e3bb3-4c41-4ad0-bd22-cfcb83294da6"/>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SearchPropertie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d5d3f08-0b2c-40bd-a435-45d6327d087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03ec4b94-83e3-4fb0-b3dc-ba71559991ca"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c7e3bb3-4c41-4ad0-bd22-cfcb83294da6"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e3e68ec2-8d76-4b7e-b581-22361f85f192}" ma:internalName="TaxCatchAll" ma:showField="CatchAllData" ma:web="ec7e3bb3-4c41-4ad0-bd22-cfcb83294da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7C543CF-0F92-4A51-8218-B2652633BBF2}">
  <ds:schemaRefs>
    <ds:schemaRef ds:uri="http://schemas.microsoft.com/sharepoint/v3/contenttype/forms"/>
  </ds:schemaRefs>
</ds:datastoreItem>
</file>

<file path=customXml/itemProps2.xml><?xml version="1.0" encoding="utf-8"?>
<ds:datastoreItem xmlns:ds="http://schemas.openxmlformats.org/officeDocument/2006/customXml" ds:itemID="{2A8626FA-F6EA-4CDA-8867-F1196F51E595}">
  <ds:schemaRefs>
    <ds:schemaRef ds:uri="http://www.w3.org/XML/1998/namespace"/>
    <ds:schemaRef ds:uri="http://purl.org/dc/dcmitype/"/>
    <ds:schemaRef ds:uri="http://schemas.microsoft.com/office/2006/metadata/properties"/>
    <ds:schemaRef ds:uri="http://purl.org/dc/terms/"/>
    <ds:schemaRef ds:uri="3d5d3f08-0b2c-40bd-a435-45d6327d0872"/>
    <ds:schemaRef ds:uri="http://schemas.openxmlformats.org/package/2006/metadata/core-properties"/>
    <ds:schemaRef ds:uri="http://schemas.microsoft.com/office/2006/documentManagement/types"/>
    <ds:schemaRef ds:uri="http://schemas.microsoft.com/office/infopath/2007/PartnerControls"/>
    <ds:schemaRef ds:uri="ec7e3bb3-4c41-4ad0-bd22-cfcb83294da6"/>
    <ds:schemaRef ds:uri="http://purl.org/dc/elements/1.1/"/>
  </ds:schemaRefs>
</ds:datastoreItem>
</file>

<file path=customXml/itemProps3.xml><?xml version="1.0" encoding="utf-8"?>
<ds:datastoreItem xmlns:ds="http://schemas.openxmlformats.org/officeDocument/2006/customXml" ds:itemID="{05165C47-2263-4384-951D-23B8953ED93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d5d3f08-0b2c-40bd-a435-45d6327d0872"/>
    <ds:schemaRef ds:uri="ec7e3bb3-4c41-4ad0-bd22-cfcb83294da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TotalTime>6273</TotalTime>
  <Words>812</Words>
  <Application>Microsoft Macintosh PowerPoint</Application>
  <PresentationFormat>Widescreen</PresentationFormat>
  <Paragraphs>66</Paragraphs>
  <Slides>5</Slides>
  <Notes>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vt:i4>
      </vt:variant>
    </vt:vector>
  </HeadingPairs>
  <TitlesOfParts>
    <vt:vector size="12" baseType="lpstr">
      <vt:lpstr>Calibri</vt:lpstr>
      <vt:lpstr>Khula</vt:lpstr>
      <vt:lpstr>Arial</vt:lpstr>
      <vt:lpstr>Khula SemiBold</vt:lpstr>
      <vt:lpstr>Poppins</vt:lpstr>
      <vt:lpstr>Poppins Medium</vt:lpstr>
      <vt:lpstr>Office Theme</vt:lpstr>
      <vt:lpstr>Improving</vt:lpstr>
      <vt:lpstr>We’re Building Dallas</vt:lpstr>
      <vt:lpstr>PowerPoint Presentation</vt:lpstr>
      <vt:lpstr>Improving in Dallas: The Numbers</vt:lpstr>
      <vt:lpstr>Join Us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David O'Hara</dc:creator>
  <cp:lastModifiedBy>David O'Hara</cp:lastModifiedBy>
  <cp:revision>45</cp:revision>
  <dcterms:created xsi:type="dcterms:W3CDTF">2026-01-16T22:23:05Z</dcterms:created>
  <dcterms:modified xsi:type="dcterms:W3CDTF">2026-05-13T16:36:56Z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0x010100F341A843C3812949A5F6B27F5EC29832</vt:lpwstr>
  </property>
  <property fmtid="{D5CDD505-2E9C-101B-9397-08002B2CF9AE}" pid="3" name="MediaServiceImageTags">
    <vt:lpwstr/>
  </property>
</Properties>
</file>