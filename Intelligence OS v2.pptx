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52"/>
  </p:notesMasterIdLst>
  <p:handoutMasterIdLst>
    <p:handoutMasterId r:id="rId53"/>
  </p:handoutMasterIdLst>
  <p:sldIdLst>
    <p:sldId id="256" r:id="rId5"/>
    <p:sldId id="433" r:id="rId6"/>
    <p:sldId id="2147478910" r:id="rId69"/>
    <p:sldId id="435" r:id="rId7"/>
    <p:sldId id="2147478879" r:id="rId8"/>
    <p:sldId id="2147478881" r:id="rId9"/>
    <p:sldId id="2147478896" r:id="rId10"/>
    <p:sldId id="436" r:id="rId11"/>
    <p:sldId id="257" r:id="rId12"/>
    <p:sldId id="2147478911" r:id="rId70"/>
    <p:sldId id="286" r:id="rId13"/>
    <p:sldId id="258" r:id="rId14"/>
    <p:sldId id="259" r:id="rId15"/>
    <p:sldId id="260" r:id="rId16"/>
    <p:sldId id="261" r:id="rId17"/>
    <p:sldId id="262" r:id="rId18"/>
    <p:sldId id="263" r:id="rId19"/>
    <p:sldId id="264" r:id="rId20"/>
    <p:sldId id="2147478897" r:id="rId21"/>
    <p:sldId id="2147478898" r:id="rId22"/>
    <p:sldId id="2147478899" r:id="rId23"/>
    <p:sldId id="2147478900" r:id="rId24"/>
    <p:sldId id="2147478901" r:id="rId25"/>
    <p:sldId id="2147478902" r:id="rId26"/>
    <p:sldId id="2147478903" r:id="rId27"/>
    <p:sldId id="2147478904" r:id="rId28"/>
    <p:sldId id="2147478905" r:id="rId29"/>
    <p:sldId id="2147478906" r:id="rId30"/>
    <p:sldId id="2147478907" r:id="rId31"/>
    <p:sldId id="2147478908" r:id="rId32"/>
    <p:sldId id="2147478909" r:id="rId33"/>
    <p:sldId id="2147478912" r:id="rId71"/>
    <p:sldId id="265" r:id="rId34"/>
    <p:sldId id="266" r:id="rId35"/>
    <p:sldId id="267" r:id="rId36"/>
    <p:sldId id="2147478913" r:id="rId72"/>
    <p:sldId id="2147478914" r:id="rId73"/>
    <p:sldId id="2147478915" r:id="rId74"/>
    <p:sldId id="268" r:id="rId37"/>
    <p:sldId id="269" r:id="rId38"/>
    <p:sldId id="270" r:id="rId39"/>
    <p:sldId id="271" r:id="rId40"/>
    <p:sldId id="272" r:id="rId41"/>
    <p:sldId id="273" r:id="rId42"/>
    <p:sldId id="274" r:id="rId43"/>
    <p:sldId id="2147478916" r:id="rId75"/>
    <p:sldId id="275" r:id="rId44"/>
    <p:sldId id="276" r:id="rId45"/>
    <p:sldId id="277" r:id="rId46"/>
    <p:sldId id="2147478917" r:id="rId76"/>
    <p:sldId id="279" r:id="rId47"/>
    <p:sldId id="280" r:id="rId48"/>
    <p:sldId id="278" r:id="rId49"/>
    <p:sldId id="434" r:id="rId50"/>
    <p:sldId id="282" r:id="rId51"/>
  </p:sldIdLst>
  <p:sldSz cx="12192000" cy="6858000"/>
  <p:notesSz cx="6858000" cy="9144000"/>
  <p:embeddedFontLst>
    <p:embeddedFont>
      <p:font typeface="Khula" panose="02000000000000000000" pitchFamily="2" charset="0"/>
      <p:regular r:id="rId54"/>
      <p:bold r:id="rId55"/>
    </p:embeddedFont>
    <p:embeddedFont>
      <p:font typeface="Khula SemiBold" panose="02000000000000000000" pitchFamily="2" charset="0"/>
      <p:regular r:id="rId56"/>
      <p:bold r:id="rId57"/>
    </p:embeddedFont>
    <p:embeddedFont>
      <p:font typeface="Poppins" pitchFamily="2" charset="77"/>
      <p:regular r:id="rId58"/>
      <p:bold r:id="rId59"/>
      <p:italic r:id="rId60"/>
      <p:boldItalic r:id="rId61"/>
    </p:embeddedFont>
    <p:embeddedFont>
      <p:font typeface="Poppins Medium" panose="00000600000000000000" pitchFamily="2" charset="77"/>
      <p:regular r:id="rId62"/>
      <p:italic r:id="rId63"/>
    </p:embeddedFont>
  </p:embeddedFontLst>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87A5"/>
    <a:srgbClr val="0F9AA7"/>
    <a:srgbClr val="F4BD4D"/>
    <a:srgbClr val="F54D4E"/>
    <a:srgbClr val="F84C6D"/>
    <a:srgbClr val="1E5690"/>
    <a:srgbClr val="4597D3"/>
    <a:srgbClr val="8D338A"/>
    <a:srgbClr val="E2833C"/>
    <a:srgbClr val="5A9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EFBAA5-E9D4-7A47-9036-18BF6340E679}" v="17" dt="2026-02-11T14:13:16.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13"/>
    <p:restoredTop sz="94589"/>
  </p:normalViewPr>
  <p:slideViewPr>
    <p:cSldViewPr snapToGrid="0">
      <p:cViewPr varScale="1">
        <p:scale>
          <a:sx n="115" d="100"/>
          <a:sy n="115" d="100"/>
        </p:scale>
        <p:origin x="1040" y="20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notesMaster" Target="notesMasters/notesMaster1.xml"/><Relationship Id="rId53" Type="http://schemas.openxmlformats.org/officeDocument/2006/relationships/handoutMaster" Target="handoutMasters/handoutMaster1.xml"/><Relationship Id="rId54" Type="http://schemas.openxmlformats.org/officeDocument/2006/relationships/font" Target="fonts/font1.fntdata"/><Relationship Id="rId55" Type="http://schemas.openxmlformats.org/officeDocument/2006/relationships/font" Target="fonts/font2.fntdata"/><Relationship Id="rId56" Type="http://schemas.openxmlformats.org/officeDocument/2006/relationships/font" Target="fonts/font3.fntdata"/><Relationship Id="rId57" Type="http://schemas.openxmlformats.org/officeDocument/2006/relationships/font" Target="fonts/font4.fntdata"/><Relationship Id="rId58" Type="http://schemas.openxmlformats.org/officeDocument/2006/relationships/font" Target="fonts/font5.fntdata"/><Relationship Id="rId59" Type="http://schemas.openxmlformats.org/officeDocument/2006/relationships/font" Target="fonts/font6.fntdata"/><Relationship Id="rId60" Type="http://schemas.openxmlformats.org/officeDocument/2006/relationships/font" Target="fonts/font7.fntdata"/><Relationship Id="rId61" Type="http://schemas.openxmlformats.org/officeDocument/2006/relationships/font" Target="fonts/font8.fntdata"/><Relationship Id="rId62" Type="http://schemas.openxmlformats.org/officeDocument/2006/relationships/font" Target="fonts/font9.fntdata"/><Relationship Id="rId63" Type="http://schemas.openxmlformats.org/officeDocument/2006/relationships/font" Target="fonts/font10.fntdata"/><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microsoft.com/office/2015/10/relationships/revisionInfo" Target="revisionInfo.xml"/><Relationship Id="rId69" Type="http://schemas.openxmlformats.org/officeDocument/2006/relationships/slide" Target="slides/slide48.xml"/><Relationship Id="rId70" Type="http://schemas.openxmlformats.org/officeDocument/2006/relationships/slide" Target="slides/slide49.xml"/><Relationship Id="rId71" Type="http://schemas.openxmlformats.org/officeDocument/2006/relationships/slide" Target="slides/slide50.xml"/><Relationship Id="rId72" Type="http://schemas.openxmlformats.org/officeDocument/2006/relationships/slide" Target="slides/slide51.xml"/><Relationship Id="rId73" Type="http://schemas.openxmlformats.org/officeDocument/2006/relationships/slide" Target="slides/slide52.xml"/><Relationship Id="rId74" Type="http://schemas.openxmlformats.org/officeDocument/2006/relationships/slide" Target="slides/slide53.xml"/><Relationship Id="rId75" Type="http://schemas.openxmlformats.org/officeDocument/2006/relationships/slide" Target="slides/slide54.xml"/><Relationship Id="rId76" Type="http://schemas.openxmlformats.org/officeDocument/2006/relationships/slide" Target="slides/slide5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8282CA-E236-4614-036E-C5C0C936C6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E8B065F-4AF1-21F2-CF82-78658D8AD9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586793-C8A1-F947-908B-E0EDCF860903}" type="datetimeFigureOut">
              <a:rPr lang="en-US" smtClean="0"/>
              <a:t>2/12/26</a:t>
            </a:fld>
            <a:endParaRPr lang="en-US"/>
          </a:p>
        </p:txBody>
      </p:sp>
      <p:sp>
        <p:nvSpPr>
          <p:cNvPr id="4" name="Footer Placeholder 3">
            <a:extLst>
              <a:ext uri="{FF2B5EF4-FFF2-40B4-BE49-F238E27FC236}">
                <a16:creationId xmlns:a16="http://schemas.microsoft.com/office/drawing/2014/main" id="{178BE100-080F-43CA-3598-3B1AF4069C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843D58-784A-ABD4-14C2-E6339A9C0D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9651B8-9A00-AB4E-BE59-6952469B4ED5}" type="slidenum">
              <a:rPr lang="en-US" smtClean="0"/>
              <a:t>‹#›</a:t>
            </a:fld>
            <a:endParaRPr lang="en-US"/>
          </a:p>
        </p:txBody>
      </p:sp>
    </p:spTree>
    <p:extLst>
      <p:ext uri="{BB962C8B-B14F-4D97-AF65-F5344CB8AC3E}">
        <p14:creationId xmlns:p14="http://schemas.microsoft.com/office/powerpoint/2010/main" val="7888924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18E33-7982-7242-B011-19D9B39AC4BA}" type="datetimeFigureOut">
              <a:rPr lang="en-MX" smtClean="0"/>
              <a:t>2/12/26</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DEB2A5-DDCF-604F-A595-5664085F7F7D}" type="slidenum">
              <a:rPr lang="en-MX" smtClean="0"/>
              <a:t>‹#›</a:t>
            </a:fld>
            <a:endParaRPr lang="en-MX"/>
          </a:p>
        </p:txBody>
      </p:sp>
    </p:spTree>
    <p:extLst>
      <p:ext uri="{BB962C8B-B14F-4D97-AF65-F5344CB8AC3E}">
        <p14:creationId xmlns:p14="http://schemas.microsoft.com/office/powerpoint/2010/main" val="3787645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DEB2A5-DDCF-604F-A595-5664085F7F7D}" type="slidenum">
              <a:rPr lang="en-MX" smtClean="0"/>
              <a:t>2</a:t>
            </a:fld>
            <a:endParaRPr lang="en-MX"/>
          </a:p>
        </p:txBody>
      </p:sp>
    </p:spTree>
    <p:extLst>
      <p:ext uri="{BB962C8B-B14F-4D97-AF65-F5344CB8AC3E}">
        <p14:creationId xmlns:p14="http://schemas.microsoft.com/office/powerpoint/2010/main" val="2352511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 – the robots are coming for us (replacing ½ of accountants/lawyers)</a:t>
            </a:r>
          </a:p>
          <a:p>
            <a:r>
              <a:rPr lang="en-US" dirty="0"/>
              <a:t>This is showing training, which ultimately requires electricity. So this is the cost of electricity (9x increase since 2010)</a:t>
            </a:r>
          </a:p>
          <a:p>
            <a:r>
              <a:rPr lang="en-US" dirty="0"/>
              <a:t>We’ve all heard about the grid and the challenges we’ve had so far. There’s some interesting efforts to alleviate it (nuclear, etc.) but it’s still early and this could pan out.</a:t>
            </a:r>
          </a:p>
          <a:p>
            <a:r>
              <a:rPr lang="en-US" dirty="0"/>
              <a:t>The point that’s relevant for us today is that the best model we currently have took $750M to train &amp; datacenter cost $5B to house it</a:t>
            </a:r>
          </a:p>
          <a:p>
            <a:r>
              <a:rPr lang="en-US" dirty="0"/>
              <a:t>That’s capex – and you’re not one of the big boys in this game. You’re going to use one of them because you don’t want to sink the $5B</a:t>
            </a:r>
          </a:p>
        </p:txBody>
      </p:sp>
      <p:sp>
        <p:nvSpPr>
          <p:cNvPr id="4" name="Slide Number Placeholder 3"/>
          <p:cNvSpPr>
            <a:spLocks noGrp="1"/>
          </p:cNvSpPr>
          <p:nvPr>
            <p:ph type="sldNum" sz="quarter" idx="5"/>
          </p:nvPr>
        </p:nvSpPr>
        <p:spPr/>
        <p:txBody>
          <a:bodyPr/>
          <a:lstStyle/>
          <a:p>
            <a:fld id="{3BDEB2A5-DDCF-604F-A595-5664085F7F7D}" type="slidenum">
              <a:rPr lang="en-MX" smtClean="0"/>
              <a:t>4</a:t>
            </a:fld>
            <a:endParaRPr lang="en-MX"/>
          </a:p>
        </p:txBody>
      </p:sp>
    </p:spTree>
    <p:extLst>
      <p:ext uri="{BB962C8B-B14F-4D97-AF65-F5344CB8AC3E}">
        <p14:creationId xmlns:p14="http://schemas.microsoft.com/office/powerpoint/2010/main" val="3858334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of using them is dropping – whereas before this was majorly subsidized, optimizations, and progress have pulled this down.</a:t>
            </a:r>
          </a:p>
          <a:p>
            <a:r>
              <a:rPr lang="en-US" dirty="0"/>
              <a:t>We are seeing a normalizing towards about $30/</a:t>
            </a:r>
            <a:r>
              <a:rPr lang="en-US" dirty="0" err="1"/>
              <a:t>mo</a:t>
            </a:r>
            <a:r>
              <a:rPr lang="en-US" dirty="0"/>
              <a:t> for typical usage because of hardware advantages.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your op-ex - you’re going to pay for subs to tools because they need to pay off their cap-ex. Remember they sank over $5B into getting here and need to make their money back.</a:t>
            </a:r>
          </a:p>
        </p:txBody>
      </p:sp>
      <p:sp>
        <p:nvSpPr>
          <p:cNvPr id="4" name="Slide Number Placeholder 3"/>
          <p:cNvSpPr>
            <a:spLocks noGrp="1"/>
          </p:cNvSpPr>
          <p:nvPr>
            <p:ph type="sldNum" sz="quarter" idx="5"/>
          </p:nvPr>
        </p:nvSpPr>
        <p:spPr/>
        <p:txBody>
          <a:bodyPr/>
          <a:lstStyle/>
          <a:p>
            <a:fld id="{3BDEB2A5-DDCF-604F-A595-5664085F7F7D}" type="slidenum">
              <a:rPr lang="en-MX" smtClean="0"/>
              <a:t>5</a:t>
            </a:fld>
            <a:endParaRPr lang="en-MX"/>
          </a:p>
        </p:txBody>
      </p:sp>
    </p:spTree>
    <p:extLst>
      <p:ext uri="{BB962C8B-B14F-4D97-AF65-F5344CB8AC3E}">
        <p14:creationId xmlns:p14="http://schemas.microsoft.com/office/powerpoint/2010/main" val="3840257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Epoch AI is a great resource (you can lose days digging around in their stuff) and I’m going to pull out some of what I believe it most relevant.</a:t>
            </a:r>
          </a:p>
          <a:p>
            <a:r>
              <a:rPr lang="en-US" dirty="0"/>
              <a:t>Here’s what we are looking at: this graph is showing us what it would take across the 4 major factors to achieve the 2030 compute that’s projected</a:t>
            </a:r>
          </a:p>
          <a:p>
            <a:r>
              <a:rPr lang="en-US" dirty="0"/>
              <a:t>Far left: this is the power – we need about 10K times more</a:t>
            </a:r>
          </a:p>
          <a:p>
            <a:r>
              <a:rPr lang="en-US" dirty="0"/>
              <a:t>Chip capacity is next – about 50K times more</a:t>
            </a:r>
          </a:p>
          <a:p>
            <a:r>
              <a:rPr lang="en-US" dirty="0"/>
              <a:t>Data is a huge factor and we will need 80K times more – mind you this is from GPT-4 (not from start) so this means all those huge gains we’ve had so far aren’t part of the 80K</a:t>
            </a:r>
          </a:p>
          <a:p>
            <a:r>
              <a:rPr lang="en-US" dirty="0"/>
              <a:t>Latency wall – ok, this is an obtuse term but what it means is the speed with which we can process something. 1M times more means we are now talking about data transfers that exceed the speed of light</a:t>
            </a:r>
          </a:p>
        </p:txBody>
      </p:sp>
      <p:sp>
        <p:nvSpPr>
          <p:cNvPr id="4" name="Slide Number Placeholder 3"/>
          <p:cNvSpPr>
            <a:spLocks noGrp="1"/>
          </p:cNvSpPr>
          <p:nvPr>
            <p:ph type="sldNum" sz="quarter" idx="5"/>
          </p:nvPr>
        </p:nvSpPr>
        <p:spPr/>
        <p:txBody>
          <a:bodyPr/>
          <a:lstStyle/>
          <a:p>
            <a:fld id="{3BDEB2A5-DDCF-604F-A595-5664085F7F7D}" type="slidenum">
              <a:rPr lang="en-MX" smtClean="0"/>
              <a:t>6</a:t>
            </a:fld>
            <a:endParaRPr lang="en-MX"/>
          </a:p>
        </p:txBody>
      </p:sp>
    </p:spTree>
    <p:extLst>
      <p:ext uri="{BB962C8B-B14F-4D97-AF65-F5344CB8AC3E}">
        <p14:creationId xmlns:p14="http://schemas.microsoft.com/office/powerpoint/2010/main" val="3781386239"/>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PARTICIPATION BEAT #1: Give 2-3 minutes. Primes them for task-mapping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WINGMAN METAPHOR: Mental model for the entire deck. Everything after — governance, quality gates, landing zones — flows from this.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PARTICIPATION BEAT #2: 2-3 minutes. Grounds the abstract in their real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DEMAND-LIMITED FRAMEWORK from Workshop v6.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COLLAPSIBILITY from Workshop v6. Sets up the 2x2 matrix.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2x2 MATRIX from Workshop v6. Each quadrant = clear action.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IMPROVEMENT from Workshop v6. Concrete, actionable takeaway.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PARTICIPATION BEAT #3: Full circle. Give 3-5 minutes, then ask for volunteers.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incipal Title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6C00CA04-690D-0AD1-8D1C-4C56E0AB863E}"/>
              </a:ext>
            </a:extLst>
          </p:cNvPr>
          <p:cNvSpPr>
            <a:spLocks noGrp="1"/>
          </p:cNvSpPr>
          <p:nvPr>
            <p:ph type="title"/>
          </p:nvPr>
        </p:nvSpPr>
        <p:spPr>
          <a:xfrm>
            <a:off x="420756" y="804557"/>
            <a:ext cx="10515600" cy="560564"/>
          </a:xfrm>
          <a:prstGeom prst="rect">
            <a:avLst/>
          </a:prstGeom>
        </p:spPr>
        <p:txBody>
          <a:bodyPr vert="horz" lIns="91440" tIns="45720" rIns="91440" bIns="45720" rtlCol="0" anchor="ctr">
            <a:normAutofit/>
          </a:bodyPr>
          <a:lstStyle>
            <a:lvl1pPr>
              <a:defRPr sz="2900"/>
            </a:lvl1pPr>
          </a:lstStyle>
          <a:p>
            <a:r>
              <a:rPr lang="en-US"/>
              <a:t>Click to edit Master title style</a:t>
            </a:r>
            <a:endParaRPr lang="en-MX"/>
          </a:p>
        </p:txBody>
      </p:sp>
      <p:sp>
        <p:nvSpPr>
          <p:cNvPr id="7" name="Text Placeholder 8">
            <a:extLst>
              <a:ext uri="{FF2B5EF4-FFF2-40B4-BE49-F238E27FC236}">
                <a16:creationId xmlns:a16="http://schemas.microsoft.com/office/drawing/2014/main" id="{48D60278-F35A-892D-8A4D-EFFC764D68E0}"/>
              </a:ext>
            </a:extLst>
          </p:cNvPr>
          <p:cNvSpPr>
            <a:spLocks noGrp="1"/>
          </p:cNvSpPr>
          <p:nvPr>
            <p:ph idx="1"/>
          </p:nvPr>
        </p:nvSpPr>
        <p:spPr>
          <a:xfrm>
            <a:off x="420756" y="2156791"/>
            <a:ext cx="10515600" cy="4183802"/>
          </a:xfrm>
          <a:prstGeom prst="rect">
            <a:avLst/>
          </a:prstGeom>
        </p:spPr>
        <p:txBody>
          <a:bodyPr vert="horz" lIns="91440" tIns="45720" rIns="91440" bIns="45720" rtlCol="0">
            <a:normAutofit/>
          </a:bodyPr>
          <a:lstStyle>
            <a:lvl1pPr marL="285750" indent="-285750">
              <a:buFont typeface="Arial" panose="020B0604020202020204" pitchFamily="34" charset="0"/>
              <a:buChar char="•"/>
              <a:defRPr>
                <a:solidFill>
                  <a:schemeClr val="bg2">
                    <a:lumMod val="50000"/>
                  </a:schemeClr>
                </a:solidFill>
              </a:defRPr>
            </a:lvl1pPr>
            <a:lvl2pPr marL="742950" indent="-285750">
              <a:buFont typeface="Arial" panose="020B0604020202020204" pitchFamily="34" charset="0"/>
              <a:buChar char="•"/>
              <a:defRPr>
                <a:solidFill>
                  <a:schemeClr val="bg2">
                    <a:lumMod val="50000"/>
                  </a:schemeClr>
                </a:solidFill>
              </a:defRPr>
            </a:lvl2pPr>
            <a:lvl3pPr marL="1085850" indent="-171450">
              <a:buFont typeface="Arial" panose="020B0604020202020204" pitchFamily="34" charset="0"/>
              <a:buChar char="•"/>
              <a:defRPr>
                <a:solidFill>
                  <a:schemeClr val="bg2">
                    <a:lumMod val="50000"/>
                  </a:schemeClr>
                </a:solidFill>
              </a:defRPr>
            </a:lvl3pPr>
            <a:lvl4pPr marL="1543050" indent="-171450">
              <a:buFont typeface="Arial" panose="020B0604020202020204" pitchFamily="34" charset="0"/>
              <a:buChar char="•"/>
              <a:defRPr>
                <a:solidFill>
                  <a:schemeClr val="bg2">
                    <a:lumMod val="50000"/>
                  </a:schemeClr>
                </a:solidFill>
              </a:defRPr>
            </a:lvl4pPr>
            <a:lvl5pPr marL="2000250" indent="-171450">
              <a:buFont typeface="Arial" panose="020B0604020202020204" pitchFamily="34" charset="0"/>
              <a:buChar cha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pic>
        <p:nvPicPr>
          <p:cNvPr id="8" name="Picture 7" descr="A blue text on a black background&#10;&#10;Description automatically generated">
            <a:extLst>
              <a:ext uri="{FF2B5EF4-FFF2-40B4-BE49-F238E27FC236}">
                <a16:creationId xmlns:a16="http://schemas.microsoft.com/office/drawing/2014/main" id="{CC7A7323-8F54-C113-9E31-6A1C2F862ED3}"/>
              </a:ext>
            </a:extLst>
          </p:cNvPr>
          <p:cNvPicPr>
            <a:picLocks noChangeAspect="1"/>
          </p:cNvPicPr>
          <p:nvPr userDrawn="1"/>
        </p:nvPicPr>
        <p:blipFill>
          <a:blip r:embed="rId2"/>
          <a:stretch>
            <a:fillRect/>
          </a:stretch>
        </p:blipFill>
        <p:spPr>
          <a:xfrm>
            <a:off x="10120654" y="366299"/>
            <a:ext cx="1893379" cy="718540"/>
          </a:xfrm>
          <a:prstGeom prst="rect">
            <a:avLst/>
          </a:prstGeom>
        </p:spPr>
      </p:pic>
      <p:sp>
        <p:nvSpPr>
          <p:cNvPr id="9" name="Text Placeholder 6">
            <a:extLst>
              <a:ext uri="{FF2B5EF4-FFF2-40B4-BE49-F238E27FC236}">
                <a16:creationId xmlns:a16="http://schemas.microsoft.com/office/drawing/2014/main" id="{436CCBF4-4D6E-1F6C-0913-8D364923F0FB}"/>
              </a:ext>
            </a:extLst>
          </p:cNvPr>
          <p:cNvSpPr>
            <a:spLocks noGrp="1"/>
          </p:cNvSpPr>
          <p:nvPr>
            <p:ph type="body" sz="quarter" idx="11" hasCustomPrompt="1"/>
          </p:nvPr>
        </p:nvSpPr>
        <p:spPr>
          <a:xfrm>
            <a:off x="420756" y="1470069"/>
            <a:ext cx="10515600" cy="560564"/>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3644819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te Page">
    <p:spTree>
      <p:nvGrpSpPr>
        <p:cNvPr id="1" name=""/>
        <p:cNvGrpSpPr/>
        <p:nvPr/>
      </p:nvGrpSpPr>
      <p:grpSpPr>
        <a:xfrm>
          <a:off x="0" y="0"/>
          <a:ext cx="0" cy="0"/>
          <a:chOff x="0" y="0"/>
          <a:chExt cx="0" cy="0"/>
        </a:xfrm>
      </p:grpSpPr>
      <p:pic>
        <p:nvPicPr>
          <p:cNvPr id="3" name="Picture 2" descr="A blue and green gradient&#10;&#10;AI-generated content may be incorrect.">
            <a:extLst>
              <a:ext uri="{FF2B5EF4-FFF2-40B4-BE49-F238E27FC236}">
                <a16:creationId xmlns:a16="http://schemas.microsoft.com/office/drawing/2014/main" id="{B54EA83D-4D5E-3896-4C53-82E729DDBD2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Picture 3" descr="A black background with white text&#10;&#10;AI-generated content may be incorrect.">
            <a:extLst>
              <a:ext uri="{FF2B5EF4-FFF2-40B4-BE49-F238E27FC236}">
                <a16:creationId xmlns:a16="http://schemas.microsoft.com/office/drawing/2014/main" id="{0EF929EA-F9C6-25ED-3C68-FD4CD9D13B8C}"/>
              </a:ext>
            </a:extLst>
          </p:cNvPr>
          <p:cNvPicPr>
            <a:picLocks noChangeAspect="1"/>
          </p:cNvPicPr>
          <p:nvPr userDrawn="1"/>
        </p:nvPicPr>
        <p:blipFill>
          <a:blip r:embed="rId3"/>
          <a:stretch>
            <a:fillRect/>
          </a:stretch>
        </p:blipFill>
        <p:spPr>
          <a:xfrm>
            <a:off x="9849913" y="300735"/>
            <a:ext cx="2190011" cy="723600"/>
          </a:xfrm>
          <a:prstGeom prst="rect">
            <a:avLst/>
          </a:prstGeom>
        </p:spPr>
      </p:pic>
      <p:sp>
        <p:nvSpPr>
          <p:cNvPr id="2" name="Title 1">
            <a:extLst>
              <a:ext uri="{FF2B5EF4-FFF2-40B4-BE49-F238E27FC236}">
                <a16:creationId xmlns:a16="http://schemas.microsoft.com/office/drawing/2014/main" id="{155A03D7-0C8A-2FF8-DD55-E44EF7754A2A}"/>
              </a:ext>
            </a:extLst>
          </p:cNvPr>
          <p:cNvSpPr>
            <a:spLocks noGrp="1"/>
          </p:cNvSpPr>
          <p:nvPr>
            <p:ph type="title"/>
          </p:nvPr>
        </p:nvSpPr>
        <p:spPr>
          <a:xfrm>
            <a:off x="705913" y="2933878"/>
            <a:ext cx="10515600" cy="508001"/>
          </a:xfrm>
        </p:spPr>
        <p:txBody>
          <a:bodyPr>
            <a:normAutofit/>
          </a:bodyPr>
          <a:lstStyle>
            <a:lvl1pPr>
              <a:defRPr sz="2800">
                <a:solidFill>
                  <a:schemeClr val="bg1"/>
                </a:solidFill>
                <a:latin typeface="Poppins" pitchFamily="2" charset="77"/>
                <a:cs typeface="Poppins" pitchFamily="2" charset="77"/>
              </a:defRPr>
            </a:lvl1pPr>
          </a:lstStyle>
          <a:p>
            <a:r>
              <a:rPr lang="en-US"/>
              <a:t>Click to edit Master title style</a:t>
            </a:r>
            <a:endParaRPr lang="en-MX"/>
          </a:p>
        </p:txBody>
      </p:sp>
      <p:sp>
        <p:nvSpPr>
          <p:cNvPr id="11" name="Subtitle 2">
            <a:extLst>
              <a:ext uri="{FF2B5EF4-FFF2-40B4-BE49-F238E27FC236}">
                <a16:creationId xmlns:a16="http://schemas.microsoft.com/office/drawing/2014/main" id="{06160FDB-07E2-9B48-493B-80748EBAF3CC}"/>
              </a:ext>
            </a:extLst>
          </p:cNvPr>
          <p:cNvSpPr>
            <a:spLocks noGrp="1"/>
          </p:cNvSpPr>
          <p:nvPr>
            <p:ph type="subTitle" idx="1"/>
          </p:nvPr>
        </p:nvSpPr>
        <p:spPr>
          <a:xfrm>
            <a:off x="705913" y="3429000"/>
            <a:ext cx="9144000" cy="528370"/>
          </a:xfrm>
          <a:prstGeom prst="rect">
            <a:avLst/>
          </a:prstGeom>
        </p:spPr>
        <p:txBody>
          <a:bodyPr>
            <a:normAutofit/>
          </a:bodyPr>
          <a:lstStyle>
            <a:lvl1pPr marL="0" indent="0" algn="l">
              <a:buNone/>
              <a:defRPr sz="2000" b="0" i="0">
                <a:solidFill>
                  <a:schemeClr val="bg1"/>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cxnSp>
        <p:nvCxnSpPr>
          <p:cNvPr id="6" name="Straight Connector 5">
            <a:extLst>
              <a:ext uri="{FF2B5EF4-FFF2-40B4-BE49-F238E27FC236}">
                <a16:creationId xmlns:a16="http://schemas.microsoft.com/office/drawing/2014/main" id="{75948496-729F-47D0-0AA1-AEE439E24A68}"/>
              </a:ext>
            </a:extLst>
          </p:cNvPr>
          <p:cNvCxnSpPr>
            <a:cxnSpLocks/>
          </p:cNvCxnSpPr>
          <p:nvPr userDrawn="1"/>
        </p:nvCxnSpPr>
        <p:spPr>
          <a:xfrm flipH="1">
            <a:off x="826911" y="6394229"/>
            <a:ext cx="1052688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8B050FF-2D15-ED50-850B-3375A58843E7}"/>
              </a:ext>
            </a:extLst>
          </p:cNvPr>
          <p:cNvSpPr txBox="1"/>
          <p:nvPr userDrawn="1"/>
        </p:nvSpPr>
        <p:spPr>
          <a:xfrm>
            <a:off x="838199" y="6448820"/>
            <a:ext cx="3882887" cy="246221"/>
          </a:xfrm>
          <a:prstGeom prst="rect">
            <a:avLst/>
          </a:prstGeom>
          <a:noFill/>
        </p:spPr>
        <p:txBody>
          <a:bodyPr wrap="square" rtlCol="0">
            <a:spAutoFit/>
          </a:bodyPr>
          <a:lstStyle/>
          <a:p>
            <a:r>
              <a:rPr lang="en-US" sz="1000" b="0" i="0">
                <a:solidFill>
                  <a:schemeClr val="bg1"/>
                </a:solidFill>
                <a:latin typeface="Poppins Medium" pitchFamily="2" charset="77"/>
                <a:cs typeface="Poppins Medium" pitchFamily="2" charset="77"/>
              </a:rPr>
              <a:t>© 2025 Improving | All Rights Reserved</a:t>
            </a:r>
            <a:endParaRPr lang="en-MX" sz="1000" b="0" i="0">
              <a:solidFill>
                <a:schemeClr val="bg1"/>
              </a:solidFill>
              <a:latin typeface="Poppins Medium" pitchFamily="2" charset="77"/>
              <a:cs typeface="Poppins Medium" pitchFamily="2" charset="77"/>
            </a:endParaRPr>
          </a:p>
        </p:txBody>
      </p:sp>
      <p:sp>
        <p:nvSpPr>
          <p:cNvPr id="8" name="TextBox 7">
            <a:extLst>
              <a:ext uri="{FF2B5EF4-FFF2-40B4-BE49-F238E27FC236}">
                <a16:creationId xmlns:a16="http://schemas.microsoft.com/office/drawing/2014/main" id="{4A379795-4F47-802C-2A87-EE8B8DCB0543}"/>
              </a:ext>
            </a:extLst>
          </p:cNvPr>
          <p:cNvSpPr txBox="1"/>
          <p:nvPr userDrawn="1"/>
        </p:nvSpPr>
        <p:spPr>
          <a:xfrm>
            <a:off x="11067344" y="6479823"/>
            <a:ext cx="572911" cy="276999"/>
          </a:xfrm>
          <a:prstGeom prst="rect">
            <a:avLst/>
          </a:prstGeom>
          <a:noFill/>
        </p:spPr>
        <p:txBody>
          <a:bodyPr wrap="square" rtlCol="0">
            <a:spAutoFit/>
          </a:bodyPr>
          <a:lstStyle/>
          <a:p>
            <a:fld id="{C3BB742A-9951-4A41-9B51-4F6023B7AEA7}" type="slidenum">
              <a:rPr lang="en-MX" sz="1200" b="1" i="0" smtClean="0">
                <a:solidFill>
                  <a:schemeClr val="bg1"/>
                </a:solidFill>
                <a:latin typeface="Khula SemiBold" panose="02000000000000000000" pitchFamily="2" charset="0"/>
                <a:cs typeface="Khula SemiBold" panose="02000000000000000000" pitchFamily="2" charset="0"/>
              </a:rPr>
              <a:t>‹#›</a:t>
            </a:fld>
            <a:endParaRPr lang="en-MX" sz="1200" b="1" i="0">
              <a:solidFill>
                <a:schemeClr val="bg1"/>
              </a:solidFill>
              <a:latin typeface="Khula SemiBold" panose="02000000000000000000" pitchFamily="2" charset="0"/>
              <a:cs typeface="Khula SemiBold" panose="02000000000000000000" pitchFamily="2" charset="0"/>
            </a:endParaRPr>
          </a:p>
        </p:txBody>
      </p:sp>
    </p:spTree>
    <p:extLst>
      <p:ext uri="{BB962C8B-B14F-4D97-AF65-F5344CB8AC3E}">
        <p14:creationId xmlns:p14="http://schemas.microsoft.com/office/powerpoint/2010/main" val="385183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lgn="r">
              <a:defRPr sz="29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885244"/>
            <a:ext cx="11206162" cy="3999619"/>
          </a:xfrm>
          <a:prstGeom prst="rect">
            <a:avLst/>
          </a:prstGeom>
        </p:spPr>
        <p:txBody>
          <a:bodyPr>
            <a:normAutofit/>
          </a:bodyPr>
          <a:lstStyle>
            <a:lvl1pPr marL="285750" indent="-285750">
              <a:buFont typeface="Arial" panose="020B0604020202020204" pitchFamily="34" charset="0"/>
              <a:buChar char="•"/>
              <a:defRPr sz="1400">
                <a:solidFill>
                  <a:schemeClr val="bg2">
                    <a:lumMod val="50000"/>
                  </a:schemeClr>
                </a:solidFill>
                <a:latin typeface="Khula" panose="02000000000000000000" pitchFamily="2" charset="0"/>
                <a:cs typeface="Khula" panose="02000000000000000000" pitchFamily="2" charset="0"/>
              </a:defRPr>
            </a:lvl1pPr>
          </a:lstStyle>
          <a:p>
            <a:pPr lvl="0"/>
            <a:r>
              <a:rPr lang="en-US"/>
              <a:t>Click to edit Master text styles</a:t>
            </a:r>
          </a:p>
        </p:txBody>
      </p:sp>
      <p:sp>
        <p:nvSpPr>
          <p:cNvPr id="7" name="Text Placeholder 6">
            <a:extLst>
              <a:ext uri="{FF2B5EF4-FFF2-40B4-BE49-F238E27FC236}">
                <a16:creationId xmlns:a16="http://schemas.microsoft.com/office/drawing/2014/main" id="{8B772F0C-A603-1AAE-F130-CB75D94E66CB}"/>
              </a:ext>
            </a:extLst>
          </p:cNvPr>
          <p:cNvSpPr>
            <a:spLocks noGrp="1"/>
          </p:cNvSpPr>
          <p:nvPr>
            <p:ph type="body" sz="quarter" idx="11"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pic>
        <p:nvPicPr>
          <p:cNvPr id="3" name="Picture 2" descr="A blue text on a black background&#10;&#10;Description automatically generated">
            <a:extLst>
              <a:ext uri="{FF2B5EF4-FFF2-40B4-BE49-F238E27FC236}">
                <a16:creationId xmlns:a16="http://schemas.microsoft.com/office/drawing/2014/main" id="{EFDB8958-F2C7-FD28-BC39-C75A7F900E95}"/>
              </a:ext>
            </a:extLst>
          </p:cNvPr>
          <p:cNvPicPr>
            <a:picLocks noChangeAspect="1"/>
          </p:cNvPicPr>
          <p:nvPr userDrawn="1"/>
        </p:nvPicPr>
        <p:blipFill>
          <a:blip r:embed="rId2"/>
          <a:stretch>
            <a:fillRect/>
          </a:stretch>
        </p:blipFill>
        <p:spPr>
          <a:xfrm>
            <a:off x="340549" y="366299"/>
            <a:ext cx="1893379" cy="718540"/>
          </a:xfrm>
          <a:prstGeom prst="rect">
            <a:avLst/>
          </a:prstGeom>
        </p:spPr>
      </p:pic>
    </p:spTree>
    <p:extLst>
      <p:ext uri="{BB962C8B-B14F-4D97-AF65-F5344CB8AC3E}">
        <p14:creationId xmlns:p14="http://schemas.microsoft.com/office/powerpoint/2010/main" val="2697968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55022" cy="667808"/>
          </a:xfrm>
        </p:spPr>
        <p:txBody>
          <a:bodyPr anchor="b">
            <a:normAutofit/>
          </a:bodyPr>
          <a:lstStyle>
            <a:lvl1pPr>
              <a:defRPr sz="29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marL="285750" indent="-285750">
              <a:buFont typeface="Arial" panose="020B0604020202020204" pitchFamily="34" charset="0"/>
              <a:buChar char="•"/>
              <a:defRPr sz="1400">
                <a:solidFill>
                  <a:schemeClr val="bg2">
                    <a:lumMod val="50000"/>
                  </a:schemeClr>
                </a:solidFill>
              </a:defRPr>
            </a:lvl1pPr>
            <a:lvl2pPr>
              <a:defRPr sz="1400"/>
            </a:lvl2pPr>
            <a:lvl3pPr>
              <a:defRPr sz="1400"/>
            </a:lvl3pPr>
            <a:lvl4pPr>
              <a:defRPr sz="1400"/>
            </a:lvl4pPr>
            <a:lvl5pPr>
              <a:defRPr sz="1400"/>
            </a:lvl5pPr>
          </a:lstStyle>
          <a:p>
            <a:pPr lvl="0"/>
            <a:r>
              <a:rPr lang="en-US"/>
              <a:t>Click to edit Master text styles</a:t>
            </a:r>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743240"/>
            <a:ext cx="5394960" cy="4194467"/>
          </a:xfrm>
          <a:prstGeom prst="rect">
            <a:avLst/>
          </a:prstGeom>
        </p:spPr>
        <p:txBody>
          <a:bodyPr>
            <a:normAutofit/>
          </a:bodyPr>
          <a:lstStyle>
            <a:lvl1pPr marL="285750" indent="-285750">
              <a:buFont typeface="Arial" panose="020B0604020202020204" pitchFamily="34" charset="0"/>
              <a:buChar char="•"/>
              <a:defRPr sz="1400">
                <a:solidFill>
                  <a:schemeClr val="bg2">
                    <a:lumMod val="50000"/>
                  </a:schemeClr>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ext Placeholder 6">
            <a:extLst>
              <a:ext uri="{FF2B5EF4-FFF2-40B4-BE49-F238E27FC236}">
                <a16:creationId xmlns:a16="http://schemas.microsoft.com/office/drawing/2014/main" id="{BE8B51DB-C770-DED1-2745-73661B76F888}"/>
              </a:ext>
            </a:extLst>
          </p:cNvPr>
          <p:cNvSpPr>
            <a:spLocks noGrp="1"/>
          </p:cNvSpPr>
          <p:nvPr>
            <p:ph type="body" sz="quarter" idx="13"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pic>
        <p:nvPicPr>
          <p:cNvPr id="4" name="Picture 3" descr="A blue text on a black background&#10;&#10;Description automatically generated">
            <a:extLst>
              <a:ext uri="{FF2B5EF4-FFF2-40B4-BE49-F238E27FC236}">
                <a16:creationId xmlns:a16="http://schemas.microsoft.com/office/drawing/2014/main" id="{2AAFFD30-7418-5FB2-1CEC-3BCDEA5FE100}"/>
              </a:ext>
            </a:extLst>
          </p:cNvPr>
          <p:cNvPicPr>
            <a:picLocks noChangeAspect="1"/>
          </p:cNvPicPr>
          <p:nvPr userDrawn="1"/>
        </p:nvPicPr>
        <p:blipFill>
          <a:blip r:embed="rId2"/>
          <a:stretch>
            <a:fillRect/>
          </a:stretch>
        </p:blipFill>
        <p:spPr>
          <a:xfrm>
            <a:off x="10120654" y="366299"/>
            <a:ext cx="1893379" cy="718540"/>
          </a:xfrm>
          <a:prstGeom prst="rect">
            <a:avLst/>
          </a:prstGeom>
        </p:spPr>
      </p:pic>
    </p:spTree>
    <p:extLst>
      <p:ext uri="{BB962C8B-B14F-4D97-AF65-F5344CB8AC3E}">
        <p14:creationId xmlns:p14="http://schemas.microsoft.com/office/powerpoint/2010/main" val="3460269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D562C5F-11BC-838C-96DD-BF84E16B5293}"/>
              </a:ext>
            </a:extLst>
          </p:cNvPr>
          <p:cNvSpPr>
            <a:spLocks noGrp="1"/>
          </p:cNvSpPr>
          <p:nvPr>
            <p:ph type="title"/>
          </p:nvPr>
        </p:nvSpPr>
        <p:spPr>
          <a:xfrm>
            <a:off x="468489" y="434446"/>
            <a:ext cx="6338711" cy="667808"/>
          </a:xfrm>
        </p:spPr>
        <p:txBody>
          <a:bodyPr anchor="b">
            <a:normAutofit/>
          </a:bodyPr>
          <a:lstStyle>
            <a:lvl1pPr>
              <a:defRPr sz="29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2" name="Text Placeholder 6">
            <a:extLst>
              <a:ext uri="{FF2B5EF4-FFF2-40B4-BE49-F238E27FC236}">
                <a16:creationId xmlns:a16="http://schemas.microsoft.com/office/drawing/2014/main" id="{FD992D7D-9B11-EAF8-2BFF-D0C68BFB20A7}"/>
              </a:ext>
            </a:extLst>
          </p:cNvPr>
          <p:cNvSpPr>
            <a:spLocks noGrp="1"/>
          </p:cNvSpPr>
          <p:nvPr>
            <p:ph type="body" sz="quarter" idx="16"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
        <p:nvSpPr>
          <p:cNvPr id="3" name="Content Placeholder 5">
            <a:extLst>
              <a:ext uri="{FF2B5EF4-FFF2-40B4-BE49-F238E27FC236}">
                <a16:creationId xmlns:a16="http://schemas.microsoft.com/office/drawing/2014/main" id="{F0156AF4-E910-6DDD-08C2-0F219BAD1973}"/>
              </a:ext>
            </a:extLst>
          </p:cNvPr>
          <p:cNvSpPr>
            <a:spLocks noGrp="1"/>
          </p:cNvSpPr>
          <p:nvPr>
            <p:ph sz="quarter" idx="11"/>
          </p:nvPr>
        </p:nvSpPr>
        <p:spPr>
          <a:xfrm>
            <a:off x="468489" y="1952856"/>
            <a:ext cx="5394960" cy="4194466"/>
          </a:xfrm>
          <a:prstGeom prst="rect">
            <a:avLst/>
          </a:prstGeom>
        </p:spPr>
        <p:txBody>
          <a:bodyPr>
            <a:normAutofit/>
          </a:bodyPr>
          <a:lstStyle>
            <a:lvl1pPr marL="0" indent="0">
              <a:buFont typeface="Arial" panose="020B0604020202020204" pitchFamily="34" charset="0"/>
              <a:buNone/>
              <a:defRPr sz="1400"/>
            </a:lvl1pPr>
            <a:lvl2pPr>
              <a:defRPr sz="1400"/>
            </a:lvl2pPr>
            <a:lvl3pPr>
              <a:defRPr sz="1400"/>
            </a:lvl3pPr>
            <a:lvl4pPr>
              <a:defRPr sz="1400"/>
            </a:lvl4pPr>
            <a:lvl5pPr>
              <a:defRPr sz="1400"/>
            </a:lvl5pPr>
          </a:lstStyle>
          <a:p>
            <a:pPr lvl="0"/>
            <a:r>
              <a:rPr lang="en-US"/>
              <a:t>Click to edit Master text styles</a:t>
            </a:r>
          </a:p>
        </p:txBody>
      </p:sp>
      <p:sp>
        <p:nvSpPr>
          <p:cNvPr id="5" name="Picture Placeholder 6">
            <a:extLst>
              <a:ext uri="{FF2B5EF4-FFF2-40B4-BE49-F238E27FC236}">
                <a16:creationId xmlns:a16="http://schemas.microsoft.com/office/drawing/2014/main" id="{BAEAED59-B436-D854-A7A7-0E526CFFEE86}"/>
              </a:ext>
            </a:extLst>
          </p:cNvPr>
          <p:cNvSpPr>
            <a:spLocks noGrp="1"/>
          </p:cNvSpPr>
          <p:nvPr>
            <p:ph type="pic" sz="quarter" idx="13"/>
          </p:nvPr>
        </p:nvSpPr>
        <p:spPr>
          <a:xfrm>
            <a:off x="5943600" y="1952856"/>
            <a:ext cx="5730557" cy="4194466"/>
          </a:xfrm>
        </p:spPr>
        <p:txBody>
          <a:bodyPr>
            <a:normAutofit/>
          </a:bodyPr>
          <a:lstStyle>
            <a:lvl1pPr>
              <a:defRPr sz="1400"/>
            </a:lvl1pPr>
          </a:lstStyle>
          <a:p>
            <a:endParaRPr lang="en-MX"/>
          </a:p>
        </p:txBody>
      </p:sp>
      <p:pic>
        <p:nvPicPr>
          <p:cNvPr id="14" name="Picture 13" descr="A blue text on a black background&#10;&#10;Description automatically generated">
            <a:extLst>
              <a:ext uri="{FF2B5EF4-FFF2-40B4-BE49-F238E27FC236}">
                <a16:creationId xmlns:a16="http://schemas.microsoft.com/office/drawing/2014/main" id="{729907F7-5752-315E-233C-001592E10845}"/>
              </a:ext>
            </a:extLst>
          </p:cNvPr>
          <p:cNvPicPr>
            <a:picLocks noChangeAspect="1"/>
          </p:cNvPicPr>
          <p:nvPr userDrawn="1"/>
        </p:nvPicPr>
        <p:blipFill>
          <a:blip r:embed="rId2"/>
          <a:stretch>
            <a:fillRect/>
          </a:stretch>
        </p:blipFill>
        <p:spPr>
          <a:xfrm>
            <a:off x="10120654" y="366299"/>
            <a:ext cx="1893379" cy="718540"/>
          </a:xfrm>
          <a:prstGeom prst="rect">
            <a:avLst/>
          </a:prstGeom>
        </p:spPr>
      </p:pic>
    </p:spTree>
    <p:extLst>
      <p:ext uri="{BB962C8B-B14F-4D97-AF65-F5344CB8AC3E}">
        <p14:creationId xmlns:p14="http://schemas.microsoft.com/office/powerpoint/2010/main" val="3565956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3" name="Picture 2" descr="A blue and green circle with white text&#10;&#10;Description automatically generated">
            <a:extLst>
              <a:ext uri="{FF2B5EF4-FFF2-40B4-BE49-F238E27FC236}">
                <a16:creationId xmlns:a16="http://schemas.microsoft.com/office/drawing/2014/main" id="{E2ECDCF6-BB3C-C41B-37BD-CF9A847D9E94}"/>
              </a:ext>
            </a:extLst>
          </p:cNvPr>
          <p:cNvPicPr>
            <a:picLocks noChangeAspect="1"/>
          </p:cNvPicPr>
          <p:nvPr userDrawn="1"/>
        </p:nvPicPr>
        <p:blipFill>
          <a:blip r:embed="rId2"/>
          <a:stretch>
            <a:fillRect/>
          </a:stretch>
        </p:blipFill>
        <p:spPr>
          <a:xfrm>
            <a:off x="1519604" y="1911350"/>
            <a:ext cx="2400300" cy="3035300"/>
          </a:xfrm>
          <a:prstGeom prst="rect">
            <a:avLst/>
          </a:prstGeom>
        </p:spPr>
      </p:pic>
      <p:pic>
        <p:nvPicPr>
          <p:cNvPr id="4" name="Picture 3" descr="A white rectangular object with blue edges&#10;&#10;Description automatically generated">
            <a:extLst>
              <a:ext uri="{FF2B5EF4-FFF2-40B4-BE49-F238E27FC236}">
                <a16:creationId xmlns:a16="http://schemas.microsoft.com/office/drawing/2014/main" id="{B15EB905-7435-ED03-0D80-8B5BD86F2223}"/>
              </a:ext>
            </a:extLst>
          </p:cNvPr>
          <p:cNvPicPr>
            <a:picLocks noChangeAspect="1"/>
          </p:cNvPicPr>
          <p:nvPr userDrawn="1"/>
        </p:nvPicPr>
        <p:blipFill>
          <a:blip r:embed="rId3"/>
          <a:stretch>
            <a:fillRect/>
          </a:stretch>
        </p:blipFill>
        <p:spPr>
          <a:xfrm>
            <a:off x="6306038" y="3892550"/>
            <a:ext cx="3517900" cy="1054100"/>
          </a:xfrm>
          <a:prstGeom prst="rect">
            <a:avLst/>
          </a:prstGeom>
        </p:spPr>
      </p:pic>
      <p:sp>
        <p:nvSpPr>
          <p:cNvPr id="5" name="Text Placeholder 8">
            <a:extLst>
              <a:ext uri="{FF2B5EF4-FFF2-40B4-BE49-F238E27FC236}">
                <a16:creationId xmlns:a16="http://schemas.microsoft.com/office/drawing/2014/main" id="{2CC3C8C2-60FA-33AB-F407-74B9B673F822}"/>
              </a:ext>
            </a:extLst>
          </p:cNvPr>
          <p:cNvSpPr>
            <a:spLocks noGrp="1"/>
          </p:cNvSpPr>
          <p:nvPr>
            <p:ph type="body" sz="quarter" idx="17" hasCustomPrompt="1"/>
          </p:nvPr>
        </p:nvSpPr>
        <p:spPr>
          <a:xfrm>
            <a:off x="4015292" y="2514600"/>
            <a:ext cx="6132560" cy="914400"/>
          </a:xfrm>
        </p:spPr>
        <p:txBody>
          <a:bodyPr>
            <a:normAutofit/>
          </a:bodyPr>
          <a:lstStyle>
            <a:lvl1pPr marL="0" indent="0">
              <a:buNone/>
              <a:defRPr sz="2800" b="1" i="1">
                <a:solidFill>
                  <a:srgbClr val="2297D5"/>
                </a:solidFill>
                <a:latin typeface="Poppins" pitchFamily="2" charset="77"/>
                <a:cs typeface="Poppins" pitchFamily="2" charset="77"/>
              </a:defRPr>
            </a:lvl1pPr>
          </a:lstStyle>
          <a:p>
            <a:pPr lvl="0"/>
            <a:r>
              <a:rPr lang="en-US"/>
              <a:t>Click to edit text</a:t>
            </a:r>
            <a:endParaRPr lang="en-MX"/>
          </a:p>
        </p:txBody>
      </p:sp>
      <p:sp>
        <p:nvSpPr>
          <p:cNvPr id="6" name="Text Placeholder 11">
            <a:extLst>
              <a:ext uri="{FF2B5EF4-FFF2-40B4-BE49-F238E27FC236}">
                <a16:creationId xmlns:a16="http://schemas.microsoft.com/office/drawing/2014/main" id="{3E2DF9FC-F40C-183B-F172-071F2A130477}"/>
              </a:ext>
            </a:extLst>
          </p:cNvPr>
          <p:cNvSpPr>
            <a:spLocks noGrp="1"/>
          </p:cNvSpPr>
          <p:nvPr>
            <p:ph type="body" sz="quarter" idx="18" hasCustomPrompt="1"/>
          </p:nvPr>
        </p:nvSpPr>
        <p:spPr>
          <a:xfrm>
            <a:off x="6673544" y="4245153"/>
            <a:ext cx="2782887" cy="484188"/>
          </a:xfrm>
        </p:spPr>
        <p:txBody>
          <a:bodyPr>
            <a:noAutofit/>
          </a:bodyPr>
          <a:lstStyle>
            <a:lvl1pPr marL="0" indent="0" algn="ctr">
              <a:buNone/>
              <a:defRPr sz="1800" b="1">
                <a:solidFill>
                  <a:srgbClr val="2297D5"/>
                </a:solidFill>
                <a:latin typeface="Poppins" pitchFamily="2" charset="77"/>
                <a:cs typeface="Poppins" pitchFamily="2" charset="77"/>
              </a:defRPr>
            </a:lvl1pPr>
          </a:lstStyle>
          <a:p>
            <a:pPr lvl="0"/>
            <a:r>
              <a:rPr lang="en-US"/>
              <a:t>Click to edit text</a:t>
            </a:r>
            <a:endParaRPr lang="en-MX"/>
          </a:p>
        </p:txBody>
      </p:sp>
      <p:sp>
        <p:nvSpPr>
          <p:cNvPr id="9" name="Text Placeholder 6">
            <a:extLst>
              <a:ext uri="{FF2B5EF4-FFF2-40B4-BE49-F238E27FC236}">
                <a16:creationId xmlns:a16="http://schemas.microsoft.com/office/drawing/2014/main" id="{43AD41B2-BB90-9084-6EB3-182E1FB7C8AC}"/>
              </a:ext>
            </a:extLst>
          </p:cNvPr>
          <p:cNvSpPr>
            <a:spLocks noGrp="1"/>
          </p:cNvSpPr>
          <p:nvPr>
            <p:ph type="body" sz="quarter" idx="16" hasCustomPrompt="1"/>
          </p:nvPr>
        </p:nvSpPr>
        <p:spPr>
          <a:xfrm>
            <a:off x="468313" y="1485460"/>
            <a:ext cx="11206162" cy="417162"/>
          </a:xfrm>
        </p:spPr>
        <p:txBody>
          <a:bodyPr lIns="72000" tIns="36000" rIns="216000" bIns="288000">
            <a:normAutofit/>
          </a:bodyPr>
          <a:lstStyle>
            <a:lvl1pPr marL="0" indent="0">
              <a:lnSpc>
                <a:spcPct val="100000"/>
              </a:lnSpc>
              <a:spcBef>
                <a:spcPts val="8"/>
              </a:spcBef>
              <a:spcAft>
                <a:spcPts val="8"/>
              </a:spcAft>
              <a:buNone/>
              <a:defRPr sz="1800" b="0" i="1">
                <a:solidFill>
                  <a:schemeClr val="tx1">
                    <a:lumMod val="65000"/>
                    <a:lumOff val="35000"/>
                  </a:schemeClr>
                </a:solidFill>
                <a:latin typeface="Poppins Medium" pitchFamily="2" charset="77"/>
                <a:cs typeface="Poppins Medium" pitchFamily="2" charset="77"/>
              </a:defRPr>
            </a:lvl1pPr>
          </a:lstStyle>
          <a:p>
            <a:r>
              <a:rPr lang="en-US"/>
              <a:t>Click to edit Master subtitle style</a:t>
            </a:r>
          </a:p>
        </p:txBody>
      </p:sp>
      <p:sp>
        <p:nvSpPr>
          <p:cNvPr id="11" name="Title 1">
            <a:extLst>
              <a:ext uri="{FF2B5EF4-FFF2-40B4-BE49-F238E27FC236}">
                <a16:creationId xmlns:a16="http://schemas.microsoft.com/office/drawing/2014/main" id="{D2213D86-4B51-8516-15A9-97D89C71387F}"/>
              </a:ext>
            </a:extLst>
          </p:cNvPr>
          <p:cNvSpPr>
            <a:spLocks noGrp="1"/>
          </p:cNvSpPr>
          <p:nvPr>
            <p:ph type="title" hasCustomPrompt="1"/>
          </p:nvPr>
        </p:nvSpPr>
        <p:spPr>
          <a:xfrm>
            <a:off x="468489" y="773332"/>
            <a:ext cx="11205668" cy="667808"/>
          </a:xfrm>
        </p:spPr>
        <p:txBody>
          <a:bodyPr anchor="t">
            <a:normAutofit/>
          </a:bodyPr>
          <a:lstStyle>
            <a:lvl1pPr>
              <a:defRPr sz="29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12" name="Picture 11" descr="A blue text on a black background&#10;&#10;Description automatically generated">
            <a:extLst>
              <a:ext uri="{FF2B5EF4-FFF2-40B4-BE49-F238E27FC236}">
                <a16:creationId xmlns:a16="http://schemas.microsoft.com/office/drawing/2014/main" id="{2E7BCEFA-1ECC-E8BC-1461-194A7F7EF28A}"/>
              </a:ext>
            </a:extLst>
          </p:cNvPr>
          <p:cNvPicPr>
            <a:picLocks noChangeAspect="1"/>
          </p:cNvPicPr>
          <p:nvPr userDrawn="1"/>
        </p:nvPicPr>
        <p:blipFill>
          <a:blip r:embed="rId4"/>
          <a:stretch>
            <a:fillRect/>
          </a:stretch>
        </p:blipFill>
        <p:spPr>
          <a:xfrm>
            <a:off x="10120654" y="366299"/>
            <a:ext cx="1893379" cy="718540"/>
          </a:xfrm>
          <a:prstGeom prst="rect">
            <a:avLst/>
          </a:prstGeom>
        </p:spPr>
      </p:pic>
    </p:spTree>
    <p:extLst>
      <p:ext uri="{BB962C8B-B14F-4D97-AF65-F5344CB8AC3E}">
        <p14:creationId xmlns:p14="http://schemas.microsoft.com/office/powerpoint/2010/main" val="173185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F94E-5EC9-EDBD-17A2-64005DA36E15}"/>
              </a:ext>
            </a:extLst>
          </p:cNvPr>
          <p:cNvSpPr>
            <a:spLocks noGrp="1"/>
          </p:cNvSpPr>
          <p:nvPr>
            <p:ph type="title"/>
          </p:nvPr>
        </p:nvSpPr>
        <p:spPr/>
        <p:txBody>
          <a:bodyPr>
            <a:normAutofit/>
          </a:bodyPr>
          <a:lstStyle>
            <a:lvl1pPr>
              <a:defRPr sz="2900"/>
            </a:lvl1pPr>
          </a:lstStyle>
          <a:p>
            <a:r>
              <a:rPr lang="en-US"/>
              <a:t>Click to edit Master title style</a:t>
            </a:r>
            <a:endParaRPr lang="en-MX"/>
          </a:p>
        </p:txBody>
      </p:sp>
    </p:spTree>
    <p:extLst>
      <p:ext uri="{BB962C8B-B14F-4D97-AF65-F5344CB8AC3E}">
        <p14:creationId xmlns:p14="http://schemas.microsoft.com/office/powerpoint/2010/main" val="2110357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11747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55022"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94021" y="6384043"/>
            <a:ext cx="1380136" cy="445205"/>
          </a:xfrm>
          <a:prstGeom prst="rect">
            <a:avLst/>
          </a:prstGeom>
        </p:spPr>
      </p:pic>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549480"/>
            <a:ext cx="5394960" cy="438912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548588"/>
            <a:ext cx="5394960" cy="438912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2469561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dirty="0"/>
              <a:t>Click to edit Master title style</a:t>
            </a:r>
            <a:endParaRPr lang="en-MX" dirty="0"/>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94021" y="6384043"/>
            <a:ext cx="1380136" cy="445205"/>
          </a:xfrm>
          <a:prstGeom prst="rect">
            <a:avLst/>
          </a:prstGeom>
        </p:spPr>
      </p:pic>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549400"/>
            <a:ext cx="11206162" cy="4335463"/>
          </a:xfrm>
        </p:spPr>
        <p:txBody>
          <a:bodyPr>
            <a:normAutofit/>
          </a:bodyPr>
          <a:lstStyle>
            <a:lvl1pPr>
              <a:defRPr sz="1400">
                <a:latin typeface="Khula" panose="02000000000000000000" pitchFamily="2" charset="0"/>
                <a:cs typeface="Khula" panose="020000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27126811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descr="A blue and white background with circles&#10;&#10;Description automatically generated">
            <a:extLst>
              <a:ext uri="{FF2B5EF4-FFF2-40B4-BE49-F238E27FC236}">
                <a16:creationId xmlns:a16="http://schemas.microsoft.com/office/drawing/2014/main" id="{22708DD8-7420-F55D-12C4-32866CC72D23}"/>
              </a:ext>
            </a:extLst>
          </p:cNvPr>
          <p:cNvPicPr>
            <a:picLocks noChangeAspect="1"/>
          </p:cNvPicPr>
          <p:nvPr userDrawn="1"/>
        </p:nvPicPr>
        <p:blipFill>
          <a:blip r:embed="rId12"/>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440EBC7-ADE3-F209-E554-2D41BB8DEF24}"/>
              </a:ext>
            </a:extLst>
          </p:cNvPr>
          <p:cNvSpPr>
            <a:spLocks noGrp="1"/>
          </p:cNvSpPr>
          <p:nvPr>
            <p:ph type="title"/>
          </p:nvPr>
        </p:nvSpPr>
        <p:spPr>
          <a:xfrm>
            <a:off x="838200" y="365126"/>
            <a:ext cx="10515600" cy="560564"/>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9" name="Text Placeholder 8">
            <a:extLst>
              <a:ext uri="{FF2B5EF4-FFF2-40B4-BE49-F238E27FC236}">
                <a16:creationId xmlns:a16="http://schemas.microsoft.com/office/drawing/2014/main" id="{442D941F-3EA9-5B81-108F-188A61A1C6ED}"/>
              </a:ext>
            </a:extLst>
          </p:cNvPr>
          <p:cNvSpPr>
            <a:spLocks noGrp="1"/>
          </p:cNvSpPr>
          <p:nvPr>
            <p:ph type="body" idx="1"/>
          </p:nvPr>
        </p:nvSpPr>
        <p:spPr>
          <a:xfrm>
            <a:off x="838200" y="1290816"/>
            <a:ext cx="10515600" cy="4897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cxnSp>
        <p:nvCxnSpPr>
          <p:cNvPr id="6" name="Straight Connector 5">
            <a:extLst>
              <a:ext uri="{FF2B5EF4-FFF2-40B4-BE49-F238E27FC236}">
                <a16:creationId xmlns:a16="http://schemas.microsoft.com/office/drawing/2014/main" id="{885246C9-67DA-6C7E-BE35-4C6A3271F174}"/>
              </a:ext>
            </a:extLst>
          </p:cNvPr>
          <p:cNvCxnSpPr>
            <a:cxnSpLocks/>
          </p:cNvCxnSpPr>
          <p:nvPr userDrawn="1"/>
        </p:nvCxnSpPr>
        <p:spPr>
          <a:xfrm flipH="1">
            <a:off x="826911" y="6394229"/>
            <a:ext cx="10526889" cy="0"/>
          </a:xfrm>
          <a:prstGeom prst="line">
            <a:avLst/>
          </a:prstGeom>
          <a:ln w="12700">
            <a:solidFill>
              <a:srgbClr val="A2BDC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CC19694-A6F0-BA0A-2B27-AB1914034E5A}"/>
              </a:ext>
            </a:extLst>
          </p:cNvPr>
          <p:cNvSpPr txBox="1"/>
          <p:nvPr userDrawn="1"/>
        </p:nvSpPr>
        <p:spPr>
          <a:xfrm>
            <a:off x="838199" y="6448820"/>
            <a:ext cx="3882887" cy="246221"/>
          </a:xfrm>
          <a:prstGeom prst="rect">
            <a:avLst/>
          </a:prstGeom>
          <a:noFill/>
        </p:spPr>
        <p:txBody>
          <a:bodyPr wrap="square" rtlCol="0">
            <a:spAutoFit/>
          </a:bodyPr>
          <a:lstStyle/>
          <a:p>
            <a:r>
              <a:rPr lang="en-US" sz="1000" b="0" i="0">
                <a:solidFill>
                  <a:srgbClr val="A2BDC1"/>
                </a:solidFill>
                <a:latin typeface="Poppins Medium" pitchFamily="2" charset="77"/>
                <a:cs typeface="Poppins Medium" pitchFamily="2" charset="77"/>
              </a:rPr>
              <a:t>© 2025 Improving | All Rights Reserved</a:t>
            </a:r>
            <a:endParaRPr lang="en-MX" sz="1000" b="0" i="0">
              <a:solidFill>
                <a:srgbClr val="A2BDC1"/>
              </a:solidFill>
              <a:latin typeface="Poppins Medium" pitchFamily="2" charset="77"/>
              <a:cs typeface="Poppins Medium" pitchFamily="2" charset="77"/>
            </a:endParaRPr>
          </a:p>
        </p:txBody>
      </p:sp>
      <p:sp>
        <p:nvSpPr>
          <p:cNvPr id="10" name="TextBox 9">
            <a:extLst>
              <a:ext uri="{FF2B5EF4-FFF2-40B4-BE49-F238E27FC236}">
                <a16:creationId xmlns:a16="http://schemas.microsoft.com/office/drawing/2014/main" id="{0EE1052C-B58E-AB68-2C3D-C7C42F51B0E4}"/>
              </a:ext>
            </a:extLst>
          </p:cNvPr>
          <p:cNvSpPr txBox="1"/>
          <p:nvPr userDrawn="1"/>
        </p:nvSpPr>
        <p:spPr>
          <a:xfrm>
            <a:off x="11067344" y="6479823"/>
            <a:ext cx="572911" cy="276999"/>
          </a:xfrm>
          <a:prstGeom prst="rect">
            <a:avLst/>
          </a:prstGeom>
          <a:noFill/>
        </p:spPr>
        <p:txBody>
          <a:bodyPr wrap="square" rtlCol="0">
            <a:spAutoFit/>
          </a:bodyPr>
          <a:lstStyle/>
          <a:p>
            <a:fld id="{C3BB742A-9951-4A41-9B51-4F6023B7AEA7}" type="slidenum">
              <a:rPr lang="en-MX" sz="1200" b="1" i="0" smtClean="0">
                <a:solidFill>
                  <a:schemeClr val="bg2">
                    <a:lumMod val="75000"/>
                  </a:schemeClr>
                </a:solidFill>
                <a:latin typeface="Khula SemiBold" panose="02000000000000000000" pitchFamily="2" charset="0"/>
                <a:cs typeface="Khula SemiBold" panose="02000000000000000000" pitchFamily="2" charset="0"/>
              </a:rPr>
              <a:t>‹#›</a:t>
            </a:fld>
            <a:endParaRPr lang="en-MX" sz="1200" b="1" i="0">
              <a:solidFill>
                <a:schemeClr val="bg2">
                  <a:lumMod val="75000"/>
                </a:schemeClr>
              </a:solidFill>
              <a:latin typeface="Khula SemiBold" panose="02000000000000000000" pitchFamily="2" charset="0"/>
              <a:cs typeface="Khula SemiBold" panose="02000000000000000000" pitchFamily="2" charset="0"/>
            </a:endParaRPr>
          </a:p>
        </p:txBody>
      </p:sp>
    </p:spTree>
    <p:extLst>
      <p:ext uri="{BB962C8B-B14F-4D97-AF65-F5344CB8AC3E}">
        <p14:creationId xmlns:p14="http://schemas.microsoft.com/office/powerpoint/2010/main" val="360884763"/>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1" r:id="rId3"/>
    <p:sldLayoutId id="2147483656" r:id="rId4"/>
    <p:sldLayoutId id="2147483654" r:id="rId5"/>
    <p:sldLayoutId id="2147483650" r:id="rId6"/>
    <p:sldLayoutId id="2147483659" r:id="rId7"/>
    <p:sldLayoutId id="2147483660" r:id="rId8"/>
    <p:sldLayoutId id="2147483661" r:id="rId9"/>
    <p:sldLayoutId id="2147483662" r:id="rId10"/>
  </p:sldLayoutIdLst>
  <p:hf hdr="0" dt="0"/>
  <p:txStyles>
    <p:titleStyle>
      <a:lvl1pPr algn="l" defTabSz="914400" rtl="0" eaLnBrk="1" latinLnBrk="0" hangingPunct="1">
        <a:lnSpc>
          <a:spcPct val="90000"/>
        </a:lnSpc>
        <a:spcBef>
          <a:spcPct val="0"/>
        </a:spcBef>
        <a:buNone/>
        <a:defRPr sz="3200" b="1" i="0" kern="1200">
          <a:solidFill>
            <a:srgbClr val="005596"/>
          </a:solidFill>
          <a:latin typeface="Poppins" pitchFamily="2" charset="77"/>
          <a:ea typeface="+mj-ea"/>
          <a:cs typeface="Poppins" pitchFamily="2" charset="77"/>
        </a:defRPr>
      </a:lvl1pPr>
    </p:titleStyle>
    <p:bodyStyle>
      <a:lvl1pPr marL="0" indent="0" algn="l" defTabSz="914400" rtl="0" eaLnBrk="1" latinLnBrk="0" hangingPunct="1">
        <a:lnSpc>
          <a:spcPct val="90000"/>
        </a:lnSpc>
        <a:spcBef>
          <a:spcPts val="1000"/>
        </a:spcBef>
        <a:buFontTx/>
        <a:buNone/>
        <a:defRPr sz="16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jpeg"/><Relationship Id="rId3" Type="http://schemas.openxmlformats.org/officeDocument/2006/relationships/image" Target="../media/image1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9DE23-07AF-9DCB-823C-340B61C60DDE}"/>
              </a:ext>
            </a:extLst>
          </p:cNvPr>
          <p:cNvSpPr>
            <a:spLocks noGrp="1"/>
          </p:cNvSpPr>
          <p:nvPr>
            <p:ph type="title"/>
          </p:nvPr>
        </p:nvSpPr>
        <p:spPr/>
        <p:txBody>
          <a:bodyPr>
            <a:normAutofit fontScale="90000"/>
          </a:bodyPr>
          <a:lstStyle/>
          <a:p>
            <a:r>
              <a:rPr lang="en-US" dirty="0"/>
              <a:t>The Intelligence</a:t>
            </a:r>
            <a:br>
              <a:rPr lang="en-US" dirty="0"/>
            </a:br>
            <a:r>
              <a:rPr lang="en-US" dirty="0"/>
              <a:t>Operating System</a:t>
            </a:r>
            <a:br>
              <a:rPr lang="en-US" dirty="0"/>
            </a:br>
            <a:endParaRPr lang="en-MX"/>
          </a:p>
        </p:txBody>
      </p:sp>
      <p:sp>
        <p:nvSpPr>
          <p:cNvPr id="4" name="Subtitle 3">
            <a:extLst>
              <a:ext uri="{FF2B5EF4-FFF2-40B4-BE49-F238E27FC236}">
                <a16:creationId xmlns:a16="http://schemas.microsoft.com/office/drawing/2014/main" id="{B34E75F6-2F89-1619-D497-C5F6A6894F7A}"/>
              </a:ext>
            </a:extLst>
          </p:cNvPr>
          <p:cNvSpPr>
            <a:spLocks noGrp="1"/>
          </p:cNvSpPr>
          <p:nvPr>
            <p:ph type="subTitle" idx="1"/>
          </p:nvPr>
        </p:nvSpPr>
        <p:spPr/>
        <p:txBody>
          <a:bodyPr/>
          <a:lstStyle/>
          <a:p>
            <a:r>
              <a:rPr lang="en-US" dirty="0"/>
              <a:t>From Chatbots to Agentic Operations</a:t>
            </a:r>
          </a:p>
          <a:p>
            <a:endParaRPr lang="en-MX"/>
          </a:p>
        </p:txBody>
      </p:sp>
    </p:spTree>
    <p:extLst>
      <p:ext uri="{BB962C8B-B14F-4D97-AF65-F5344CB8AC3E}">
        <p14:creationId xmlns:p14="http://schemas.microsoft.com/office/powerpoint/2010/main" val="3735813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CA064-60C3-4995-92CB-73A20EAF30F9}"/>
              </a:ext>
            </a:extLst>
          </p:cNvPr>
          <p:cNvSpPr>
            <a:spLocks noGrp="1"/>
          </p:cNvSpPr>
          <p:nvPr>
            <p:ph type="title"/>
          </p:nvPr>
        </p:nvSpPr>
        <p:spPr/>
        <p:txBody>
          <a:bodyPr anchor="t">
            <a:normAutofit/>
          </a:bodyPr>
          <a:lstStyle/>
          <a:p>
            <a:r>
              <a:rPr lang="en-US"/>
              <a:t>Introductions</a:t>
            </a:r>
          </a:p>
        </p:txBody>
      </p:sp>
      <p:sp>
        <p:nvSpPr>
          <p:cNvPr id="4" name="Content Placeholder 3">
            <a:extLst>
              <a:ext uri="{FF2B5EF4-FFF2-40B4-BE49-F238E27FC236}">
                <a16:creationId xmlns:a16="http://schemas.microsoft.com/office/drawing/2014/main" id="{705291B8-4C0C-5FDB-3CF2-DBA190231EC3}"/>
              </a:ext>
            </a:extLst>
          </p:cNvPr>
          <p:cNvSpPr>
            <a:spLocks noGrp="1"/>
          </p:cNvSpPr>
          <p:nvPr>
            <p:ph sz="quarter" idx="12"/>
          </p:nvPr>
        </p:nvSpPr>
        <p:spPr/>
        <p:txBody>
          <a:bodyPr anchor="ctr">
            <a:normAutofit/>
          </a:bodyPr>
          <a:lstStyle/>
          <a:p>
            <a:pPr marL="51435" indent="0" algn="ctr">
              <a:buNone/>
            </a:pPr>
            <a:r>
              <a:rPr lang="en-US" sz="2800"/>
              <a:t>Christian</a:t>
            </a:r>
          </a:p>
          <a:p>
            <a:pPr marL="51435" indent="0" algn="ctr">
              <a:buNone/>
            </a:pPr>
            <a:r>
              <a:rPr lang="en-US" sz="2800"/>
              <a:t>Husband</a:t>
            </a:r>
          </a:p>
          <a:p>
            <a:pPr marL="51435" indent="0" algn="ctr">
              <a:buNone/>
            </a:pPr>
            <a:r>
              <a:rPr lang="en-US" sz="2800"/>
              <a:t>Father</a:t>
            </a:r>
          </a:p>
          <a:p>
            <a:pPr marL="51435" indent="0" algn="ctr">
              <a:buNone/>
            </a:pPr>
            <a:r>
              <a:rPr lang="en-US" sz="2800"/>
              <a:t>Passionate Geek</a:t>
            </a:r>
          </a:p>
          <a:p>
            <a:pPr marL="51435" indent="0" algn="ctr">
              <a:buNone/>
            </a:pPr>
            <a:r>
              <a:rPr lang="en-US" sz="2800"/>
              <a:t>Life-long learner</a:t>
            </a:r>
          </a:p>
        </p:txBody>
      </p:sp>
      <p:pic>
        <p:nvPicPr>
          <p:cNvPr id="3" name="Picture 2" descr="A person sitting in a chair&#10;&#10;Description automatically generated with medium confidence">
            <a:extLst>
              <a:ext uri="{FF2B5EF4-FFF2-40B4-BE49-F238E27FC236}">
                <a16:creationId xmlns:a16="http://schemas.microsoft.com/office/drawing/2014/main" id="{E0E500D3-29DA-A303-E4C9-455B14BC97F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96151" y="1284923"/>
            <a:ext cx="5704370" cy="4874578"/>
          </a:xfrm>
          <a:prstGeom prst="rect">
            <a:avLst/>
          </a:prstGeom>
          <a:noFill/>
        </p:spPr>
      </p:pic>
    </p:spTree>
    <p:extLst>
      <p:ext uri="{BB962C8B-B14F-4D97-AF65-F5344CB8AC3E}">
        <p14:creationId xmlns:p14="http://schemas.microsoft.com/office/powerpoint/2010/main" val="893845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9338F5-03DB-006C-4E85-E99B24E7E56E}"/>
              </a:ext>
            </a:extLst>
          </p:cNvPr>
          <p:cNvSpPr>
            <a:spLocks noGrp="1"/>
          </p:cNvSpPr>
          <p:nvPr>
            <p:ph type="title"/>
          </p:nvPr>
        </p:nvSpPr>
        <p:spPr/>
        <p:txBody>
          <a:bodyPr/>
          <a:lstStyle/>
          <a:p>
            <a:r>
              <a:rPr lang="en-US" dirty="0"/>
              <a:t>State of the Industry</a:t>
            </a:r>
          </a:p>
        </p:txBody>
      </p:sp>
      <p:sp>
        <p:nvSpPr>
          <p:cNvPr id="6" name="Subtitle 5">
            <a:extLst>
              <a:ext uri="{FF2B5EF4-FFF2-40B4-BE49-F238E27FC236}">
                <a16:creationId xmlns:a16="http://schemas.microsoft.com/office/drawing/2014/main" id="{585A02F8-B6C5-86EA-D22F-180667DCE02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42908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05139-CD78-2388-BC93-DEF5BC5FB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F445F-4B44-49EB-BF8F-F51F4DDA4E7F}"/>
              </a:ext>
            </a:extLst>
          </p:cNvPr>
          <p:cNvSpPr>
            <a:spLocks noGrp="1"/>
          </p:cNvSpPr>
          <p:nvPr>
            <p:ph type="title"/>
          </p:nvPr>
        </p:nvSpPr>
        <p:spPr/>
        <p:txBody>
          <a:bodyPr anchor="ctr">
            <a:normAutofit/>
          </a:bodyPr>
          <a:lstStyle/>
          <a:p>
            <a:r>
              <a:rPr lang="en-US" dirty="0"/>
              <a:t>Where are we today?</a:t>
            </a:r>
          </a:p>
        </p:txBody>
      </p:sp>
      <p:pic>
        <p:nvPicPr>
          <p:cNvPr id="11" name="Content Placeholder 10">
            <a:extLst>
              <a:ext uri="{FF2B5EF4-FFF2-40B4-BE49-F238E27FC236}">
                <a16:creationId xmlns:a16="http://schemas.microsoft.com/office/drawing/2014/main" id="{4CAD0DE5-A508-E7D3-D297-46438533F3DA}"/>
              </a:ext>
            </a:extLst>
          </p:cNvPr>
          <p:cNvPicPr>
            <a:picLocks noGrp="1" noChangeAspect="1"/>
          </p:cNvPicPr>
          <p:nvPr>
            <p:ph sz="quarter" idx="11"/>
          </p:nvPr>
        </p:nvPicPr>
        <p:blipFill>
          <a:blip r:embed="rId3"/>
          <a:stretch>
            <a:fillRect/>
          </a:stretch>
        </p:blipFill>
        <p:spPr>
          <a:xfrm>
            <a:off x="468313" y="2172676"/>
            <a:ext cx="5395912" cy="3338148"/>
          </a:xfrm>
          <a:prstGeom prst="rect">
            <a:avLst/>
          </a:prstGeom>
        </p:spPr>
      </p:pic>
      <p:sp>
        <p:nvSpPr>
          <p:cNvPr id="9" name="Text Placeholder 8">
            <a:extLst>
              <a:ext uri="{FF2B5EF4-FFF2-40B4-BE49-F238E27FC236}">
                <a16:creationId xmlns:a16="http://schemas.microsoft.com/office/drawing/2014/main" id="{3642AD47-63AA-AD23-8653-56970DFFDF84}"/>
              </a:ext>
            </a:extLst>
          </p:cNvPr>
          <p:cNvSpPr>
            <a:spLocks noGrp="1"/>
          </p:cNvSpPr>
          <p:nvPr>
            <p:ph type="body" sz="quarter" idx="13"/>
          </p:nvPr>
        </p:nvSpPr>
        <p:spPr/>
        <p:txBody>
          <a:bodyPr/>
          <a:lstStyle/>
          <a:p>
            <a:endParaRPr lang="en-US"/>
          </a:p>
        </p:txBody>
      </p:sp>
      <p:pic>
        <p:nvPicPr>
          <p:cNvPr id="10" name="Content Placeholder 9">
            <a:extLst>
              <a:ext uri="{FF2B5EF4-FFF2-40B4-BE49-F238E27FC236}">
                <a16:creationId xmlns:a16="http://schemas.microsoft.com/office/drawing/2014/main" id="{543C6C12-9BE7-A6DC-19FE-B6096F2061FD}"/>
              </a:ext>
            </a:extLst>
          </p:cNvPr>
          <p:cNvPicPr>
            <a:picLocks noGrp="1" noChangeAspect="1"/>
          </p:cNvPicPr>
          <p:nvPr>
            <p:ph sz="quarter" idx="12"/>
          </p:nvPr>
        </p:nvPicPr>
        <p:blipFill>
          <a:blip r:embed="rId4"/>
          <a:stretch>
            <a:fillRect/>
          </a:stretch>
        </p:blipFill>
        <p:spPr>
          <a:xfrm>
            <a:off x="6278563" y="1813323"/>
            <a:ext cx="5395912" cy="4053678"/>
          </a:xfrm>
          <a:prstGeom prst="rect">
            <a:avLst/>
          </a:prstGeom>
        </p:spPr>
      </p:pic>
    </p:spTree>
    <p:extLst>
      <p:ext uri="{BB962C8B-B14F-4D97-AF65-F5344CB8AC3E}">
        <p14:creationId xmlns:p14="http://schemas.microsoft.com/office/powerpoint/2010/main" val="1363656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0BB80-C483-F4CF-24E9-650BA3452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C7E05-F31F-3920-AC89-65EB28A4D866}"/>
              </a:ext>
            </a:extLst>
          </p:cNvPr>
          <p:cNvSpPr>
            <a:spLocks noGrp="1"/>
          </p:cNvSpPr>
          <p:nvPr>
            <p:ph type="title"/>
          </p:nvPr>
        </p:nvSpPr>
        <p:spPr/>
        <p:txBody>
          <a:bodyPr anchor="ctr">
            <a:normAutofit/>
          </a:bodyPr>
          <a:lstStyle/>
          <a:p>
            <a:r>
              <a:rPr lang="en-US" dirty="0"/>
              <a:t>Where are we today?</a:t>
            </a:r>
          </a:p>
        </p:txBody>
      </p:sp>
      <p:pic>
        <p:nvPicPr>
          <p:cNvPr id="11" name="Content Placeholder 10">
            <a:extLst>
              <a:ext uri="{FF2B5EF4-FFF2-40B4-BE49-F238E27FC236}">
                <a16:creationId xmlns:a16="http://schemas.microsoft.com/office/drawing/2014/main" id="{64E0C860-4E19-8F07-D120-26A6C5FFE3AA}"/>
              </a:ext>
            </a:extLst>
          </p:cNvPr>
          <p:cNvPicPr>
            <a:picLocks noGrp="1" noChangeAspect="1"/>
          </p:cNvPicPr>
          <p:nvPr>
            <p:ph sz="quarter" idx="11"/>
          </p:nvPr>
        </p:nvPicPr>
        <p:blipFill>
          <a:blip r:embed="rId3"/>
          <a:stretch>
            <a:fillRect/>
          </a:stretch>
        </p:blipFill>
        <p:spPr>
          <a:xfrm>
            <a:off x="468313" y="2077808"/>
            <a:ext cx="5395912" cy="3527885"/>
          </a:xfrm>
          <a:prstGeom prst="rect">
            <a:avLst/>
          </a:prstGeom>
        </p:spPr>
      </p:pic>
      <p:sp>
        <p:nvSpPr>
          <p:cNvPr id="9" name="Text Placeholder 8">
            <a:extLst>
              <a:ext uri="{FF2B5EF4-FFF2-40B4-BE49-F238E27FC236}">
                <a16:creationId xmlns:a16="http://schemas.microsoft.com/office/drawing/2014/main" id="{D9A4624D-E1EC-CEC9-5BD5-A3BDEB52A6E1}"/>
              </a:ext>
            </a:extLst>
          </p:cNvPr>
          <p:cNvSpPr>
            <a:spLocks noGrp="1"/>
          </p:cNvSpPr>
          <p:nvPr>
            <p:ph type="body" sz="quarter" idx="13"/>
          </p:nvPr>
        </p:nvSpPr>
        <p:spPr/>
        <p:txBody>
          <a:bodyPr/>
          <a:lstStyle/>
          <a:p>
            <a:endParaRPr lang="en-US" dirty="0"/>
          </a:p>
        </p:txBody>
      </p:sp>
      <p:pic>
        <p:nvPicPr>
          <p:cNvPr id="14" name="Content Placeholder 13">
            <a:extLst>
              <a:ext uri="{FF2B5EF4-FFF2-40B4-BE49-F238E27FC236}">
                <a16:creationId xmlns:a16="http://schemas.microsoft.com/office/drawing/2014/main" id="{A5702612-24B1-4287-3AF8-ED59D643F154}"/>
              </a:ext>
            </a:extLst>
          </p:cNvPr>
          <p:cNvPicPr>
            <a:picLocks noGrp="1" noChangeAspect="1"/>
          </p:cNvPicPr>
          <p:nvPr>
            <p:ph sz="quarter" idx="12"/>
          </p:nvPr>
        </p:nvPicPr>
        <p:blipFill>
          <a:blip r:embed="rId4"/>
          <a:stretch>
            <a:fillRect/>
          </a:stretch>
        </p:blipFill>
        <p:spPr>
          <a:xfrm>
            <a:off x="6278563" y="2287502"/>
            <a:ext cx="5395912" cy="3105320"/>
          </a:xfrm>
          <a:prstGeom prst="rect">
            <a:avLst/>
          </a:prstGeom>
        </p:spPr>
      </p:pic>
    </p:spTree>
    <p:extLst>
      <p:ext uri="{BB962C8B-B14F-4D97-AF65-F5344CB8AC3E}">
        <p14:creationId xmlns:p14="http://schemas.microsoft.com/office/powerpoint/2010/main" val="1568673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70E9B7-82F6-C050-9BC3-FA95549FA22F}"/>
              </a:ext>
            </a:extLst>
          </p:cNvPr>
          <p:cNvSpPr>
            <a:spLocks noGrp="1"/>
          </p:cNvSpPr>
          <p:nvPr>
            <p:ph type="title"/>
          </p:nvPr>
        </p:nvSpPr>
        <p:spPr/>
        <p:txBody>
          <a:bodyPr/>
          <a:lstStyle/>
          <a:p>
            <a:r>
              <a:rPr lang="en-US" dirty="0"/>
              <a:t>Understanding Demand</a:t>
            </a:r>
          </a:p>
        </p:txBody>
      </p:sp>
      <p:pic>
        <p:nvPicPr>
          <p:cNvPr id="7" name="Content Placeholder 6">
            <a:extLst>
              <a:ext uri="{FF2B5EF4-FFF2-40B4-BE49-F238E27FC236}">
                <a16:creationId xmlns:a16="http://schemas.microsoft.com/office/drawing/2014/main" id="{C1B14344-E0AA-B95F-A978-39ADFA17907F}"/>
              </a:ext>
            </a:extLst>
          </p:cNvPr>
          <p:cNvPicPr>
            <a:picLocks noGrp="1" noChangeAspect="1"/>
          </p:cNvPicPr>
          <p:nvPr>
            <p:ph sz="quarter" idx="10"/>
          </p:nvPr>
        </p:nvPicPr>
        <p:blipFill>
          <a:blip r:embed="rId3"/>
          <a:stretch>
            <a:fillRect/>
          </a:stretch>
        </p:blipFill>
        <p:spPr>
          <a:xfrm>
            <a:off x="1555870" y="1102254"/>
            <a:ext cx="9080260" cy="5108117"/>
          </a:xfrm>
        </p:spPr>
      </p:pic>
    </p:spTree>
    <p:extLst>
      <p:ext uri="{BB962C8B-B14F-4D97-AF65-F5344CB8AC3E}">
        <p14:creationId xmlns:p14="http://schemas.microsoft.com/office/powerpoint/2010/main" val="2761552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E0743-910C-5C81-06D4-DF526EC53A36}"/>
              </a:ext>
            </a:extLst>
          </p:cNvPr>
          <p:cNvSpPr>
            <a:spLocks noGrp="1"/>
          </p:cNvSpPr>
          <p:nvPr>
            <p:ph type="title"/>
          </p:nvPr>
        </p:nvSpPr>
        <p:spPr/>
        <p:txBody>
          <a:bodyPr/>
          <a:lstStyle/>
          <a:p>
            <a:r>
              <a:rPr lang="en-US" dirty="0"/>
              <a:t>What does it look like going forward?</a:t>
            </a:r>
          </a:p>
        </p:txBody>
      </p:sp>
      <p:sp>
        <p:nvSpPr>
          <p:cNvPr id="3" name="Subtitle 2">
            <a:extLst>
              <a:ext uri="{FF2B5EF4-FFF2-40B4-BE49-F238E27FC236}">
                <a16:creationId xmlns:a16="http://schemas.microsoft.com/office/drawing/2014/main" id="{228291CC-E865-87C6-FAAA-AB214AB4B29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41536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The Fundamental Shift in How We Work</a:t>
            </a:r>
          </a:p>
        </p:txBody>
      </p:sp>
      <p:sp>
        <p:nvSpPr>
          <p:cNvPr id="4" name="Rounded Rectangle 3"/>
          <p:cNvSpPr/>
          <p:nvPr/>
        </p:nvSpPr>
        <p:spPr>
          <a:xfrm>
            <a:off x="457200" y="1371600"/>
            <a:ext cx="5029200" cy="50292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554480"/>
            <a:ext cx="5029200" cy="548640"/>
          </a:xfrm>
          <a:prstGeom prst="rect">
            <a:avLst/>
          </a:prstGeom>
          <a:noFill/>
        </p:spPr>
        <p:txBody>
          <a:bodyPr wrap="square">
            <a:spAutoFit/>
          </a:bodyPr>
          <a:lstStyle/>
          <a:p>
            <a:pPr algn="ctr">
              <a:defRPr sz="2400" b="1">
                <a:solidFill>
                  <a:srgbClr val="999999"/>
                </a:solidFill>
                <a:latin typeface="Arial"/>
              </a:defRPr>
            </a:pPr>
            <a:r>
              <a:t>Yesterday</a:t>
            </a:r>
          </a:p>
        </p:txBody>
      </p:sp>
      <p:sp>
        <p:nvSpPr>
          <p:cNvPr id="6" name="Oval 5"/>
          <p:cNvSpPr/>
          <p:nvPr/>
        </p:nvSpPr>
        <p:spPr>
          <a:xfrm>
            <a:off x="2286000" y="2560320"/>
            <a:ext cx="1371600" cy="1371600"/>
          </a:xfrm>
          <a:prstGeom prst="ellipse">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You</a:t>
            </a:r>
          </a:p>
        </p:txBody>
      </p:sp>
      <p:sp>
        <p:nvSpPr>
          <p:cNvPr id="7" name="Down Arrow 6"/>
          <p:cNvSpPr/>
          <p:nvPr/>
        </p:nvSpPr>
        <p:spPr>
          <a:xfrm>
            <a:off x="2743200" y="4023360"/>
            <a:ext cx="457200" cy="457200"/>
          </a:xfrm>
          <a:prstGeom prst="down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645920" y="4572000"/>
            <a:ext cx="2651760" cy="13716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AI Tool</a:t>
            </a:r>
          </a:p>
        </p:txBody>
      </p:sp>
      <p:sp>
        <p:nvSpPr>
          <p:cNvPr id="9" name="TextBox 8"/>
          <p:cNvSpPr txBox="1"/>
          <p:nvPr/>
        </p:nvSpPr>
        <p:spPr>
          <a:xfrm>
            <a:off x="640080" y="6035040"/>
            <a:ext cx="4663440" cy="457200"/>
          </a:xfrm>
          <a:prstGeom prst="rect">
            <a:avLst/>
          </a:prstGeom>
          <a:noFill/>
        </p:spPr>
        <p:txBody>
          <a:bodyPr wrap="square">
            <a:spAutoFit/>
          </a:bodyPr>
          <a:lstStyle/>
          <a:p>
            <a:pPr algn="ctr">
              <a:defRPr sz="1400" b="0">
                <a:solidFill>
                  <a:srgbClr val="333333"/>
                </a:solidFill>
                <a:latin typeface="Arial"/>
              </a:defRPr>
            </a:pPr>
            <a:r>
              <a:t>Individual using AI as a tool</a:t>
            </a:r>
          </a:p>
        </p:txBody>
      </p:sp>
      <p:sp>
        <p:nvSpPr>
          <p:cNvPr id="10" name="Right Arrow 9"/>
          <p:cNvSpPr/>
          <p:nvPr/>
        </p:nvSpPr>
        <p:spPr>
          <a:xfrm>
            <a:off x="5669280" y="3657600"/>
            <a:ext cx="822960" cy="548640"/>
          </a:xfrm>
          <a:prstGeom prst="rightArrow">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675120" y="1371600"/>
            <a:ext cx="5029200" cy="502920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1554480"/>
            <a:ext cx="5029200" cy="548640"/>
          </a:xfrm>
          <a:prstGeom prst="rect">
            <a:avLst/>
          </a:prstGeom>
          <a:noFill/>
        </p:spPr>
        <p:txBody>
          <a:bodyPr wrap="square">
            <a:spAutoFit/>
          </a:bodyPr>
          <a:lstStyle/>
          <a:p>
            <a:pPr algn="ctr">
              <a:defRPr sz="2400" b="1">
                <a:solidFill>
                  <a:srgbClr val="FFFFFF"/>
                </a:solidFill>
                <a:latin typeface="Arial"/>
              </a:defRPr>
            </a:pPr>
            <a:r>
              <a:t>Tomorrow</a:t>
            </a:r>
          </a:p>
        </p:txBody>
      </p:sp>
      <p:sp>
        <p:nvSpPr>
          <p:cNvPr id="13" name="Oval 12"/>
          <p:cNvSpPr/>
          <p:nvPr/>
        </p:nvSpPr>
        <p:spPr>
          <a:xfrm>
            <a:off x="8503920" y="2286000"/>
            <a:ext cx="1371600" cy="1371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33333"/>
                </a:solidFill>
                <a:latin typeface="Arial"/>
              </a:defRPr>
            </a:pPr>
            <a:r>
              <a:t>You</a:t>
            </a:r>
          </a:p>
        </p:txBody>
      </p:sp>
      <p:sp>
        <p:nvSpPr>
          <p:cNvPr id="14" name="Rounded Rectangle 13"/>
          <p:cNvSpPr/>
          <p:nvPr/>
        </p:nvSpPr>
        <p:spPr>
          <a:xfrm>
            <a:off x="7040880" y="4114800"/>
            <a:ext cx="1188720" cy="9144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Agent</a:t>
            </a:r>
          </a:p>
        </p:txBody>
      </p:sp>
      <p:sp>
        <p:nvSpPr>
          <p:cNvPr id="15" name="Rounded Rectangle 14"/>
          <p:cNvSpPr/>
          <p:nvPr/>
        </p:nvSpPr>
        <p:spPr>
          <a:xfrm>
            <a:off x="8595360" y="4114800"/>
            <a:ext cx="1188720" cy="9144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Agent</a:t>
            </a:r>
          </a:p>
        </p:txBody>
      </p:sp>
      <p:sp>
        <p:nvSpPr>
          <p:cNvPr id="16" name="Rounded Rectangle 15"/>
          <p:cNvSpPr/>
          <p:nvPr/>
        </p:nvSpPr>
        <p:spPr>
          <a:xfrm>
            <a:off x="10149840" y="4114800"/>
            <a:ext cx="1188720" cy="9144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Agent</a:t>
            </a:r>
          </a:p>
        </p:txBody>
      </p:sp>
      <p:sp>
        <p:nvSpPr>
          <p:cNvPr id="18" name="Rectangle 17"/>
          <p:cNvSpPr/>
          <p:nvPr/>
        </p:nvSpPr>
        <p:spPr>
          <a:xfrm>
            <a:off x="9166860" y="3657600"/>
            <a:ext cx="45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0" y="5212080"/>
            <a:ext cx="4663440" cy="731520"/>
          </a:xfrm>
          <a:prstGeom prst="rect">
            <a:avLst/>
          </a:prstGeom>
          <a:noFill/>
        </p:spPr>
        <p:txBody>
          <a:bodyPr wrap="square">
            <a:spAutoFit/>
          </a:bodyPr>
          <a:lstStyle/>
          <a:p>
            <a:pPr algn="ctr">
              <a:defRPr sz="1400" b="1">
                <a:solidFill>
                  <a:srgbClr val="FFFFFF"/>
                </a:solidFill>
                <a:latin typeface="Arial"/>
              </a:defRPr>
            </a:pPr>
            <a:r>
              <a:t>Factory operator managing</a:t>
            </a:r>
            <a:br/>
            <a:r>
              <a:t>agent swarms</a:t>
            </a:r>
          </a:p>
        </p:txBody>
      </p:sp>
      <p:sp>
        <p:nvSpPr>
          <p:cNvPr id="21" name="TextBox 20"/>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A5A8EE1-E6DF-BBD1-CC0A-9CE9C0FB351C}"/>
              </a:ext>
            </a:extLst>
          </p:cNvPr>
          <p:cNvSpPr>
            <a:spLocks noGrp="1"/>
          </p:cNvSpPr>
          <p:nvPr>
            <p:ph type="ftr" sz="quarter" idx="11"/>
          </p:nvPr>
        </p:nvSpPr>
        <p:spPr/>
        <p:txBody>
          <a:bodyPr/>
          <a:lstStyle/>
          <a:p>
            <a:endParaRPr lang="en-US" dirty="0"/>
          </a:p>
        </p:txBody>
      </p:sp>
      <p:sp>
        <p:nvSpPr>
          <p:cNvPr id="3" name="Slide Number Placeholder 2">
            <a:extLst>
              <a:ext uri="{FF2B5EF4-FFF2-40B4-BE49-F238E27FC236}">
                <a16:creationId xmlns:a16="http://schemas.microsoft.com/office/drawing/2014/main" id="{C28F88B8-7A9B-4745-1B7D-8F585F8FF739}"/>
              </a:ext>
            </a:extLst>
          </p:cNvPr>
          <p:cNvSpPr>
            <a:spLocks noGrp="1"/>
          </p:cNvSpPr>
          <p:nvPr>
            <p:ph type="sldNum" sz="quarter" idx="12"/>
          </p:nvPr>
        </p:nvSpPr>
        <p:spPr/>
        <p:txBody>
          <a:bodyPr/>
          <a:lstStyle/>
          <a:p>
            <a:fld id="{C1FF6DA9-008F-8B48-92A6-B652298478BF}" type="slidenum">
              <a:rPr lang="en-US" smtClean="0"/>
              <a:t>9</a:t>
            </a:fld>
            <a:endParaRPr lang="en-US" dirty="0"/>
          </a:p>
        </p:txBody>
      </p:sp>
      <p:pic>
        <p:nvPicPr>
          <p:cNvPr id="4" name="Picture 3" descr="fine wood working or woodworking scene. wide format. hand edited generative AI. ">
            <a:extLst>
              <a:ext uri="{FF2B5EF4-FFF2-40B4-BE49-F238E27FC236}">
                <a16:creationId xmlns:a16="http://schemas.microsoft.com/office/drawing/2014/main" id="{C146972C-D452-6F36-C181-4D26759FC6F1}"/>
              </a:ext>
            </a:extLst>
          </p:cNvPr>
          <p:cNvPicPr>
            <a:picLocks noChangeAspect="1"/>
          </p:cNvPicPr>
          <p:nvPr/>
        </p:nvPicPr>
        <p:blipFill>
          <a:blip r:embed="rId2"/>
          <a:stretch>
            <a:fillRect/>
          </a:stretch>
        </p:blipFill>
        <p:spPr>
          <a:xfrm>
            <a:off x="0" y="0"/>
            <a:ext cx="7946529" cy="3682538"/>
          </a:xfrm>
          <a:prstGeom prst="rect">
            <a:avLst/>
          </a:prstGeom>
        </p:spPr>
      </p:pic>
      <p:pic>
        <p:nvPicPr>
          <p:cNvPr id="5" name="Picture 4" descr="Poland invests massively in expanding furniture production capacities -  Global Wood Markets Info">
            <a:extLst>
              <a:ext uri="{FF2B5EF4-FFF2-40B4-BE49-F238E27FC236}">
                <a16:creationId xmlns:a16="http://schemas.microsoft.com/office/drawing/2014/main" id="{775FF010-5887-FF87-B96D-EA5B2049BDBD}"/>
              </a:ext>
            </a:extLst>
          </p:cNvPr>
          <p:cNvPicPr>
            <a:picLocks noChangeAspect="1"/>
          </p:cNvPicPr>
          <p:nvPr/>
        </p:nvPicPr>
        <p:blipFill>
          <a:blip r:embed="rId3"/>
          <a:stretch>
            <a:fillRect/>
          </a:stretch>
        </p:blipFill>
        <p:spPr>
          <a:xfrm>
            <a:off x="5777344" y="2533468"/>
            <a:ext cx="6490855" cy="4324532"/>
          </a:xfrm>
          <a:prstGeom prst="rect">
            <a:avLst/>
          </a:prstGeom>
        </p:spPr>
      </p:pic>
    </p:spTree>
    <p:extLst>
      <p:ext uri="{BB962C8B-B14F-4D97-AF65-F5344CB8AC3E}">
        <p14:creationId xmlns:p14="http://schemas.microsoft.com/office/powerpoint/2010/main" val="2836811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200" b="1">
                <a:solidFill>
                  <a:srgbClr val="005596"/>
                </a:solidFill>
                <a:latin typeface="Arial"/>
              </a:defRPr>
            </a:pPr>
            <a:r>
              <a:t>The Trust Evolution: 8 Stages of AI Adoption</a:t>
            </a:r>
          </a:p>
        </p:txBody>
      </p:sp>
      <p:sp>
        <p:nvSpPr>
          <p:cNvPr id="4" name="Rectangle 3"/>
          <p:cNvSpPr/>
          <p:nvPr/>
        </p:nvSpPr>
        <p:spPr>
          <a:xfrm>
            <a:off x="365760" y="5486400"/>
            <a:ext cx="1371600" cy="4572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60" y="5166360"/>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1</a:t>
            </a:r>
          </a:p>
        </p:txBody>
      </p:sp>
      <p:sp>
        <p:nvSpPr>
          <p:cNvPr id="6" name="TextBox 5"/>
          <p:cNvSpPr txBox="1"/>
          <p:nvPr/>
        </p:nvSpPr>
        <p:spPr>
          <a:xfrm>
            <a:off x="365760" y="5532120"/>
            <a:ext cx="1371600" cy="365760"/>
          </a:xfrm>
          <a:prstGeom prst="rect">
            <a:avLst/>
          </a:prstGeom>
          <a:noFill/>
        </p:spPr>
        <p:txBody>
          <a:bodyPr wrap="square">
            <a:spAutoFit/>
          </a:bodyPr>
          <a:lstStyle/>
          <a:p>
            <a:pPr algn="ctr">
              <a:defRPr sz="1000" b="1">
                <a:solidFill>
                  <a:srgbClr val="FFFFFF"/>
                </a:solidFill>
                <a:latin typeface="Arial"/>
              </a:defRPr>
            </a:pPr>
            <a:r>
              <a:t>Zero AI</a:t>
            </a:r>
          </a:p>
        </p:txBody>
      </p:sp>
      <p:sp>
        <p:nvSpPr>
          <p:cNvPr id="7" name="Rectangle 6"/>
          <p:cNvSpPr/>
          <p:nvPr/>
        </p:nvSpPr>
        <p:spPr>
          <a:xfrm>
            <a:off x="1810512" y="5074920"/>
            <a:ext cx="1371600" cy="86868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267712" y="4754880"/>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2</a:t>
            </a:r>
          </a:p>
        </p:txBody>
      </p:sp>
      <p:sp>
        <p:nvSpPr>
          <p:cNvPr id="9" name="TextBox 8"/>
          <p:cNvSpPr txBox="1"/>
          <p:nvPr/>
        </p:nvSpPr>
        <p:spPr>
          <a:xfrm>
            <a:off x="1810512" y="5120640"/>
            <a:ext cx="1371600" cy="365760"/>
          </a:xfrm>
          <a:prstGeom prst="rect">
            <a:avLst/>
          </a:prstGeom>
          <a:noFill/>
        </p:spPr>
        <p:txBody>
          <a:bodyPr wrap="square">
            <a:spAutoFit/>
          </a:bodyPr>
          <a:lstStyle/>
          <a:p>
            <a:pPr algn="ctr">
              <a:defRPr sz="1000" b="1">
                <a:solidFill>
                  <a:srgbClr val="FFFFFF"/>
                </a:solidFill>
                <a:latin typeface="Arial"/>
              </a:defRPr>
            </a:pPr>
            <a:r>
              <a:t>Permissions</a:t>
            </a:r>
          </a:p>
        </p:txBody>
      </p:sp>
      <p:sp>
        <p:nvSpPr>
          <p:cNvPr id="10" name="Rectangle 9"/>
          <p:cNvSpPr/>
          <p:nvPr/>
        </p:nvSpPr>
        <p:spPr>
          <a:xfrm>
            <a:off x="3255264" y="4663440"/>
            <a:ext cx="1371600" cy="12801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712464" y="4343400"/>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3</a:t>
            </a:r>
          </a:p>
        </p:txBody>
      </p:sp>
      <p:sp>
        <p:nvSpPr>
          <p:cNvPr id="12" name="TextBox 11"/>
          <p:cNvSpPr txBox="1"/>
          <p:nvPr/>
        </p:nvSpPr>
        <p:spPr>
          <a:xfrm>
            <a:off x="3255264" y="4709160"/>
            <a:ext cx="1371600" cy="365760"/>
          </a:xfrm>
          <a:prstGeom prst="rect">
            <a:avLst/>
          </a:prstGeom>
          <a:noFill/>
        </p:spPr>
        <p:txBody>
          <a:bodyPr wrap="square">
            <a:spAutoFit/>
          </a:bodyPr>
          <a:lstStyle/>
          <a:p>
            <a:pPr algn="ctr">
              <a:defRPr sz="1000" b="1">
                <a:solidFill>
                  <a:srgbClr val="FFFFFF"/>
                </a:solidFill>
                <a:latin typeface="Arial"/>
              </a:defRPr>
            </a:pPr>
            <a:r>
              <a:t>Autonomous</a:t>
            </a:r>
          </a:p>
        </p:txBody>
      </p:sp>
      <p:sp>
        <p:nvSpPr>
          <p:cNvPr id="13" name="Rectangle 12"/>
          <p:cNvSpPr/>
          <p:nvPr/>
        </p:nvSpPr>
        <p:spPr>
          <a:xfrm>
            <a:off x="4700016" y="4251960"/>
            <a:ext cx="1371600" cy="169164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157216" y="3931920"/>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4</a:t>
            </a:r>
          </a:p>
        </p:txBody>
      </p:sp>
      <p:sp>
        <p:nvSpPr>
          <p:cNvPr id="15" name="TextBox 14"/>
          <p:cNvSpPr txBox="1"/>
          <p:nvPr/>
        </p:nvSpPr>
        <p:spPr>
          <a:xfrm>
            <a:off x="4700016" y="4297680"/>
            <a:ext cx="1371600" cy="365760"/>
          </a:xfrm>
          <a:prstGeom prst="rect">
            <a:avLst/>
          </a:prstGeom>
          <a:noFill/>
        </p:spPr>
        <p:txBody>
          <a:bodyPr wrap="square">
            <a:spAutoFit/>
          </a:bodyPr>
          <a:lstStyle/>
          <a:p>
            <a:pPr algn="ctr">
              <a:defRPr sz="1000" b="1">
                <a:solidFill>
                  <a:srgbClr val="FFFFFF"/>
                </a:solidFill>
                <a:latin typeface="Arial"/>
              </a:defRPr>
            </a:pPr>
            <a:r>
              <a:rPr dirty="0"/>
              <a:t>Wide Agent</a:t>
            </a:r>
          </a:p>
        </p:txBody>
      </p:sp>
      <p:sp>
        <p:nvSpPr>
          <p:cNvPr id="16" name="Rectangle 15"/>
          <p:cNvSpPr/>
          <p:nvPr/>
        </p:nvSpPr>
        <p:spPr>
          <a:xfrm>
            <a:off x="6144768" y="3840480"/>
            <a:ext cx="1371600" cy="210312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601968" y="3520440"/>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5</a:t>
            </a:r>
          </a:p>
        </p:txBody>
      </p:sp>
      <p:sp>
        <p:nvSpPr>
          <p:cNvPr id="18" name="TextBox 17"/>
          <p:cNvSpPr txBox="1"/>
          <p:nvPr/>
        </p:nvSpPr>
        <p:spPr>
          <a:xfrm>
            <a:off x="6144768" y="3886200"/>
            <a:ext cx="1371600" cy="246221"/>
          </a:xfrm>
          <a:prstGeom prst="rect">
            <a:avLst/>
          </a:prstGeom>
          <a:noFill/>
        </p:spPr>
        <p:txBody>
          <a:bodyPr wrap="square">
            <a:spAutoFit/>
          </a:bodyPr>
          <a:lstStyle/>
          <a:p>
            <a:pPr algn="ctr">
              <a:defRPr sz="1000" b="1">
                <a:solidFill>
                  <a:srgbClr val="FFFFFF"/>
                </a:solidFill>
                <a:latin typeface="Arial"/>
              </a:defRPr>
            </a:pPr>
            <a:r>
              <a:rPr lang="en-US" dirty="0"/>
              <a:t>Hosted</a:t>
            </a:r>
            <a:r>
              <a:rPr dirty="0"/>
              <a:t> Agent</a:t>
            </a:r>
            <a:r>
              <a:rPr lang="en-US" dirty="0"/>
              <a:t>s</a:t>
            </a:r>
            <a:endParaRPr dirty="0"/>
          </a:p>
        </p:txBody>
      </p:sp>
      <p:sp>
        <p:nvSpPr>
          <p:cNvPr id="20" name="Rectangle 19"/>
          <p:cNvSpPr/>
          <p:nvPr/>
        </p:nvSpPr>
        <p:spPr>
          <a:xfrm>
            <a:off x="7589520" y="3429000"/>
            <a:ext cx="1371600" cy="25146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046720" y="3108960"/>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6</a:t>
            </a:r>
          </a:p>
        </p:txBody>
      </p:sp>
      <p:sp>
        <p:nvSpPr>
          <p:cNvPr id="22" name="TextBox 21"/>
          <p:cNvSpPr txBox="1"/>
          <p:nvPr/>
        </p:nvSpPr>
        <p:spPr>
          <a:xfrm>
            <a:off x="7589520" y="3474720"/>
            <a:ext cx="1371600" cy="365760"/>
          </a:xfrm>
          <a:prstGeom prst="rect">
            <a:avLst/>
          </a:prstGeom>
          <a:noFill/>
        </p:spPr>
        <p:txBody>
          <a:bodyPr wrap="square">
            <a:spAutoFit/>
          </a:bodyPr>
          <a:lstStyle/>
          <a:p>
            <a:pPr algn="ctr">
              <a:defRPr sz="1000" b="1">
                <a:solidFill>
                  <a:srgbClr val="FFFFFF"/>
                </a:solidFill>
                <a:latin typeface="Arial"/>
              </a:defRPr>
            </a:pPr>
            <a:r>
              <a:t>Multi-Agent</a:t>
            </a:r>
          </a:p>
        </p:txBody>
      </p:sp>
      <p:sp>
        <p:nvSpPr>
          <p:cNvPr id="24" name="Rectangle 23"/>
          <p:cNvSpPr/>
          <p:nvPr/>
        </p:nvSpPr>
        <p:spPr>
          <a:xfrm>
            <a:off x="9034272" y="3017520"/>
            <a:ext cx="1371600" cy="292608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491472" y="2697480"/>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7</a:t>
            </a:r>
          </a:p>
        </p:txBody>
      </p:sp>
      <p:sp>
        <p:nvSpPr>
          <p:cNvPr id="26" name="TextBox 25"/>
          <p:cNvSpPr txBox="1"/>
          <p:nvPr/>
        </p:nvSpPr>
        <p:spPr>
          <a:xfrm>
            <a:off x="9034272" y="3063240"/>
            <a:ext cx="1371600" cy="365760"/>
          </a:xfrm>
          <a:prstGeom prst="rect">
            <a:avLst/>
          </a:prstGeom>
          <a:noFill/>
        </p:spPr>
        <p:txBody>
          <a:bodyPr wrap="square">
            <a:spAutoFit/>
          </a:bodyPr>
          <a:lstStyle/>
          <a:p>
            <a:pPr algn="ctr">
              <a:defRPr sz="1000" b="1">
                <a:solidFill>
                  <a:srgbClr val="FFFFFF"/>
                </a:solidFill>
                <a:latin typeface="Arial"/>
              </a:defRPr>
            </a:pPr>
            <a:r>
              <a:t>10+ Agents</a:t>
            </a:r>
          </a:p>
        </p:txBody>
      </p:sp>
      <p:sp>
        <p:nvSpPr>
          <p:cNvPr id="28" name="Rectangle 27"/>
          <p:cNvSpPr/>
          <p:nvPr/>
        </p:nvSpPr>
        <p:spPr>
          <a:xfrm>
            <a:off x="10479024" y="2606040"/>
            <a:ext cx="1371600" cy="333756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936224" y="2286000"/>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8</a:t>
            </a:r>
          </a:p>
        </p:txBody>
      </p:sp>
      <p:sp>
        <p:nvSpPr>
          <p:cNvPr id="30" name="TextBox 29"/>
          <p:cNvSpPr txBox="1"/>
          <p:nvPr/>
        </p:nvSpPr>
        <p:spPr>
          <a:xfrm>
            <a:off x="10479024" y="2651760"/>
            <a:ext cx="1371600" cy="365760"/>
          </a:xfrm>
          <a:prstGeom prst="rect">
            <a:avLst/>
          </a:prstGeom>
          <a:noFill/>
        </p:spPr>
        <p:txBody>
          <a:bodyPr wrap="square">
            <a:spAutoFit/>
          </a:bodyPr>
          <a:lstStyle/>
          <a:p>
            <a:pPr algn="ctr">
              <a:defRPr sz="1000" b="1">
                <a:solidFill>
                  <a:srgbClr val="FFFFFF"/>
                </a:solidFill>
                <a:latin typeface="Arial"/>
              </a:defRPr>
            </a:pPr>
            <a:r>
              <a:t>Orchestrator</a:t>
            </a:r>
          </a:p>
        </p:txBody>
      </p:sp>
      <p:sp>
        <p:nvSpPr>
          <p:cNvPr id="31" name="TextBox 30"/>
          <p:cNvSpPr txBox="1"/>
          <p:nvPr/>
        </p:nvSpPr>
        <p:spPr>
          <a:xfrm>
            <a:off x="10479024" y="2971800"/>
            <a:ext cx="1371600" cy="731520"/>
          </a:xfrm>
          <a:prstGeom prst="rect">
            <a:avLst/>
          </a:prstGeom>
          <a:noFill/>
        </p:spPr>
        <p:txBody>
          <a:bodyPr wrap="square">
            <a:spAutoFit/>
          </a:bodyPr>
          <a:lstStyle/>
          <a:p>
            <a:pPr algn="ctr">
              <a:defRPr sz="800" b="0">
                <a:solidFill>
                  <a:srgbClr val="FFFFFF"/>
                </a:solidFill>
                <a:latin typeface="Arial"/>
              </a:defRPr>
            </a:pPr>
            <a:r>
              <a:rPr dirty="0"/>
              <a:t>Factory</a:t>
            </a:r>
            <a:br>
              <a:rPr dirty="0"/>
            </a:br>
            <a:r>
              <a:rPr dirty="0"/>
              <a:t>operator</a:t>
            </a:r>
          </a:p>
        </p:txBody>
      </p:sp>
      <p:sp>
        <p:nvSpPr>
          <p:cNvPr id="32" name="Rectangle 31"/>
          <p:cNvSpPr/>
          <p:nvPr/>
        </p:nvSpPr>
        <p:spPr>
          <a:xfrm>
            <a:off x="365760" y="6126480"/>
            <a:ext cx="2889504" cy="36576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1: Chatbots</a:t>
            </a:r>
          </a:p>
        </p:txBody>
      </p:sp>
      <p:sp>
        <p:nvSpPr>
          <p:cNvPr id="33" name="Rectangle 32"/>
          <p:cNvSpPr/>
          <p:nvPr/>
        </p:nvSpPr>
        <p:spPr>
          <a:xfrm>
            <a:off x="3255264" y="6126480"/>
            <a:ext cx="2889504" cy="3657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2: Insights</a:t>
            </a:r>
          </a:p>
        </p:txBody>
      </p:sp>
      <p:sp>
        <p:nvSpPr>
          <p:cNvPr id="34" name="Rectangle 33"/>
          <p:cNvSpPr/>
          <p:nvPr/>
        </p:nvSpPr>
        <p:spPr>
          <a:xfrm>
            <a:off x="6144768" y="6126480"/>
            <a:ext cx="5669280" cy="36576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3: Agentic Operations</a:t>
            </a:r>
          </a:p>
        </p:txBody>
      </p:sp>
      <p:sp>
        <p:nvSpPr>
          <p:cNvPr id="35" name="TextBox 34"/>
          <p:cNvSpPr txBox="1"/>
          <p:nvPr/>
        </p:nvSpPr>
        <p:spPr>
          <a:xfrm>
            <a:off x="457200" y="6537960"/>
            <a:ext cx="11247120" cy="274320"/>
          </a:xfrm>
          <a:prstGeom prst="rect">
            <a:avLst/>
          </a:prstGeom>
          <a:noFill/>
        </p:spPr>
        <p:txBody>
          <a:bodyPr wrap="square">
            <a:spAutoFit/>
          </a:bodyPr>
          <a:lstStyle/>
          <a:p>
            <a:pPr algn="ctr">
              <a:defRPr sz="1200" b="1">
                <a:solidFill>
                  <a:srgbClr val="333333"/>
                </a:solidFill>
                <a:latin typeface="Arial"/>
              </a:defRPr>
            </a:pPr>
            <a:r>
              <a:t>As trust increases, humans shift from doing to directing</a:t>
            </a:r>
          </a:p>
        </p:txBody>
      </p:sp>
      <p:sp>
        <p:nvSpPr>
          <p:cNvPr id="36" name="TextBox 35"/>
          <p:cNvSpPr txBox="1"/>
          <p:nvPr/>
        </p:nvSpPr>
        <p:spPr>
          <a:xfrm>
            <a:off x="274320" y="6573325"/>
            <a:ext cx="11612880" cy="365760"/>
          </a:xfrm>
          <a:prstGeom prst="rect">
            <a:avLst/>
          </a:prstGeom>
          <a:noFill/>
        </p:spPr>
        <p:txBody>
          <a:bodyPr wrap="none">
            <a:spAutoFit/>
          </a:bodyPr>
          <a:lstStyle/>
          <a:p>
            <a:pPr>
              <a:defRPr sz="900" i="1">
                <a:solidFill>
                  <a:srgbClr val="999999"/>
                </a:solidFill>
              </a:defRPr>
            </a:pPr>
            <a:r>
              <a:rPr dirty="0"/>
              <a:t>Source: Adapted from Steve Yegge's Developer-Agent Evolution Model (2026)</a:t>
            </a:r>
          </a:p>
        </p:txBody>
      </p:sp>
      <p:sp>
        <p:nvSpPr>
          <p:cNvPr id="37" name="TextBox 36"/>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Three Waves of Enterprise GenAI</a:t>
            </a:r>
          </a:p>
        </p:txBody>
      </p:sp>
      <p:sp>
        <p:nvSpPr>
          <p:cNvPr id="4" name="Rectangle 3"/>
          <p:cNvSpPr/>
          <p:nvPr/>
        </p:nvSpPr>
        <p:spPr>
          <a:xfrm>
            <a:off x="731520" y="3291840"/>
            <a:ext cx="10698480" cy="73152"/>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2057400" y="2926080"/>
            <a:ext cx="822960" cy="82296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FFFFFF"/>
                </a:solidFill>
                <a:latin typeface="Arial"/>
              </a:defRPr>
            </a:pPr>
            <a:r>
              <a:t>1</a:t>
            </a:r>
          </a:p>
        </p:txBody>
      </p:sp>
      <p:sp>
        <p:nvSpPr>
          <p:cNvPr id="6" name="Rounded Rectangle 5"/>
          <p:cNvSpPr/>
          <p:nvPr/>
        </p:nvSpPr>
        <p:spPr>
          <a:xfrm>
            <a:off x="731520" y="3838746"/>
            <a:ext cx="3474720" cy="25603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975906"/>
            <a:ext cx="3474720" cy="457200"/>
          </a:xfrm>
          <a:prstGeom prst="rect">
            <a:avLst/>
          </a:prstGeom>
          <a:noFill/>
        </p:spPr>
        <p:txBody>
          <a:bodyPr wrap="square">
            <a:spAutoFit/>
          </a:bodyPr>
          <a:lstStyle/>
          <a:p>
            <a:pPr algn="ctr">
              <a:defRPr sz="1800" b="1">
                <a:solidFill>
                  <a:srgbClr val="4597D3"/>
                </a:solidFill>
                <a:latin typeface="Arial"/>
              </a:defRPr>
            </a:pPr>
            <a:r>
              <a:t>CHATBOTS</a:t>
            </a:r>
          </a:p>
        </p:txBody>
      </p:sp>
      <p:sp>
        <p:nvSpPr>
          <p:cNvPr id="8" name="TextBox 7"/>
          <p:cNvSpPr txBox="1"/>
          <p:nvPr/>
        </p:nvSpPr>
        <p:spPr>
          <a:xfrm>
            <a:off x="731520" y="4341666"/>
            <a:ext cx="3474720" cy="365760"/>
          </a:xfrm>
          <a:prstGeom prst="rect">
            <a:avLst/>
          </a:prstGeom>
          <a:noFill/>
        </p:spPr>
        <p:txBody>
          <a:bodyPr wrap="square">
            <a:spAutoFit/>
          </a:bodyPr>
          <a:lstStyle/>
          <a:p>
            <a:pPr algn="ctr">
              <a:defRPr sz="1200" b="0">
                <a:solidFill>
                  <a:srgbClr val="333333"/>
                </a:solidFill>
                <a:latin typeface="Arial"/>
              </a:defRPr>
            </a:pPr>
            <a:r>
              <a:t>2022-2023</a:t>
            </a:r>
          </a:p>
        </p:txBody>
      </p:sp>
      <p:sp>
        <p:nvSpPr>
          <p:cNvPr id="9" name="Rounded Rectangle 8"/>
          <p:cNvSpPr/>
          <p:nvPr/>
        </p:nvSpPr>
        <p:spPr>
          <a:xfrm>
            <a:off x="1737360" y="4753146"/>
            <a:ext cx="1463040" cy="41148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dirty="0"/>
              <a:t>Stage</a:t>
            </a:r>
            <a:r>
              <a:rPr lang="en-US" dirty="0"/>
              <a:t>s</a:t>
            </a:r>
            <a:r>
              <a:rPr dirty="0"/>
              <a:t> 1</a:t>
            </a:r>
            <a:r>
              <a:rPr lang="en-US" dirty="0"/>
              <a:t>-2</a:t>
            </a:r>
            <a:endParaRPr dirty="0"/>
          </a:p>
        </p:txBody>
      </p:sp>
      <p:sp>
        <p:nvSpPr>
          <p:cNvPr id="10" name="TextBox 9"/>
          <p:cNvSpPr txBox="1"/>
          <p:nvPr/>
        </p:nvSpPr>
        <p:spPr>
          <a:xfrm>
            <a:off x="914400" y="5256066"/>
            <a:ext cx="3108960" cy="1097280"/>
          </a:xfrm>
          <a:prstGeom prst="rect">
            <a:avLst/>
          </a:prstGeom>
          <a:noFill/>
        </p:spPr>
        <p:txBody>
          <a:bodyPr wrap="square">
            <a:spAutoFit/>
          </a:bodyPr>
          <a:lstStyle/>
          <a:p>
            <a:pPr algn="ctr">
              <a:defRPr sz="1200" b="0">
                <a:solidFill>
                  <a:srgbClr val="333333"/>
                </a:solidFill>
                <a:latin typeface="Arial"/>
              </a:defRPr>
            </a:pPr>
            <a:r>
              <a:t>Permission-based</a:t>
            </a:r>
            <a:br/>
            <a:r>
              <a:t>Single interactions</a:t>
            </a:r>
            <a:br/>
            <a:r>
              <a:t>Human does the work</a:t>
            </a:r>
          </a:p>
        </p:txBody>
      </p:sp>
      <p:sp>
        <p:nvSpPr>
          <p:cNvPr id="11" name="Oval 10"/>
          <p:cNvSpPr/>
          <p:nvPr/>
        </p:nvSpPr>
        <p:spPr>
          <a:xfrm>
            <a:off x="5897880" y="2926080"/>
            <a:ext cx="822960" cy="82296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FFFFFF"/>
                </a:solidFill>
                <a:latin typeface="Arial"/>
              </a:defRPr>
            </a:pPr>
            <a:r>
              <a:t>2</a:t>
            </a:r>
          </a:p>
        </p:txBody>
      </p:sp>
      <p:sp>
        <p:nvSpPr>
          <p:cNvPr id="12" name="Rounded Rectangle 11"/>
          <p:cNvSpPr/>
          <p:nvPr/>
        </p:nvSpPr>
        <p:spPr>
          <a:xfrm>
            <a:off x="4572000" y="3838746"/>
            <a:ext cx="3474720" cy="25603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3975906"/>
            <a:ext cx="3474720" cy="457200"/>
          </a:xfrm>
          <a:prstGeom prst="rect">
            <a:avLst/>
          </a:prstGeom>
          <a:noFill/>
        </p:spPr>
        <p:txBody>
          <a:bodyPr wrap="square">
            <a:spAutoFit/>
          </a:bodyPr>
          <a:lstStyle/>
          <a:p>
            <a:pPr algn="ctr">
              <a:defRPr sz="1800" b="1">
                <a:solidFill>
                  <a:srgbClr val="5BC2A7"/>
                </a:solidFill>
                <a:latin typeface="Arial"/>
              </a:defRPr>
            </a:pPr>
            <a:r>
              <a:t>INSIGHTS</a:t>
            </a:r>
          </a:p>
        </p:txBody>
      </p:sp>
      <p:sp>
        <p:nvSpPr>
          <p:cNvPr id="14" name="TextBox 13"/>
          <p:cNvSpPr txBox="1"/>
          <p:nvPr/>
        </p:nvSpPr>
        <p:spPr>
          <a:xfrm>
            <a:off x="4572000" y="4341666"/>
            <a:ext cx="3474720" cy="276999"/>
          </a:xfrm>
          <a:prstGeom prst="rect">
            <a:avLst/>
          </a:prstGeom>
          <a:noFill/>
        </p:spPr>
        <p:txBody>
          <a:bodyPr wrap="square">
            <a:spAutoFit/>
          </a:bodyPr>
          <a:lstStyle/>
          <a:p>
            <a:pPr algn="ctr">
              <a:defRPr sz="1200" b="0">
                <a:solidFill>
                  <a:srgbClr val="333333"/>
                </a:solidFill>
                <a:latin typeface="Arial"/>
              </a:defRPr>
            </a:pPr>
            <a:r>
              <a:rPr dirty="0"/>
              <a:t>2024-202</a:t>
            </a:r>
            <a:r>
              <a:rPr lang="en-US" dirty="0"/>
              <a:t>6</a:t>
            </a:r>
            <a:endParaRPr dirty="0"/>
          </a:p>
        </p:txBody>
      </p:sp>
      <p:sp>
        <p:nvSpPr>
          <p:cNvPr id="15" name="Rounded Rectangle 14"/>
          <p:cNvSpPr/>
          <p:nvPr/>
        </p:nvSpPr>
        <p:spPr>
          <a:xfrm>
            <a:off x="5577840" y="4753146"/>
            <a:ext cx="1463040" cy="41148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Stages 3-4</a:t>
            </a:r>
          </a:p>
        </p:txBody>
      </p:sp>
      <p:sp>
        <p:nvSpPr>
          <p:cNvPr id="16" name="TextBox 15"/>
          <p:cNvSpPr txBox="1"/>
          <p:nvPr/>
        </p:nvSpPr>
        <p:spPr>
          <a:xfrm>
            <a:off x="4754880" y="5256066"/>
            <a:ext cx="3108960" cy="1097280"/>
          </a:xfrm>
          <a:prstGeom prst="rect">
            <a:avLst/>
          </a:prstGeom>
          <a:noFill/>
        </p:spPr>
        <p:txBody>
          <a:bodyPr wrap="square">
            <a:spAutoFit/>
          </a:bodyPr>
          <a:lstStyle/>
          <a:p>
            <a:pPr algn="ctr">
              <a:defRPr sz="1200" b="0">
                <a:solidFill>
                  <a:srgbClr val="333333"/>
                </a:solidFill>
                <a:latin typeface="Arial"/>
              </a:defRPr>
            </a:pPr>
            <a:r>
              <a:t>Autonomy emerges</a:t>
            </a:r>
            <a:br/>
            <a:r>
              <a:t>Wider context</a:t>
            </a:r>
            <a:br/>
            <a:r>
              <a:t>Human reviews output</a:t>
            </a:r>
          </a:p>
        </p:txBody>
      </p:sp>
      <p:sp>
        <p:nvSpPr>
          <p:cNvPr id="17" name="Oval 16"/>
          <p:cNvSpPr/>
          <p:nvPr/>
        </p:nvSpPr>
        <p:spPr>
          <a:xfrm>
            <a:off x="9738360" y="2926080"/>
            <a:ext cx="822960" cy="82296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FFFFFF"/>
                </a:solidFill>
                <a:latin typeface="Arial"/>
              </a:defRPr>
            </a:pPr>
            <a:r>
              <a:t>3</a:t>
            </a:r>
          </a:p>
        </p:txBody>
      </p:sp>
      <p:sp>
        <p:nvSpPr>
          <p:cNvPr id="18" name="Rounded Rectangle 17"/>
          <p:cNvSpPr/>
          <p:nvPr/>
        </p:nvSpPr>
        <p:spPr>
          <a:xfrm>
            <a:off x="8412480" y="3838746"/>
            <a:ext cx="3474720" cy="25603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3975906"/>
            <a:ext cx="3474720" cy="457200"/>
          </a:xfrm>
          <a:prstGeom prst="rect">
            <a:avLst/>
          </a:prstGeom>
          <a:noFill/>
        </p:spPr>
        <p:txBody>
          <a:bodyPr wrap="square">
            <a:spAutoFit/>
          </a:bodyPr>
          <a:lstStyle/>
          <a:p>
            <a:pPr algn="ctr">
              <a:defRPr sz="1800" b="1">
                <a:solidFill>
                  <a:srgbClr val="F5BB41"/>
                </a:solidFill>
                <a:latin typeface="Arial"/>
              </a:defRPr>
            </a:pPr>
            <a:r>
              <a:t>AGENTIC</a:t>
            </a:r>
          </a:p>
        </p:txBody>
      </p:sp>
      <p:sp>
        <p:nvSpPr>
          <p:cNvPr id="20" name="TextBox 19"/>
          <p:cNvSpPr txBox="1"/>
          <p:nvPr/>
        </p:nvSpPr>
        <p:spPr>
          <a:xfrm>
            <a:off x="8412480" y="4341666"/>
            <a:ext cx="3474720" cy="276999"/>
          </a:xfrm>
          <a:prstGeom prst="rect">
            <a:avLst/>
          </a:prstGeom>
          <a:noFill/>
        </p:spPr>
        <p:txBody>
          <a:bodyPr wrap="square">
            <a:spAutoFit/>
          </a:bodyPr>
          <a:lstStyle/>
          <a:p>
            <a:pPr algn="ctr">
              <a:defRPr sz="1200" b="0">
                <a:solidFill>
                  <a:srgbClr val="333333"/>
                </a:solidFill>
                <a:latin typeface="Arial"/>
              </a:defRPr>
            </a:pPr>
            <a:r>
              <a:rPr dirty="0"/>
              <a:t>202</a:t>
            </a:r>
            <a:r>
              <a:rPr lang="en-US" dirty="0"/>
              <a:t>7+</a:t>
            </a:r>
            <a:endParaRPr dirty="0"/>
          </a:p>
        </p:txBody>
      </p:sp>
      <p:sp>
        <p:nvSpPr>
          <p:cNvPr id="21" name="Rounded Rectangle 20"/>
          <p:cNvSpPr/>
          <p:nvPr/>
        </p:nvSpPr>
        <p:spPr>
          <a:xfrm>
            <a:off x="9418320" y="4753146"/>
            <a:ext cx="1463040" cy="41148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Stages 5-8</a:t>
            </a:r>
          </a:p>
        </p:txBody>
      </p:sp>
      <p:sp>
        <p:nvSpPr>
          <p:cNvPr id="22" name="TextBox 21"/>
          <p:cNvSpPr txBox="1"/>
          <p:nvPr/>
        </p:nvSpPr>
        <p:spPr>
          <a:xfrm>
            <a:off x="8595360" y="5256066"/>
            <a:ext cx="3108960" cy="1097280"/>
          </a:xfrm>
          <a:prstGeom prst="rect">
            <a:avLst/>
          </a:prstGeom>
          <a:noFill/>
        </p:spPr>
        <p:txBody>
          <a:bodyPr wrap="square">
            <a:spAutoFit/>
          </a:bodyPr>
          <a:lstStyle/>
          <a:p>
            <a:pPr algn="ctr">
              <a:defRPr sz="1200" b="0">
                <a:solidFill>
                  <a:srgbClr val="333333"/>
                </a:solidFill>
                <a:latin typeface="Arial"/>
              </a:defRPr>
            </a:pPr>
            <a:r>
              <a:t>Multi-agent swarms</a:t>
            </a:r>
            <a:br/>
            <a:r>
              <a:t>Orchestration</a:t>
            </a:r>
            <a:br/>
            <a:r>
              <a:t>Human directs</a:t>
            </a:r>
          </a:p>
        </p:txBody>
      </p:sp>
      <p:sp>
        <p:nvSpPr>
          <p:cNvPr id="23" name="Right Arrow 22"/>
          <p:cNvSpPr/>
          <p:nvPr/>
        </p:nvSpPr>
        <p:spPr>
          <a:xfrm>
            <a:off x="1371600" y="1560779"/>
            <a:ext cx="9601200" cy="457200"/>
          </a:xfrm>
          <a:prstGeom prst="rightArrow">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1234440"/>
            <a:ext cx="1371600" cy="365760"/>
          </a:xfrm>
          <a:prstGeom prst="rect">
            <a:avLst/>
          </a:prstGeom>
          <a:noFill/>
        </p:spPr>
        <p:txBody>
          <a:bodyPr wrap="square">
            <a:spAutoFit/>
          </a:bodyPr>
          <a:lstStyle/>
          <a:p>
            <a:pPr algn="ctr">
              <a:defRPr sz="1600" b="1">
                <a:solidFill>
                  <a:srgbClr val="005596"/>
                </a:solidFill>
                <a:latin typeface="Arial"/>
              </a:defRPr>
            </a:pPr>
            <a:r>
              <a:t>$5.4B</a:t>
            </a:r>
          </a:p>
        </p:txBody>
      </p:sp>
      <p:sp>
        <p:nvSpPr>
          <p:cNvPr id="25" name="TextBox 24"/>
          <p:cNvSpPr txBox="1"/>
          <p:nvPr/>
        </p:nvSpPr>
        <p:spPr>
          <a:xfrm>
            <a:off x="10058400" y="1234440"/>
            <a:ext cx="1371600" cy="365760"/>
          </a:xfrm>
          <a:prstGeom prst="rect">
            <a:avLst/>
          </a:prstGeom>
          <a:noFill/>
        </p:spPr>
        <p:txBody>
          <a:bodyPr wrap="square">
            <a:spAutoFit/>
          </a:bodyPr>
          <a:lstStyle/>
          <a:p>
            <a:pPr algn="ctr">
              <a:defRPr sz="1600" b="1">
                <a:solidFill>
                  <a:srgbClr val="005596"/>
                </a:solidFill>
                <a:latin typeface="Arial"/>
              </a:defRPr>
            </a:pPr>
            <a:r>
              <a:t>$52B+</a:t>
            </a:r>
          </a:p>
        </p:txBody>
      </p:sp>
      <p:sp>
        <p:nvSpPr>
          <p:cNvPr id="26" name="TextBox 25"/>
          <p:cNvSpPr txBox="1"/>
          <p:nvPr/>
        </p:nvSpPr>
        <p:spPr>
          <a:xfrm>
            <a:off x="4572000" y="1920240"/>
            <a:ext cx="3017520" cy="365760"/>
          </a:xfrm>
          <a:prstGeom prst="rect">
            <a:avLst/>
          </a:prstGeom>
          <a:noFill/>
        </p:spPr>
        <p:txBody>
          <a:bodyPr wrap="square">
            <a:spAutoFit/>
          </a:bodyPr>
          <a:lstStyle/>
          <a:p>
            <a:pPr algn="ctr">
              <a:defRPr sz="1100" b="0">
                <a:solidFill>
                  <a:srgbClr val="999999"/>
                </a:solidFill>
                <a:latin typeface="Arial"/>
              </a:defRPr>
            </a:pPr>
            <a:r>
              <a:t>Enterprise AI Market</a:t>
            </a:r>
          </a:p>
        </p:txBody>
      </p:sp>
      <p:sp>
        <p:nvSpPr>
          <p:cNvPr id="27" name="TextBox 26"/>
          <p:cNvSpPr txBox="1"/>
          <p:nvPr/>
        </p:nvSpPr>
        <p:spPr>
          <a:xfrm>
            <a:off x="11430000" y="6581946"/>
            <a:ext cx="640080" cy="365760"/>
          </a:xfrm>
          <a:prstGeom prst="rect">
            <a:avLst/>
          </a:prstGeom>
          <a:noFill/>
        </p:spPr>
        <p:txBody>
          <a:bodyPr wrap="none">
            <a:spAutoFit/>
          </a:bodyPr>
          <a:lstStyle/>
          <a:p>
            <a:pPr algn="r">
              <a:defRPr sz="1000">
                <a:solidFill>
                  <a:srgbClr val="999999"/>
                </a:solidFill>
              </a:defRPr>
            </a:pPr>
            <a:r>
              <a:t>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4572000" cy="457200"/>
          </a:xfrm>
          <a:prstGeom prst="rect">
            <a:avLst/>
          </a:prstGeom>
          <a:noFill/>
        </p:spPr>
        <p:txBody>
          <a:bodyPr wrap="square">
            <a:spAutoFit/>
          </a:bodyPr>
          <a:lstStyle/>
          <a:p>
            <a:pPr algn="l">
              <a:defRPr sz="1400" b="1">
                <a:solidFill>
                  <a:srgbClr val="5BC2A7"/>
                </a:solidFill>
                <a:latin typeface="Arial"/>
              </a:defRPr>
            </a:pPr>
            <a:r>
              <a:t>THE CRITICAL MOMENT</a:t>
            </a:r>
          </a:p>
        </p:txBody>
      </p:sp>
      <p:sp>
        <p:nvSpPr>
          <p:cNvPr id="3" name="TextBox 2"/>
          <p:cNvSpPr txBox="1"/>
          <p:nvPr/>
        </p:nvSpPr>
        <p:spPr>
          <a:xfrm>
            <a:off x="457200" y="822960"/>
            <a:ext cx="10972800" cy="822960"/>
          </a:xfrm>
          <a:prstGeom prst="rect">
            <a:avLst/>
          </a:prstGeom>
          <a:noFill/>
        </p:spPr>
        <p:txBody>
          <a:bodyPr wrap="square">
            <a:spAutoFit/>
          </a:bodyPr>
          <a:lstStyle/>
          <a:p>
            <a:pPr algn="l">
              <a:defRPr sz="4000" b="1">
                <a:solidFill>
                  <a:srgbClr val="FFFFFF"/>
                </a:solidFill>
                <a:latin typeface="Arial"/>
              </a:defRPr>
            </a:pPr>
            <a:r>
              <a:t>The Autonomy Inflection Point</a:t>
            </a:r>
          </a:p>
        </p:txBody>
      </p:sp>
      <p:sp>
        <p:nvSpPr>
          <p:cNvPr id="4" name="Rounded Rectangle 3"/>
          <p:cNvSpPr/>
          <p:nvPr/>
        </p:nvSpPr>
        <p:spPr>
          <a:xfrm>
            <a:off x="457200" y="2011680"/>
            <a:ext cx="5029200" cy="41148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194560"/>
            <a:ext cx="5029200" cy="548640"/>
          </a:xfrm>
          <a:prstGeom prst="rect">
            <a:avLst/>
          </a:prstGeom>
          <a:noFill/>
        </p:spPr>
        <p:txBody>
          <a:bodyPr wrap="square">
            <a:spAutoFit/>
          </a:bodyPr>
          <a:lstStyle/>
          <a:p>
            <a:pPr algn="ctr">
              <a:defRPr sz="2200" b="1">
                <a:solidFill>
                  <a:srgbClr val="FFFFFF"/>
                </a:solidFill>
                <a:latin typeface="Arial"/>
              </a:defRPr>
            </a:pPr>
            <a:r>
              <a:t>Before: Permission Mode</a:t>
            </a:r>
          </a:p>
        </p:txBody>
      </p:sp>
      <p:sp>
        <p:nvSpPr>
          <p:cNvPr id="6" name="TextBox 5"/>
          <p:cNvSpPr txBox="1"/>
          <p:nvPr/>
        </p:nvSpPr>
        <p:spPr>
          <a:xfrm>
            <a:off x="731520" y="2926080"/>
            <a:ext cx="4572000" cy="2743200"/>
          </a:xfrm>
          <a:prstGeom prst="rect">
            <a:avLst/>
          </a:prstGeom>
          <a:noFill/>
        </p:spPr>
        <p:txBody>
          <a:bodyPr wrap="square">
            <a:spAutoFit/>
          </a:bodyPr>
          <a:lstStyle/>
          <a:p>
            <a:pPr algn="l">
              <a:defRPr sz="1600" b="0">
                <a:solidFill>
                  <a:srgbClr val="FFFFFF"/>
                </a:solidFill>
                <a:latin typeface="Arial"/>
              </a:defRPr>
            </a:pPr>
            <a:r>
              <a:t>• Human approves every action</a:t>
            </a:r>
            <a:br/>
            <a:r>
              <a:t>• AI waits for permission</a:t>
            </a:r>
            <a:br/>
            <a:r>
              <a:t>• Slow but controlled</a:t>
            </a:r>
            <a:br/>
            <a:r>
              <a:t>• Trust is low</a:t>
            </a:r>
            <a:br/>
            <a:r>
              <a:t>• Human does verification</a:t>
            </a:r>
          </a:p>
        </p:txBody>
      </p:sp>
      <p:sp>
        <p:nvSpPr>
          <p:cNvPr id="7" name="Rounded Rectangle 6"/>
          <p:cNvSpPr/>
          <p:nvPr/>
        </p:nvSpPr>
        <p:spPr>
          <a:xfrm>
            <a:off x="6675120" y="2011680"/>
            <a:ext cx="5029200" cy="411480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0" y="2194560"/>
            <a:ext cx="5029200" cy="548640"/>
          </a:xfrm>
          <a:prstGeom prst="rect">
            <a:avLst/>
          </a:prstGeom>
          <a:noFill/>
        </p:spPr>
        <p:txBody>
          <a:bodyPr wrap="square">
            <a:spAutoFit/>
          </a:bodyPr>
          <a:lstStyle/>
          <a:p>
            <a:pPr algn="ctr">
              <a:defRPr sz="2200" b="1">
                <a:solidFill>
                  <a:srgbClr val="FFFFFF"/>
                </a:solidFill>
                <a:latin typeface="Arial"/>
              </a:defRPr>
            </a:pPr>
            <a:r>
              <a:t>After: Autonomous Mode</a:t>
            </a:r>
          </a:p>
        </p:txBody>
      </p:sp>
      <p:sp>
        <p:nvSpPr>
          <p:cNvPr id="9" name="TextBox 8"/>
          <p:cNvSpPr txBox="1"/>
          <p:nvPr/>
        </p:nvSpPr>
        <p:spPr>
          <a:xfrm>
            <a:off x="6949440" y="2926080"/>
            <a:ext cx="4572000" cy="2743200"/>
          </a:xfrm>
          <a:prstGeom prst="rect">
            <a:avLst/>
          </a:prstGeom>
          <a:noFill/>
        </p:spPr>
        <p:txBody>
          <a:bodyPr wrap="square">
            <a:spAutoFit/>
          </a:bodyPr>
          <a:lstStyle/>
          <a:p>
            <a:pPr algn="l">
              <a:defRPr sz="1600" b="0">
                <a:solidFill>
                  <a:srgbClr val="FFFFFF"/>
                </a:solidFill>
                <a:latin typeface="Arial"/>
              </a:defRPr>
            </a:pPr>
            <a:r>
              <a:t>• AI acts autonomously</a:t>
            </a:r>
            <a:br/>
            <a:r>
              <a:t>• Permissions turned off</a:t>
            </a:r>
            <a:br/>
            <a:r>
              <a:t>• Fast but risky</a:t>
            </a:r>
            <a:br/>
            <a:r>
              <a:t>• Trust is high</a:t>
            </a:r>
            <a:br/>
            <a:r>
              <a:t>• Governance becomes critical</a:t>
            </a:r>
          </a:p>
        </p:txBody>
      </p:sp>
      <p:sp>
        <p:nvSpPr>
          <p:cNvPr id="10" name="Right Arrow 9"/>
          <p:cNvSpPr/>
          <p:nvPr/>
        </p:nvSpPr>
        <p:spPr>
          <a:xfrm>
            <a:off x="5577840" y="3840480"/>
            <a:ext cx="1005840" cy="548640"/>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6263640"/>
            <a:ext cx="1124712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005596"/>
                </a:solidFill>
                <a:latin typeface="Arial"/>
              </a:defRPr>
            </a:pPr>
            <a:r>
              <a:t>When you turn off permissions, governance infrastructure becomes essential</a:t>
            </a:r>
          </a:p>
        </p:txBody>
      </p:sp>
      <p:sp>
        <p:nvSpPr>
          <p:cNvPr id="12" name="TextBox 11"/>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914400" y="0"/>
            <a:ext cx="4572000" cy="6858000"/>
          </a:xfrm>
          <a:prstGeom prst="parallelogram">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0"/>
            <a:ext cx="228600" cy="68580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286000"/>
            <a:ext cx="7315200" cy="1371600"/>
          </a:xfrm>
          <a:prstGeom prst="rect">
            <a:avLst/>
          </a:prstGeom>
          <a:noFill/>
        </p:spPr>
        <p:txBody>
          <a:bodyPr wrap="square">
            <a:spAutoFit/>
          </a:bodyPr>
          <a:lstStyle/>
          <a:p>
            <a:pPr algn="l">
              <a:defRPr sz="4400" b="1">
                <a:solidFill>
                  <a:srgbClr val="FFFFFF"/>
                </a:solidFill>
                <a:latin typeface="Arial"/>
              </a:defRPr>
            </a:pPr>
            <a:r>
              <a:t>The Intelligence</a:t>
            </a:r>
            <a:br/>
            <a:r>
              <a:t>Operating System</a:t>
            </a:r>
          </a:p>
        </p:txBody>
      </p:sp>
      <p:sp>
        <p:nvSpPr>
          <p:cNvPr id="5" name="TextBox 4"/>
          <p:cNvSpPr txBox="1"/>
          <p:nvPr/>
        </p:nvSpPr>
        <p:spPr>
          <a:xfrm>
            <a:off x="4114800" y="4114800"/>
            <a:ext cx="7315200" cy="914400"/>
          </a:xfrm>
          <a:prstGeom prst="rect">
            <a:avLst/>
          </a:prstGeom>
          <a:noFill/>
        </p:spPr>
        <p:txBody>
          <a:bodyPr wrap="square">
            <a:spAutoFit/>
          </a:bodyPr>
          <a:lstStyle/>
          <a:p>
            <a:pPr algn="l">
              <a:defRPr sz="2000" b="0">
                <a:solidFill>
                  <a:srgbClr val="5BC2A7"/>
                </a:solidFill>
                <a:latin typeface="Arial"/>
              </a:defRPr>
            </a:pPr>
            <a:r>
              <a:t>Infrastructure for the autonomous era:</a:t>
            </a:r>
            <a:br/>
            <a:r>
              <a:t>Governance when permissions are off</a:t>
            </a:r>
          </a:p>
        </p:txBody>
      </p:sp>
      <p:sp>
        <p:nvSpPr>
          <p:cNvPr id="6" name="TextBox 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The Three Layers of Intelligence OS</a:t>
            </a:r>
          </a:p>
        </p:txBody>
      </p:sp>
      <p:sp>
        <p:nvSpPr>
          <p:cNvPr id="4" name="Rounded Rectangle 3"/>
          <p:cNvSpPr/>
          <p:nvPr/>
        </p:nvSpPr>
        <p:spPr>
          <a:xfrm>
            <a:off x="1371600" y="1371600"/>
            <a:ext cx="9418320" cy="146304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0" y="1508760"/>
            <a:ext cx="2743200" cy="457200"/>
          </a:xfrm>
          <a:prstGeom prst="rect">
            <a:avLst/>
          </a:prstGeom>
          <a:noFill/>
        </p:spPr>
        <p:txBody>
          <a:bodyPr wrap="square">
            <a:spAutoFit/>
          </a:bodyPr>
          <a:lstStyle/>
          <a:p>
            <a:pPr algn="l">
              <a:defRPr sz="1200" b="1">
                <a:solidFill>
                  <a:srgbClr val="FFFFFF"/>
                </a:solidFill>
                <a:latin typeface="Arial"/>
              </a:defRPr>
            </a:pPr>
            <a:r>
              <a:t>LAYER 1</a:t>
            </a:r>
          </a:p>
        </p:txBody>
      </p:sp>
      <p:sp>
        <p:nvSpPr>
          <p:cNvPr id="6" name="TextBox 5"/>
          <p:cNvSpPr txBox="1"/>
          <p:nvPr/>
        </p:nvSpPr>
        <p:spPr>
          <a:xfrm>
            <a:off x="1828800" y="1874519"/>
            <a:ext cx="3657600" cy="548640"/>
          </a:xfrm>
          <a:prstGeom prst="rect">
            <a:avLst/>
          </a:prstGeom>
          <a:noFill/>
        </p:spPr>
        <p:txBody>
          <a:bodyPr wrap="square">
            <a:spAutoFit/>
          </a:bodyPr>
          <a:lstStyle/>
          <a:p>
            <a:pPr algn="l">
              <a:defRPr sz="2200" b="1">
                <a:solidFill>
                  <a:srgbClr val="FFFFFF"/>
                </a:solidFill>
                <a:latin typeface="Arial"/>
              </a:defRPr>
            </a:pPr>
            <a:r>
              <a:t>Hybrid Intelligence</a:t>
            </a:r>
          </a:p>
        </p:txBody>
      </p:sp>
      <p:sp>
        <p:nvSpPr>
          <p:cNvPr id="7" name="TextBox 6"/>
          <p:cNvSpPr txBox="1"/>
          <p:nvPr/>
        </p:nvSpPr>
        <p:spPr>
          <a:xfrm>
            <a:off x="5943600" y="1691640"/>
            <a:ext cx="4572000" cy="914400"/>
          </a:xfrm>
          <a:prstGeom prst="rect">
            <a:avLst/>
          </a:prstGeom>
          <a:noFill/>
        </p:spPr>
        <p:txBody>
          <a:bodyPr wrap="square">
            <a:spAutoFit/>
          </a:bodyPr>
          <a:lstStyle/>
          <a:p>
            <a:pPr algn="l">
              <a:defRPr sz="1400" b="0">
                <a:solidFill>
                  <a:srgbClr val="FFFFFF"/>
                </a:solidFill>
                <a:latin typeface="Arial"/>
              </a:defRPr>
            </a:pPr>
            <a:r>
              <a:t>Human expertise + AI swarms working together</a:t>
            </a:r>
            <a:br/>
            <a:r>
              <a:t>From tool user to factory operator</a:t>
            </a:r>
          </a:p>
        </p:txBody>
      </p:sp>
      <p:sp>
        <p:nvSpPr>
          <p:cNvPr id="8" name="Rounded Rectangle 7"/>
          <p:cNvSpPr/>
          <p:nvPr/>
        </p:nvSpPr>
        <p:spPr>
          <a:xfrm>
            <a:off x="1371600" y="3017520"/>
            <a:ext cx="9418320" cy="146304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28800" y="3154680"/>
            <a:ext cx="2743200" cy="457200"/>
          </a:xfrm>
          <a:prstGeom prst="rect">
            <a:avLst/>
          </a:prstGeom>
          <a:noFill/>
        </p:spPr>
        <p:txBody>
          <a:bodyPr wrap="square">
            <a:spAutoFit/>
          </a:bodyPr>
          <a:lstStyle/>
          <a:p>
            <a:pPr algn="l">
              <a:defRPr sz="1200" b="1">
                <a:solidFill>
                  <a:srgbClr val="FFFFFF"/>
                </a:solidFill>
                <a:latin typeface="Arial"/>
              </a:defRPr>
            </a:pPr>
            <a:r>
              <a:t>LAYER 2</a:t>
            </a:r>
          </a:p>
        </p:txBody>
      </p:sp>
      <p:sp>
        <p:nvSpPr>
          <p:cNvPr id="10" name="TextBox 9"/>
          <p:cNvSpPr txBox="1"/>
          <p:nvPr/>
        </p:nvSpPr>
        <p:spPr>
          <a:xfrm>
            <a:off x="1828800" y="3520440"/>
            <a:ext cx="3657600" cy="548640"/>
          </a:xfrm>
          <a:prstGeom prst="rect">
            <a:avLst/>
          </a:prstGeom>
          <a:noFill/>
        </p:spPr>
        <p:txBody>
          <a:bodyPr wrap="square">
            <a:spAutoFit/>
          </a:bodyPr>
          <a:lstStyle/>
          <a:p>
            <a:pPr algn="l">
              <a:defRPr sz="2200" b="1">
                <a:solidFill>
                  <a:srgbClr val="FFFFFF"/>
                </a:solidFill>
                <a:latin typeface="Arial"/>
              </a:defRPr>
            </a:pPr>
            <a:r>
              <a:t>Governance Engine</a:t>
            </a:r>
          </a:p>
        </p:txBody>
      </p:sp>
      <p:sp>
        <p:nvSpPr>
          <p:cNvPr id="11" name="TextBox 10"/>
          <p:cNvSpPr txBox="1"/>
          <p:nvPr/>
        </p:nvSpPr>
        <p:spPr>
          <a:xfrm>
            <a:off x="5943600" y="3337560"/>
            <a:ext cx="4572000" cy="914400"/>
          </a:xfrm>
          <a:prstGeom prst="rect">
            <a:avLst/>
          </a:prstGeom>
          <a:noFill/>
        </p:spPr>
        <p:txBody>
          <a:bodyPr wrap="square">
            <a:spAutoFit/>
          </a:bodyPr>
          <a:lstStyle/>
          <a:p>
            <a:pPr algn="l">
              <a:defRPr sz="1400" b="0">
                <a:solidFill>
                  <a:srgbClr val="FFFFFF"/>
                </a:solidFill>
                <a:latin typeface="Arial"/>
              </a:defRPr>
            </a:pPr>
            <a:r>
              <a:t>The safety net for autonomous mode</a:t>
            </a:r>
            <a:br/>
            <a:r>
              <a:t>Boundaries, trust, accountability</a:t>
            </a:r>
          </a:p>
        </p:txBody>
      </p:sp>
      <p:sp>
        <p:nvSpPr>
          <p:cNvPr id="12" name="Rounded Rectangle 11"/>
          <p:cNvSpPr/>
          <p:nvPr/>
        </p:nvSpPr>
        <p:spPr>
          <a:xfrm>
            <a:off x="1371600" y="4663440"/>
            <a:ext cx="9418320" cy="146304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0" y="4800600"/>
            <a:ext cx="2743200" cy="457200"/>
          </a:xfrm>
          <a:prstGeom prst="rect">
            <a:avLst/>
          </a:prstGeom>
          <a:noFill/>
        </p:spPr>
        <p:txBody>
          <a:bodyPr wrap="square">
            <a:spAutoFit/>
          </a:bodyPr>
          <a:lstStyle/>
          <a:p>
            <a:pPr algn="l">
              <a:defRPr sz="1200" b="1">
                <a:solidFill>
                  <a:srgbClr val="FFFFFF"/>
                </a:solidFill>
                <a:latin typeface="Arial"/>
              </a:defRPr>
            </a:pPr>
            <a:r>
              <a:t>LAYER 3</a:t>
            </a:r>
          </a:p>
        </p:txBody>
      </p:sp>
      <p:sp>
        <p:nvSpPr>
          <p:cNvPr id="14" name="TextBox 13"/>
          <p:cNvSpPr txBox="1"/>
          <p:nvPr/>
        </p:nvSpPr>
        <p:spPr>
          <a:xfrm>
            <a:off x="1828800" y="5166360"/>
            <a:ext cx="3657600" cy="548640"/>
          </a:xfrm>
          <a:prstGeom prst="rect">
            <a:avLst/>
          </a:prstGeom>
          <a:noFill/>
        </p:spPr>
        <p:txBody>
          <a:bodyPr wrap="square">
            <a:spAutoFit/>
          </a:bodyPr>
          <a:lstStyle/>
          <a:p>
            <a:pPr algn="l">
              <a:defRPr sz="2200" b="1">
                <a:solidFill>
                  <a:srgbClr val="FFFFFF"/>
                </a:solidFill>
                <a:latin typeface="Arial"/>
              </a:defRPr>
            </a:pPr>
            <a:r>
              <a:t>Operating Model</a:t>
            </a:r>
          </a:p>
        </p:txBody>
      </p:sp>
      <p:sp>
        <p:nvSpPr>
          <p:cNvPr id="15" name="TextBox 14"/>
          <p:cNvSpPr txBox="1"/>
          <p:nvPr/>
        </p:nvSpPr>
        <p:spPr>
          <a:xfrm>
            <a:off x="5943600" y="4983480"/>
            <a:ext cx="4572000" cy="914400"/>
          </a:xfrm>
          <a:prstGeom prst="rect">
            <a:avLst/>
          </a:prstGeom>
          <a:noFill/>
        </p:spPr>
        <p:txBody>
          <a:bodyPr wrap="square">
            <a:spAutoFit/>
          </a:bodyPr>
          <a:lstStyle/>
          <a:p>
            <a:pPr algn="l">
              <a:defRPr sz="1400" b="0">
                <a:solidFill>
                  <a:srgbClr val="FFFFFF"/>
                </a:solidFill>
                <a:latin typeface="Arial"/>
              </a:defRPr>
            </a:pPr>
            <a:r>
              <a:t>Orchestration infrastructure</a:t>
            </a:r>
            <a:br/>
            <a:r>
              <a:t>How you manage 10+ agents at scale</a:t>
            </a:r>
          </a:p>
        </p:txBody>
      </p:sp>
      <p:sp>
        <p:nvSpPr>
          <p:cNvPr id="16" name="TextBox 1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200" b="1">
                <a:solidFill>
                  <a:srgbClr val="005596"/>
                </a:solidFill>
                <a:latin typeface="Arial"/>
              </a:defRPr>
            </a:pPr>
            <a:r>
              <a:t>The Role Evolution: Contributor → Operator</a:t>
            </a:r>
          </a:p>
        </p:txBody>
      </p:sp>
      <p:sp>
        <p:nvSpPr>
          <p:cNvPr id="4" name="Rounded Rectangle 3"/>
          <p:cNvSpPr/>
          <p:nvPr/>
        </p:nvSpPr>
        <p:spPr>
          <a:xfrm>
            <a:off x="548640" y="1463040"/>
            <a:ext cx="2560320" cy="3200400"/>
          </a:xfrm>
          <a:prstGeom prst="round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0"/>
            <a:ext cx="2560320" cy="548640"/>
          </a:xfrm>
          <a:prstGeom prst="rect">
            <a:avLst/>
          </a:prstGeom>
          <a:noFill/>
        </p:spPr>
        <p:txBody>
          <a:bodyPr wrap="square">
            <a:spAutoFit/>
          </a:bodyPr>
          <a:lstStyle/>
          <a:p>
            <a:pPr algn="ctr">
              <a:defRPr sz="2400" b="1">
                <a:solidFill>
                  <a:srgbClr val="FFFFFF"/>
                </a:solidFill>
                <a:latin typeface="Arial"/>
              </a:defRPr>
            </a:pPr>
            <a:r>
              <a:t>Doer</a:t>
            </a:r>
          </a:p>
        </p:txBody>
      </p:sp>
      <p:sp>
        <p:nvSpPr>
          <p:cNvPr id="6" name="TextBox 5"/>
          <p:cNvSpPr txBox="1"/>
          <p:nvPr/>
        </p:nvSpPr>
        <p:spPr>
          <a:xfrm>
            <a:off x="548640" y="2286000"/>
            <a:ext cx="2560320" cy="1097280"/>
          </a:xfrm>
          <a:prstGeom prst="rect">
            <a:avLst/>
          </a:prstGeom>
          <a:noFill/>
        </p:spPr>
        <p:txBody>
          <a:bodyPr wrap="square">
            <a:spAutoFit/>
          </a:bodyPr>
          <a:lstStyle/>
          <a:p>
            <a:pPr algn="ctr">
              <a:defRPr sz="1600" b="0">
                <a:solidFill>
                  <a:srgbClr val="FFFFFF"/>
                </a:solidFill>
                <a:latin typeface="Arial"/>
              </a:defRPr>
            </a:pPr>
            <a:r>
              <a:t>You do</a:t>
            </a:r>
            <a:br/>
            <a:r>
              <a:t>the work</a:t>
            </a:r>
          </a:p>
        </p:txBody>
      </p:sp>
      <p:sp>
        <p:nvSpPr>
          <p:cNvPr id="7" name="Rounded Rectangle 6"/>
          <p:cNvSpPr/>
          <p:nvPr/>
        </p:nvSpPr>
        <p:spPr>
          <a:xfrm>
            <a:off x="1097280" y="3657600"/>
            <a:ext cx="146304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999999"/>
                </a:solidFill>
                <a:latin typeface="Arial"/>
              </a:defRPr>
            </a:pPr>
            <a:r>
              <a:t>Stages 1-2</a:t>
            </a:r>
          </a:p>
        </p:txBody>
      </p:sp>
      <p:sp>
        <p:nvSpPr>
          <p:cNvPr id="8" name="Right Arrow 7"/>
          <p:cNvSpPr/>
          <p:nvPr/>
        </p:nvSpPr>
        <p:spPr>
          <a:xfrm>
            <a:off x="3154680" y="2743200"/>
            <a:ext cx="274320" cy="36576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429000" y="1463040"/>
            <a:ext cx="2560320" cy="32004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645920"/>
            <a:ext cx="2560320" cy="548640"/>
          </a:xfrm>
          <a:prstGeom prst="rect">
            <a:avLst/>
          </a:prstGeom>
          <a:noFill/>
        </p:spPr>
        <p:txBody>
          <a:bodyPr wrap="square">
            <a:spAutoFit/>
          </a:bodyPr>
          <a:lstStyle/>
          <a:p>
            <a:pPr algn="ctr">
              <a:defRPr sz="2400" b="1">
                <a:solidFill>
                  <a:srgbClr val="FFFFFF"/>
                </a:solidFill>
                <a:latin typeface="Arial"/>
              </a:defRPr>
            </a:pPr>
            <a:r>
              <a:t>Reviewer</a:t>
            </a:r>
          </a:p>
        </p:txBody>
      </p:sp>
      <p:sp>
        <p:nvSpPr>
          <p:cNvPr id="11" name="TextBox 10"/>
          <p:cNvSpPr txBox="1"/>
          <p:nvPr/>
        </p:nvSpPr>
        <p:spPr>
          <a:xfrm>
            <a:off x="3429000" y="2286000"/>
            <a:ext cx="2560320" cy="1097280"/>
          </a:xfrm>
          <a:prstGeom prst="rect">
            <a:avLst/>
          </a:prstGeom>
          <a:noFill/>
        </p:spPr>
        <p:txBody>
          <a:bodyPr wrap="square">
            <a:spAutoFit/>
          </a:bodyPr>
          <a:lstStyle/>
          <a:p>
            <a:pPr algn="ctr">
              <a:defRPr sz="1600" b="0">
                <a:solidFill>
                  <a:srgbClr val="FFFFFF"/>
                </a:solidFill>
                <a:latin typeface="Arial"/>
              </a:defRPr>
            </a:pPr>
            <a:r>
              <a:t>AI drafts,</a:t>
            </a:r>
            <a:br/>
            <a:r>
              <a:t>you review</a:t>
            </a:r>
          </a:p>
        </p:txBody>
      </p:sp>
      <p:sp>
        <p:nvSpPr>
          <p:cNvPr id="12" name="Rounded Rectangle 11"/>
          <p:cNvSpPr/>
          <p:nvPr/>
        </p:nvSpPr>
        <p:spPr>
          <a:xfrm>
            <a:off x="3977640" y="3657600"/>
            <a:ext cx="146304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4597D3"/>
                </a:solidFill>
                <a:latin typeface="Arial"/>
              </a:defRPr>
            </a:pPr>
            <a:r>
              <a:t>Stages 3-4</a:t>
            </a:r>
          </a:p>
        </p:txBody>
      </p:sp>
      <p:sp>
        <p:nvSpPr>
          <p:cNvPr id="13" name="Right Arrow 12"/>
          <p:cNvSpPr/>
          <p:nvPr/>
        </p:nvSpPr>
        <p:spPr>
          <a:xfrm>
            <a:off x="6035040" y="2743200"/>
            <a:ext cx="274320" cy="36576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09360" y="1463040"/>
            <a:ext cx="2560320" cy="32004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0" y="1645920"/>
            <a:ext cx="2560320" cy="548640"/>
          </a:xfrm>
          <a:prstGeom prst="rect">
            <a:avLst/>
          </a:prstGeom>
          <a:noFill/>
        </p:spPr>
        <p:txBody>
          <a:bodyPr wrap="square">
            <a:spAutoFit/>
          </a:bodyPr>
          <a:lstStyle/>
          <a:p>
            <a:pPr algn="ctr">
              <a:defRPr sz="2400" b="1">
                <a:solidFill>
                  <a:srgbClr val="FFFFFF"/>
                </a:solidFill>
                <a:latin typeface="Arial"/>
              </a:defRPr>
            </a:pPr>
            <a:r>
              <a:t>Director</a:t>
            </a:r>
          </a:p>
        </p:txBody>
      </p:sp>
      <p:sp>
        <p:nvSpPr>
          <p:cNvPr id="16" name="TextBox 15"/>
          <p:cNvSpPr txBox="1"/>
          <p:nvPr/>
        </p:nvSpPr>
        <p:spPr>
          <a:xfrm>
            <a:off x="6309360" y="2286000"/>
            <a:ext cx="2560320" cy="1097280"/>
          </a:xfrm>
          <a:prstGeom prst="rect">
            <a:avLst/>
          </a:prstGeom>
          <a:noFill/>
        </p:spPr>
        <p:txBody>
          <a:bodyPr wrap="square">
            <a:spAutoFit/>
          </a:bodyPr>
          <a:lstStyle/>
          <a:p>
            <a:pPr algn="ctr">
              <a:defRPr sz="1600" b="0">
                <a:solidFill>
                  <a:srgbClr val="FFFFFF"/>
                </a:solidFill>
                <a:latin typeface="Arial"/>
              </a:defRPr>
            </a:pPr>
            <a:r>
              <a:t>You direct,</a:t>
            </a:r>
            <a:br/>
            <a:r>
              <a:t>AI executes</a:t>
            </a:r>
          </a:p>
        </p:txBody>
      </p:sp>
      <p:sp>
        <p:nvSpPr>
          <p:cNvPr id="17" name="Rounded Rectangle 16"/>
          <p:cNvSpPr/>
          <p:nvPr/>
        </p:nvSpPr>
        <p:spPr>
          <a:xfrm>
            <a:off x="6858000" y="3657600"/>
            <a:ext cx="146304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5BC2A7"/>
                </a:solidFill>
                <a:latin typeface="Arial"/>
              </a:defRPr>
            </a:pPr>
            <a:r>
              <a:t>Stages 5-6</a:t>
            </a:r>
          </a:p>
        </p:txBody>
      </p:sp>
      <p:sp>
        <p:nvSpPr>
          <p:cNvPr id="18" name="Right Arrow 17"/>
          <p:cNvSpPr/>
          <p:nvPr/>
        </p:nvSpPr>
        <p:spPr>
          <a:xfrm>
            <a:off x="8915400" y="2743200"/>
            <a:ext cx="274320" cy="36576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189720" y="1463040"/>
            <a:ext cx="2560320" cy="320040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89720" y="1645920"/>
            <a:ext cx="2560320" cy="548640"/>
          </a:xfrm>
          <a:prstGeom prst="rect">
            <a:avLst/>
          </a:prstGeom>
          <a:noFill/>
        </p:spPr>
        <p:txBody>
          <a:bodyPr wrap="square">
            <a:spAutoFit/>
          </a:bodyPr>
          <a:lstStyle/>
          <a:p>
            <a:pPr algn="ctr">
              <a:defRPr sz="2400" b="1">
                <a:solidFill>
                  <a:srgbClr val="FFFFFF"/>
                </a:solidFill>
                <a:latin typeface="Arial"/>
              </a:defRPr>
            </a:pPr>
            <a:r>
              <a:t>Operator</a:t>
            </a:r>
          </a:p>
        </p:txBody>
      </p:sp>
      <p:sp>
        <p:nvSpPr>
          <p:cNvPr id="21" name="TextBox 20"/>
          <p:cNvSpPr txBox="1"/>
          <p:nvPr/>
        </p:nvSpPr>
        <p:spPr>
          <a:xfrm>
            <a:off x="9189720" y="2286000"/>
            <a:ext cx="2560320" cy="1097280"/>
          </a:xfrm>
          <a:prstGeom prst="rect">
            <a:avLst/>
          </a:prstGeom>
          <a:noFill/>
        </p:spPr>
        <p:txBody>
          <a:bodyPr wrap="square">
            <a:spAutoFit/>
          </a:bodyPr>
          <a:lstStyle/>
          <a:p>
            <a:pPr algn="ctr">
              <a:defRPr sz="1600" b="0">
                <a:solidFill>
                  <a:srgbClr val="FFFFFF"/>
                </a:solidFill>
                <a:latin typeface="Arial"/>
              </a:defRPr>
            </a:pPr>
            <a:r>
              <a:t>You orchestrate</a:t>
            </a:r>
            <a:br/>
            <a:r>
              <a:t>agent swarms</a:t>
            </a:r>
          </a:p>
        </p:txBody>
      </p:sp>
      <p:sp>
        <p:nvSpPr>
          <p:cNvPr id="22" name="Rounded Rectangle 21"/>
          <p:cNvSpPr/>
          <p:nvPr/>
        </p:nvSpPr>
        <p:spPr>
          <a:xfrm>
            <a:off x="9738360" y="3657600"/>
            <a:ext cx="146304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5BB41"/>
                </a:solidFill>
                <a:latin typeface="Arial"/>
              </a:defRPr>
            </a:pPr>
            <a:r>
              <a:t>Stages 7-8</a:t>
            </a:r>
          </a:p>
        </p:txBody>
      </p:sp>
      <p:sp>
        <p:nvSpPr>
          <p:cNvPr id="23" name="Right Arrow 22"/>
          <p:cNvSpPr/>
          <p:nvPr/>
        </p:nvSpPr>
        <p:spPr>
          <a:xfrm>
            <a:off x="548640" y="4937760"/>
            <a:ext cx="10972800" cy="457200"/>
          </a:xfrm>
          <a:prstGeom prst="rightArrow">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5440680"/>
            <a:ext cx="2743200" cy="365760"/>
          </a:xfrm>
          <a:prstGeom prst="rect">
            <a:avLst/>
          </a:prstGeom>
          <a:noFill/>
        </p:spPr>
        <p:txBody>
          <a:bodyPr wrap="square">
            <a:spAutoFit/>
          </a:bodyPr>
          <a:lstStyle/>
          <a:p>
            <a:pPr algn="l">
              <a:defRPr sz="1200" b="0">
                <a:solidFill>
                  <a:srgbClr val="333333"/>
                </a:solidFill>
                <a:latin typeface="Arial"/>
              </a:defRPr>
            </a:pPr>
            <a:r>
              <a:t>Low Trust</a:t>
            </a:r>
          </a:p>
        </p:txBody>
      </p:sp>
      <p:sp>
        <p:nvSpPr>
          <p:cNvPr id="25" name="TextBox 24"/>
          <p:cNvSpPr txBox="1"/>
          <p:nvPr/>
        </p:nvSpPr>
        <p:spPr>
          <a:xfrm>
            <a:off x="8778240" y="5440680"/>
            <a:ext cx="2743200" cy="365760"/>
          </a:xfrm>
          <a:prstGeom prst="rect">
            <a:avLst/>
          </a:prstGeom>
          <a:noFill/>
        </p:spPr>
        <p:txBody>
          <a:bodyPr wrap="square">
            <a:spAutoFit/>
          </a:bodyPr>
          <a:lstStyle/>
          <a:p>
            <a:pPr algn="r">
              <a:defRPr sz="1200" b="0">
                <a:solidFill>
                  <a:srgbClr val="333333"/>
                </a:solidFill>
                <a:latin typeface="Arial"/>
              </a:defRPr>
            </a:pPr>
            <a:r>
              <a:t>High Trust</a:t>
            </a:r>
          </a:p>
        </p:txBody>
      </p:sp>
      <p:sp>
        <p:nvSpPr>
          <p:cNvPr id="26" name="TextBox 25"/>
          <p:cNvSpPr txBox="1"/>
          <p:nvPr/>
        </p:nvSpPr>
        <p:spPr>
          <a:xfrm>
            <a:off x="4572000" y="5440680"/>
            <a:ext cx="3017520" cy="365760"/>
          </a:xfrm>
          <a:prstGeom prst="rect">
            <a:avLst/>
          </a:prstGeom>
          <a:noFill/>
        </p:spPr>
        <p:txBody>
          <a:bodyPr wrap="square">
            <a:spAutoFit/>
          </a:bodyPr>
          <a:lstStyle/>
          <a:p>
            <a:pPr algn="ctr">
              <a:defRPr sz="1200" b="1">
                <a:solidFill>
                  <a:srgbClr val="005596"/>
                </a:solidFill>
                <a:latin typeface="Arial"/>
              </a:defRPr>
            </a:pPr>
            <a:r>
              <a:t>Trust Increases →</a:t>
            </a:r>
          </a:p>
        </p:txBody>
      </p:sp>
      <p:sp>
        <p:nvSpPr>
          <p:cNvPr id="27" name="Rounded Rectangle 26"/>
          <p:cNvSpPr/>
          <p:nvPr/>
        </p:nvSpPr>
        <p:spPr>
          <a:xfrm>
            <a:off x="731520" y="5943600"/>
            <a:ext cx="10698480" cy="54864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33333"/>
                </a:solidFill>
                <a:latin typeface="Arial"/>
              </a:defRPr>
            </a:pPr>
            <a:r>
              <a:t>Your value shifts from doing work to directing outcomes</a:t>
            </a:r>
          </a:p>
        </p:txBody>
      </p:sp>
      <p:sp>
        <p:nvSpPr>
          <p:cNvPr id="28" name="TextBox 27"/>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The Agentic Factory: You as Operator</a:t>
            </a:r>
          </a:p>
        </p:txBody>
      </p:sp>
      <p:sp>
        <p:nvSpPr>
          <p:cNvPr id="4" name="Rectangle 3"/>
          <p:cNvSpPr/>
          <p:nvPr/>
        </p:nvSpPr>
        <p:spPr>
          <a:xfrm>
            <a:off x="457200" y="1463040"/>
            <a:ext cx="11247120" cy="5029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463040"/>
            <a:ext cx="11247120" cy="73152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00200"/>
            <a:ext cx="11247120" cy="457200"/>
          </a:xfrm>
          <a:prstGeom prst="rect">
            <a:avLst/>
          </a:prstGeom>
          <a:noFill/>
        </p:spPr>
        <p:txBody>
          <a:bodyPr wrap="square">
            <a:spAutoFit/>
          </a:bodyPr>
          <a:lstStyle/>
          <a:p>
            <a:pPr algn="ctr">
              <a:defRPr sz="1600" b="1">
                <a:solidFill>
                  <a:srgbClr val="FFFFFF"/>
                </a:solidFill>
                <a:latin typeface="Arial"/>
              </a:defRPr>
            </a:pPr>
            <a:r>
              <a:t>THE OPERATOR: Strategy, Direction, Quality Gates</a:t>
            </a:r>
          </a:p>
        </p:txBody>
      </p:sp>
      <p:sp>
        <p:nvSpPr>
          <p:cNvPr id="7" name="Rounded Rectangle 6"/>
          <p:cNvSpPr/>
          <p:nvPr/>
        </p:nvSpPr>
        <p:spPr>
          <a:xfrm>
            <a:off x="685800" y="2743200"/>
            <a:ext cx="1645920" cy="146304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Research</a:t>
            </a:r>
            <a:br/>
            <a:r>
              <a:t>Agent</a:t>
            </a:r>
          </a:p>
        </p:txBody>
      </p:sp>
      <p:sp>
        <p:nvSpPr>
          <p:cNvPr id="8" name="Right Arrow 7"/>
          <p:cNvSpPr/>
          <p:nvPr/>
        </p:nvSpPr>
        <p:spPr>
          <a:xfrm>
            <a:off x="2340864" y="3337560"/>
            <a:ext cx="164592"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514600" y="2743200"/>
            <a:ext cx="1645920" cy="146304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Analysis</a:t>
            </a:r>
            <a:br/>
            <a:r>
              <a:t>Agent</a:t>
            </a:r>
          </a:p>
        </p:txBody>
      </p:sp>
      <p:sp>
        <p:nvSpPr>
          <p:cNvPr id="10" name="Right Arrow 9"/>
          <p:cNvSpPr/>
          <p:nvPr/>
        </p:nvSpPr>
        <p:spPr>
          <a:xfrm>
            <a:off x="4169664" y="3337560"/>
            <a:ext cx="164592"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43400" y="2743200"/>
            <a:ext cx="1645920" cy="146304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Planning</a:t>
            </a:r>
            <a:br/>
            <a:r>
              <a:t>Agent</a:t>
            </a:r>
          </a:p>
        </p:txBody>
      </p:sp>
      <p:sp>
        <p:nvSpPr>
          <p:cNvPr id="12" name="Right Arrow 11"/>
          <p:cNvSpPr/>
          <p:nvPr/>
        </p:nvSpPr>
        <p:spPr>
          <a:xfrm>
            <a:off x="5998464" y="3337560"/>
            <a:ext cx="164592"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72200" y="2743200"/>
            <a:ext cx="1645920" cy="146304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Execution</a:t>
            </a:r>
            <a:br/>
            <a:r>
              <a:t>Agent</a:t>
            </a:r>
          </a:p>
        </p:txBody>
      </p:sp>
      <p:sp>
        <p:nvSpPr>
          <p:cNvPr id="14" name="Right Arrow 13"/>
          <p:cNvSpPr/>
          <p:nvPr/>
        </p:nvSpPr>
        <p:spPr>
          <a:xfrm>
            <a:off x="7827264" y="3337560"/>
            <a:ext cx="164592"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01000" y="2743200"/>
            <a:ext cx="1645920" cy="146304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QA</a:t>
            </a:r>
            <a:br/>
            <a:r>
              <a:t>Agent</a:t>
            </a:r>
          </a:p>
        </p:txBody>
      </p:sp>
      <p:sp>
        <p:nvSpPr>
          <p:cNvPr id="16" name="Right Arrow 15"/>
          <p:cNvSpPr/>
          <p:nvPr/>
        </p:nvSpPr>
        <p:spPr>
          <a:xfrm>
            <a:off x="9656064" y="3337560"/>
            <a:ext cx="164592"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829800" y="2743200"/>
            <a:ext cx="1645920" cy="146304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Deploy</a:t>
            </a:r>
            <a:br/>
            <a:r>
              <a:t>Agent</a:t>
            </a:r>
          </a:p>
        </p:txBody>
      </p:sp>
      <p:sp>
        <p:nvSpPr>
          <p:cNvPr id="18" name="Rectangle 17"/>
          <p:cNvSpPr/>
          <p:nvPr/>
        </p:nvSpPr>
        <p:spPr>
          <a:xfrm>
            <a:off x="457200" y="4389120"/>
            <a:ext cx="11247120"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6309360"/>
            <a:ext cx="11247120" cy="4572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GOVERNANCE: Monitoring, Boundaries, Audit Trail (Your Autonomy Safety Net)</a:t>
            </a:r>
          </a:p>
        </p:txBody>
      </p:sp>
      <p:sp>
        <p:nvSpPr>
          <p:cNvPr id="21" name="TextBox 20"/>
          <p:cNvSpPr txBox="1"/>
          <p:nvPr/>
        </p:nvSpPr>
        <p:spPr>
          <a:xfrm>
            <a:off x="274320" y="6400800"/>
            <a:ext cx="11612880" cy="365760"/>
          </a:xfrm>
          <a:prstGeom prst="rect">
            <a:avLst/>
          </a:prstGeom>
          <a:noFill/>
        </p:spPr>
        <p:txBody>
          <a:bodyPr wrap="none">
            <a:spAutoFit/>
          </a:bodyPr>
          <a:lstStyle/>
          <a:p>
            <a:pPr>
              <a:defRPr sz="900" i="1">
                <a:solidFill>
                  <a:srgbClr val="999999"/>
                </a:solidFill>
              </a:defRPr>
            </a:pPr>
            <a:r>
              <a:t>Source: Factory metaphor adapted from Gas Town (Yegge, 2026)</a:t>
            </a:r>
          </a:p>
        </p:txBody>
      </p:sp>
      <p:sp>
        <p:nvSpPr>
          <p:cNvPr id="22" name="TextBox 21"/>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9</a:t>
            </a:r>
          </a:p>
        </p:txBody>
      </p:sp>
      <p:sp>
        <p:nvSpPr>
          <p:cNvPr id="23" name="Rounded Rectangle 22">
            <a:extLst>
              <a:ext uri="{FF2B5EF4-FFF2-40B4-BE49-F238E27FC236}">
                <a16:creationId xmlns:a16="http://schemas.microsoft.com/office/drawing/2014/main" id="{353964A0-7F35-1CCA-0EE9-41AFB3502B1F}"/>
              </a:ext>
            </a:extLst>
          </p:cNvPr>
          <p:cNvSpPr/>
          <p:nvPr/>
        </p:nvSpPr>
        <p:spPr>
          <a:xfrm>
            <a:off x="2976585" y="4709160"/>
            <a:ext cx="1183935" cy="118872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rPr dirty="0"/>
              <a:t>Human</a:t>
            </a:r>
            <a:br>
              <a:rPr dirty="0"/>
            </a:br>
            <a:r>
              <a:rPr lang="en-US" dirty="0"/>
              <a:t>Clarification</a:t>
            </a:r>
            <a:endParaRPr dirty="0"/>
          </a:p>
        </p:txBody>
      </p:sp>
      <p:sp>
        <p:nvSpPr>
          <p:cNvPr id="24" name="Rounded Rectangle 23">
            <a:extLst>
              <a:ext uri="{FF2B5EF4-FFF2-40B4-BE49-F238E27FC236}">
                <a16:creationId xmlns:a16="http://schemas.microsoft.com/office/drawing/2014/main" id="{BCD9FE68-828F-EAF1-DE51-0D89D60FC0C7}"/>
              </a:ext>
            </a:extLst>
          </p:cNvPr>
          <p:cNvSpPr/>
          <p:nvPr/>
        </p:nvSpPr>
        <p:spPr>
          <a:xfrm>
            <a:off x="5554980" y="4754880"/>
            <a:ext cx="1051560" cy="118872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Human</a:t>
            </a:r>
            <a:br/>
            <a:r>
              <a:t>Approval</a:t>
            </a:r>
          </a:p>
        </p:txBody>
      </p:sp>
      <p:sp>
        <p:nvSpPr>
          <p:cNvPr id="25" name="Rounded Rectangle 24">
            <a:extLst>
              <a:ext uri="{FF2B5EF4-FFF2-40B4-BE49-F238E27FC236}">
                <a16:creationId xmlns:a16="http://schemas.microsoft.com/office/drawing/2014/main" id="{1C5A5177-FD89-3BCA-4746-6D74FE5F8C34}"/>
              </a:ext>
            </a:extLst>
          </p:cNvPr>
          <p:cNvSpPr/>
          <p:nvPr/>
        </p:nvSpPr>
        <p:spPr>
          <a:xfrm>
            <a:off x="9212580" y="4754880"/>
            <a:ext cx="1051560" cy="118872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Human</a:t>
            </a:r>
            <a:br/>
            <a:r>
              <a:t>Approval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Construction</a:t>
            </a:r>
          </a:p>
        </p:txBody>
      </p:sp>
      <p:sp>
        <p:nvSpPr>
          <p:cNvPr id="3" name="Subtitle 2"/>
          <p:cNvSpPr>
            <a:spLocks noGrp="1"/>
          </p:cNvSpPr>
          <p:nvPr>
            <p:ph type="subTitle" idx="1"/>
          </p:nvPr>
        </p:nvSpPr>
        <p:spPr/>
        <p:txBody>
          <a:bodyPr/>
          <a:lstStyle/>
          <a:p>
            <a:r>
              <a:t>Majority at Stage 1–2  |  Leaders at Stage 3  |  Ceiling: Stage 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Construction: The Hard Data</a:t>
            </a:r>
          </a:p>
        </p:txBody>
      </p:sp>
      <p:sp>
        <p:nvSpPr>
          <p:cNvPr id="3" name="Rounded Rectangle 2"/>
          <p:cNvSpPr/>
          <p:nvPr/>
        </p:nvSpPr>
        <p:spPr>
          <a:xfrm>
            <a:off x="457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1</a:t>
            </a:r>
          </a:p>
        </p:txBody>
      </p:sp>
      <p:sp>
        <p:nvSpPr>
          <p:cNvPr id="4" name="Rounded Rectangle 3"/>
          <p:cNvSpPr/>
          <p:nvPr/>
        </p:nvSpPr>
        <p:spPr>
          <a:xfrm>
            <a:off x="1636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2</a:t>
            </a:r>
          </a:p>
        </p:txBody>
      </p:sp>
      <p:sp>
        <p:nvSpPr>
          <p:cNvPr id="5" name="Rounded Rectangle 4"/>
          <p:cNvSpPr/>
          <p:nvPr/>
        </p:nvSpPr>
        <p:spPr>
          <a:xfrm>
            <a:off x="2815200" y="1280160"/>
            <a:ext cx="1143000" cy="182880"/>
          </a:xfrm>
          <a:prstGeom prst="round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3</a:t>
            </a:r>
          </a:p>
        </p:txBody>
      </p:sp>
      <p:sp>
        <p:nvSpPr>
          <p:cNvPr id="6" name="Rounded Rectangle 5"/>
          <p:cNvSpPr/>
          <p:nvPr/>
        </p:nvSpPr>
        <p:spPr>
          <a:xfrm>
            <a:off x="3994200" y="1280160"/>
            <a:ext cx="1143000" cy="182880"/>
          </a:xfrm>
          <a:prstGeom prst="roundRect">
            <a:avLst/>
          </a:prstGeom>
          <a:solidFill>
            <a:srgbClr val="4597D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4</a:t>
            </a:r>
          </a:p>
        </p:txBody>
      </p:sp>
      <p:sp>
        <p:nvSpPr>
          <p:cNvPr id="7" name="Rounded Rectangle 6"/>
          <p:cNvSpPr/>
          <p:nvPr/>
        </p:nvSpPr>
        <p:spPr>
          <a:xfrm>
            <a:off x="5173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5</a:t>
            </a:r>
          </a:p>
        </p:txBody>
      </p:sp>
      <p:sp>
        <p:nvSpPr>
          <p:cNvPr id="8" name="Rounded Rectangle 7"/>
          <p:cNvSpPr/>
          <p:nvPr/>
        </p:nvSpPr>
        <p:spPr>
          <a:xfrm>
            <a:off x="6352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6</a:t>
            </a:r>
          </a:p>
        </p:txBody>
      </p:sp>
      <p:sp>
        <p:nvSpPr>
          <p:cNvPr id="9" name="Rounded Rectangle 8"/>
          <p:cNvSpPr/>
          <p:nvPr/>
        </p:nvSpPr>
        <p:spPr>
          <a:xfrm>
            <a:off x="7531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7</a:t>
            </a:r>
          </a:p>
        </p:txBody>
      </p:sp>
      <p:sp>
        <p:nvSpPr>
          <p:cNvPr id="10" name="Rounded Rectangle 9"/>
          <p:cNvSpPr/>
          <p:nvPr/>
        </p:nvSpPr>
        <p:spPr>
          <a:xfrm>
            <a:off x="8710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8</a:t>
            </a:r>
          </a:p>
        </p:txBody>
      </p:sp>
      <p:sp>
        <p:nvSpPr>
          <p:cNvPr id="11" name="TextBox 10"/>
          <p:cNvSpPr txBox="1"/>
          <p:nvPr/>
        </p:nvSpPr>
        <p:spPr>
          <a:xfrm>
            <a:off x="457200" y="1554480"/>
            <a:ext cx="10058400" cy="274320"/>
          </a:xfrm>
          <a:prstGeom prst="rect">
            <a:avLst/>
          </a:prstGeom>
          <a:noFill/>
        </p:spPr>
        <p:txBody>
          <a:bodyPr wrap="none">
            <a:spAutoFit/>
          </a:bodyPr>
          <a:lstStyle/>
          <a:p>
            <a:r>
              <a:rPr sz="900" b="0">
                <a:solidFill>
                  <a:srgbClr val="5BC2A7"/>
                </a:solidFill>
                <a:latin typeface="Khula"/>
              </a:rPr>
              <a:t>■ Achieved  </a:t>
            </a:r>
            <a:r>
              <a:rPr sz="900" b="0">
                <a:solidFill>
                  <a:srgbClr val="F5BB41"/>
                </a:solidFill>
                <a:latin typeface="Khula"/>
              </a:rPr>
              <a:t>■ Leaders Today  </a:t>
            </a:r>
            <a:r>
              <a:rPr sz="900" b="0">
                <a:solidFill>
                  <a:srgbClr val="4597D3"/>
                </a:solidFill>
                <a:latin typeface="Khula"/>
              </a:rPr>
              <a:t>■ Near-Possible  </a:t>
            </a:r>
            <a:r>
              <a:rPr sz="900" b="0">
                <a:solidFill>
                  <a:srgbClr val="E9ECEF"/>
                </a:solidFill>
                <a:latin typeface="Khula"/>
              </a:rPr>
              <a:t>■ Not Yet</a:t>
            </a:r>
          </a:p>
        </p:txBody>
      </p:sp>
      <p:sp>
        <p:nvSpPr>
          <p:cNvPr id="12" name="Rounded Rectangle 11"/>
          <p:cNvSpPr/>
          <p:nvPr/>
        </p:nvSpPr>
        <p:spPr>
          <a:xfrm>
            <a:off x="45720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F5BB41"/>
                </a:solidFill>
                <a:latin typeface="Poppins"/>
              </a:rPr>
              <a:t>27%</a:t>
            </a:r>
          </a:p>
          <a:p>
            <a:pPr algn="l">
              <a:spcBef>
                <a:spcPts val="200"/>
              </a:spcBef>
            </a:pPr>
            <a:r>
              <a:rPr sz="1000" b="0">
                <a:solidFill>
                  <a:srgbClr val="666666"/>
                </a:solidFill>
                <a:latin typeface="Khula"/>
              </a:rPr>
              <a:t>of AEC firms use AI at all
(Bluebeam 2025, n=1,000)</a:t>
            </a:r>
          </a:p>
        </p:txBody>
      </p:sp>
      <p:sp>
        <p:nvSpPr>
          <p:cNvPr id="13" name="Rectangle 12"/>
          <p:cNvSpPr/>
          <p:nvPr/>
        </p:nvSpPr>
        <p:spPr>
          <a:xfrm>
            <a:off x="457200" y="2083680"/>
            <a:ext cx="72000" cy="1227600"/>
          </a:xfrm>
          <a:prstGeom prst="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749039"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F5BB41"/>
                </a:solidFill>
                <a:latin typeface="Poppins"/>
              </a:rPr>
              <a:t>&lt;1%</a:t>
            </a:r>
          </a:p>
          <a:p>
            <a:pPr algn="l">
              <a:spcBef>
                <a:spcPts val="200"/>
              </a:spcBef>
            </a:pPr>
            <a:r>
              <a:rPr sz="1000" b="0">
                <a:solidFill>
                  <a:srgbClr val="666666"/>
                </a:solidFill>
                <a:latin typeface="Khula"/>
              </a:rPr>
              <a:t>have organization-wide AI
(RICS 2025, n=2,200+)</a:t>
            </a:r>
          </a:p>
        </p:txBody>
      </p:sp>
      <p:sp>
        <p:nvSpPr>
          <p:cNvPr id="15" name="Rectangle 14"/>
          <p:cNvSpPr/>
          <p:nvPr/>
        </p:nvSpPr>
        <p:spPr>
          <a:xfrm>
            <a:off x="3749039" y="2083680"/>
            <a:ext cx="72000" cy="1227600"/>
          </a:xfrm>
          <a:prstGeom prst="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04088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F5BB41"/>
                </a:solidFill>
                <a:latin typeface="Poppins"/>
              </a:rPr>
              <a:t>79%</a:t>
            </a:r>
          </a:p>
          <a:p>
            <a:pPr algn="l">
              <a:spcBef>
                <a:spcPts val="200"/>
              </a:spcBef>
            </a:pPr>
            <a:r>
              <a:rPr sz="1000" b="0">
                <a:solidFill>
                  <a:srgbClr val="666666"/>
                </a:solidFill>
                <a:latin typeface="Khula"/>
              </a:rPr>
              <a:t>have little to no AI
implementation (GiaSpace 2026)</a:t>
            </a:r>
          </a:p>
        </p:txBody>
      </p:sp>
      <p:sp>
        <p:nvSpPr>
          <p:cNvPr id="17" name="Rectangle 16"/>
          <p:cNvSpPr/>
          <p:nvPr/>
        </p:nvSpPr>
        <p:spPr>
          <a:xfrm>
            <a:off x="7040880" y="2083680"/>
            <a:ext cx="72000" cy="1227600"/>
          </a:xfrm>
          <a:prstGeom prst="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657600"/>
            <a:ext cx="10058400" cy="1645920"/>
          </a:xfrm>
          <a:prstGeom prst="rect">
            <a:avLst/>
          </a:prstGeom>
          <a:noFill/>
        </p:spPr>
        <p:txBody>
          <a:bodyPr wrap="square">
            <a:spAutoFit/>
          </a:bodyPr>
          <a:lstStyle/>
          <a:p>
            <a:r>
              <a:rPr sz="1300" b="1">
                <a:solidFill>
                  <a:srgbClr val="1A1A2E"/>
                </a:solidFill>
                <a:latin typeface="Khula"/>
              </a:rPr>
              <a:t>The industry is overwhelmingly at Stages 1–2: </a:t>
            </a:r>
            <a:r>
              <a:rPr sz="1200" b="0">
                <a:solidFill>
                  <a:srgbClr val="666666"/>
                </a:solidFill>
                <a:latin typeface="Khula"/>
              </a:rPr>
              <a:t>45% report no AI at all (RICS). 52% still use paper during design. 29% have no AI capability or plans. Where AI exists, it's individual chatbot usage — summarizing specs, drafting emails — all with human permission. 63% of firms are only now planning ERP modernization needed to enable anything beyond Stage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Construction: What's Deployed vs. What's Not</a:t>
            </a:r>
          </a:p>
        </p:txBody>
      </p:sp>
      <p:sp>
        <p:nvSpPr>
          <p:cNvPr id="3" name="Content Placeholder 2"/>
          <p:cNvSpPr>
            <a:spLocks noGrp="1"/>
          </p:cNvSpPr>
          <p:nvPr>
            <p:ph sz="quarter" idx="11"/>
          </p:nvPr>
        </p:nvSpPr>
        <p:spPr/>
        <p:txBody>
          <a:bodyPr/>
          <a:lstStyle/>
          <a:p>
            <a:r>
              <a:rPr sz="1400" b="1">
                <a:solidFill>
                  <a:srgbClr val="5BC2A7"/>
                </a:solidFill>
                <a:latin typeface="Poppins"/>
              </a:rPr>
              <a:t>✅ Deployed Today</a:t>
            </a:r>
          </a:p>
          <a:p>
            <a:pPr>
              <a:spcBef>
                <a:spcPts val="300"/>
              </a:spcBef>
              <a:spcAft>
                <a:spcPts val="300"/>
              </a:spcAft>
            </a:pPr>
            <a:r>
              <a:rPr sz="1000" b="0">
                <a:solidFill>
                  <a:srgbClr val="1A1A2E"/>
                </a:solidFill>
              </a:rPr>
              <a:t>Procore AI Agents (open beta Jan '26) — RFI, Daily Log, custom Agent Builder</a:t>
            </a:r>
          </a:p>
          <a:p>
            <a:pPr>
              <a:spcBef>
                <a:spcPts val="300"/>
              </a:spcBef>
              <a:spcAft>
                <a:spcPts val="300"/>
              </a:spcAft>
            </a:pPr>
            <a:r>
              <a:rPr sz="1000" b="0">
                <a:solidFill>
                  <a:srgbClr val="1A1A2E"/>
                </a:solidFill>
              </a:rPr>
              <a:t>Autodesk Construction IQ — ML risk scoring for submittals/RFIs</a:t>
            </a:r>
          </a:p>
          <a:p>
            <a:pPr>
              <a:spcBef>
                <a:spcPts val="300"/>
              </a:spcBef>
              <a:spcAft>
                <a:spcPts val="300"/>
              </a:spcAft>
            </a:pPr>
            <a:r>
              <a:rPr sz="1000" b="0">
                <a:solidFill>
                  <a:srgbClr val="1A1A2E"/>
                </a:solidFill>
              </a:rPr>
              <a:t>OpenSpace / Buildots / Doxel — Computer vision progress tracking vs BIM</a:t>
            </a:r>
          </a:p>
          <a:p>
            <a:pPr>
              <a:spcBef>
                <a:spcPts val="300"/>
              </a:spcBef>
              <a:spcAft>
                <a:spcPts val="300"/>
              </a:spcAft>
            </a:pPr>
            <a:r>
              <a:rPr sz="1000" b="0">
                <a:solidFill>
                  <a:srgbClr val="1A1A2E"/>
                </a:solidFill>
              </a:rPr>
              <a:t>ALICE Technologies — Generative AI schedule optimization (thousands of scenarios)</a:t>
            </a:r>
          </a:p>
          <a:p>
            <a:pPr>
              <a:spcBef>
                <a:spcPts val="300"/>
              </a:spcBef>
              <a:spcAft>
                <a:spcPts val="300"/>
              </a:spcAft>
            </a:pPr>
            <a:r>
              <a:rPr sz="1000" b="0">
                <a:solidFill>
                  <a:srgbClr val="1A1A2E"/>
                </a:solidFill>
              </a:rPr>
              <a:t>Bechtel "change" agent — Evaluates scope change cascading impacts</a:t>
            </a:r>
          </a:p>
          <a:p>
            <a:pPr>
              <a:spcBef>
                <a:spcPts val="300"/>
              </a:spcBef>
              <a:spcAft>
                <a:spcPts val="300"/>
              </a:spcAft>
            </a:pPr>
            <a:r>
              <a:rPr sz="1000" b="0">
                <a:solidFill>
                  <a:srgbClr val="1A1A2E"/>
                </a:solidFill>
              </a:rPr>
              <a:t>Hakimo (Skanska) — AI jobsite security with autonomous alert filtering</a:t>
            </a:r>
          </a:p>
        </p:txBody>
      </p:sp>
      <p:sp>
        <p:nvSpPr>
          <p:cNvPr id="4" name="Content Placeholder 3"/>
          <p:cNvSpPr>
            <a:spLocks noGrp="1"/>
          </p:cNvSpPr>
          <p:nvPr>
            <p:ph sz="quarter" idx="12"/>
          </p:nvPr>
        </p:nvSpPr>
        <p:spPr/>
        <p:txBody>
          <a:bodyPr/>
          <a:lstStyle/>
          <a:p>
            <a:r>
              <a:rPr sz="1400" b="1">
                <a:solidFill>
                  <a:srgbClr val="DC3545"/>
                </a:solidFill>
                <a:latin typeface="Poppins"/>
              </a:rPr>
              <a:t>❌ Not Happening Yet</a:t>
            </a:r>
          </a:p>
          <a:p>
            <a:pPr>
              <a:spcBef>
                <a:spcPts val="300"/>
              </a:spcBef>
              <a:spcAft>
                <a:spcPts val="300"/>
              </a:spcAft>
            </a:pPr>
            <a:r>
              <a:rPr sz="1000" b="0">
                <a:solidFill>
                  <a:srgbClr val="1A1A2E"/>
                </a:solidFill>
              </a:rPr>
              <a:t>No multi-agent coordination on any construction project</a:t>
            </a:r>
          </a:p>
          <a:p>
            <a:pPr>
              <a:spcBef>
                <a:spcPts val="300"/>
              </a:spcBef>
              <a:spcAft>
                <a:spcPts val="300"/>
              </a:spcAft>
            </a:pPr>
            <a:r>
              <a:rPr sz="1000" b="0">
                <a:solidFill>
                  <a:srgbClr val="1A1A2E"/>
                </a:solidFill>
              </a:rPr>
              <a:t>No autonomous procurement or subcontractor management</a:t>
            </a:r>
          </a:p>
          <a:p>
            <a:pPr>
              <a:spcBef>
                <a:spcPts val="300"/>
              </a:spcBef>
              <a:spcAft>
                <a:spcPts val="300"/>
              </a:spcAft>
            </a:pPr>
            <a:r>
              <a:rPr sz="1000" b="0">
                <a:solidFill>
                  <a:srgbClr val="1A1A2E"/>
                </a:solidFill>
              </a:rPr>
              <a:t>No AI agents executing change orders without human approval</a:t>
            </a:r>
          </a:p>
          <a:p>
            <a:pPr>
              <a:spcBef>
                <a:spcPts val="300"/>
              </a:spcBef>
              <a:spcAft>
                <a:spcPts val="300"/>
              </a:spcAft>
            </a:pPr>
            <a:r>
              <a:rPr sz="1000" b="0">
                <a:solidFill>
                  <a:srgbClr val="1A1A2E"/>
                </a:solidFill>
              </a:rPr>
              <a:t>No orchestrated swarms managing project lifecycle</a:t>
            </a:r>
          </a:p>
          <a:p>
            <a:pPr>
              <a:spcBef>
                <a:spcPts val="300"/>
              </a:spcBef>
              <a:spcAft>
                <a:spcPts val="300"/>
              </a:spcAft>
            </a:pPr>
            <a:r>
              <a:rPr sz="1000" b="0">
                <a:solidFill>
                  <a:srgbClr val="1A1A2E"/>
                </a:solidFill>
              </a:rPr>
              <a:t>No widespread 'permissions off' autonomous workflows</a:t>
            </a:r>
          </a:p>
          <a:p>
            <a:pPr>
              <a:spcBef>
                <a:spcPts val="300"/>
              </a:spcBef>
              <a:spcAft>
                <a:spcPts val="300"/>
              </a:spcAft>
            </a:pPr>
            <a:r>
              <a:rPr sz="1000" b="0">
                <a:solidFill>
                  <a:srgbClr val="1A1A2E"/>
                </a:solidFill>
              </a:rPr>
              <a:t>Most firms lack connected data infrastructure for Stage 4+</a:t>
            </a:r>
          </a:p>
        </p:txBody>
      </p:sp>
      <p:sp>
        <p:nvSpPr>
          <p:cNvPr id="5" name="Text Placeholder 4"/>
          <p:cNvSpPr>
            <a:spLocks noGrp="1"/>
          </p:cNvSpPr>
          <p:nvPr>
            <p:ph type="body" sz="quarter" idx="13"/>
          </p:nvPr>
        </p:nvSpPr>
        <p:spPr/>
        <p:txBody>
          <a:bodyPr/>
          <a:lstStyle/>
          <a:p>
            <a:r>
              <a:t>Focus: Production systems only — not roadmaps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Construction: Stage-by-Stage Reality</a:t>
            </a:r>
          </a:p>
        </p:txBody>
      </p:sp>
      <p:sp>
        <p:nvSpPr>
          <p:cNvPr id="3" name="Content Placeholder 2"/>
          <p:cNvSpPr>
            <a:spLocks noGrp="1"/>
          </p:cNvSpPr>
          <p:nvPr>
            <p:ph sz="quarter" idx="10"/>
          </p:nvPr>
        </p:nvSpPr>
        <p:spPr/>
        <p:txBody>
          <a:bodyPr/>
          <a:lstStyle/>
          <a:p>
            <a:pPr>
              <a:spcBef>
                <a:spcPts val="800"/>
              </a:spcBef>
              <a:spcAft>
                <a:spcPts val="200"/>
              </a:spcAft>
            </a:pPr>
            <a:r>
              <a:rPr sz="1200" b="1">
                <a:solidFill>
                  <a:srgbClr val="005596"/>
                </a:solidFill>
                <a:latin typeface="Poppins"/>
              </a:rPr>
              <a:t>Stage 1–2: MAJORITY HERE</a:t>
            </a:r>
          </a:p>
          <a:p>
            <a:pPr>
              <a:spcBef>
                <a:spcPts val="0"/>
              </a:spcBef>
              <a:spcAft>
                <a:spcPts val="600"/>
              </a:spcAft>
            </a:pPr>
            <a:r>
              <a:rPr sz="1000" b="0">
                <a:solidFill>
                  <a:srgbClr val="1A1A2E"/>
                </a:solidFill>
                <a:latin typeface="Khula"/>
              </a:rPr>
              <a:t>45% report zero AI (RICS). 52% use paper in design. 34% in early pilots. Individual chatbot experiments with full human approval.</a:t>
            </a:r>
          </a:p>
          <a:p>
            <a:pPr>
              <a:spcBef>
                <a:spcPts val="800"/>
              </a:spcBef>
              <a:spcAft>
                <a:spcPts val="200"/>
              </a:spcAft>
            </a:pPr>
            <a:r>
              <a:rPr sz="1200" b="1">
                <a:solidFill>
                  <a:srgbClr val="005596"/>
                </a:solidFill>
                <a:latin typeface="Poppins"/>
              </a:rPr>
              <a:t>Stage 3: LEADERS ONLY</a:t>
            </a:r>
          </a:p>
          <a:p>
            <a:pPr>
              <a:spcBef>
                <a:spcPts val="0"/>
              </a:spcBef>
              <a:spcAft>
                <a:spcPts val="600"/>
              </a:spcAft>
            </a:pPr>
            <a:r>
              <a:rPr sz="1000" b="0">
                <a:solidFill>
                  <a:srgbClr val="1A1A2E"/>
                </a:solidFill>
                <a:latin typeface="Khula"/>
              </a:rPr>
              <a:t>Top firms (Bechtel, Skanska, Mortenson) running single agents with some permissions off — schedule risk alerts, AI-generated RFIs, automated progress docs. Procore Agent Builder in open beta.</a:t>
            </a:r>
          </a:p>
          <a:p>
            <a:pPr>
              <a:spcBef>
                <a:spcPts val="800"/>
              </a:spcBef>
              <a:spcAft>
                <a:spcPts val="200"/>
              </a:spcAft>
            </a:pPr>
            <a:r>
              <a:rPr sz="1200" b="1">
                <a:solidFill>
                  <a:srgbClr val="005596"/>
                </a:solidFill>
                <a:latin typeface="Poppins"/>
              </a:rPr>
              <a:t>Stage 4: NEAR-POSSIBLE CEILING</a:t>
            </a:r>
          </a:p>
          <a:p>
            <a:pPr>
              <a:spcBef>
                <a:spcPts val="0"/>
              </a:spcBef>
              <a:spcAft>
                <a:spcPts val="600"/>
              </a:spcAft>
            </a:pPr>
            <a:r>
              <a:rPr sz="1000" b="0">
                <a:solidFill>
                  <a:srgbClr val="1A1A2E"/>
                </a:solidFill>
                <a:latin typeface="Khula"/>
              </a:rPr>
              <a:t>Procore's Datagrid acquisition (Jan 2026) targets cross-system agent workflows. BuiltWorlds forecasts 2026 for agents trained on good datasets. Requires ERP modernization most firms are only planning.</a:t>
            </a:r>
          </a:p>
          <a:p>
            <a:pPr>
              <a:spcBef>
                <a:spcPts val="800"/>
              </a:spcBef>
              <a:spcAft>
                <a:spcPts val="200"/>
              </a:spcAft>
            </a:pPr>
            <a:r>
              <a:rPr sz="1200" b="1">
                <a:solidFill>
                  <a:srgbClr val="005596"/>
                </a:solidFill>
                <a:latin typeface="Poppins"/>
              </a:rPr>
              <a:t>Stage 5–8: NOT YET</a:t>
            </a:r>
          </a:p>
          <a:p>
            <a:pPr>
              <a:spcBef>
                <a:spcPts val="0"/>
              </a:spcBef>
              <a:spcAft>
                <a:spcPts val="600"/>
              </a:spcAft>
            </a:pPr>
            <a:r>
              <a:rPr sz="1000" b="0">
                <a:solidFill>
                  <a:srgbClr val="1A1A2E"/>
                </a:solidFill>
                <a:latin typeface="Khula"/>
              </a:rPr>
              <a:t>No hosted multi-agent systems, orchestration, or 10+ agent swarms anywhere in construction. BuiltWorlds projects 2027 for AI decision-making. Deloitte notes digital twins 'expected standard' but not yet agentic scale.</a:t>
            </a:r>
          </a:p>
        </p:txBody>
      </p:sp>
      <p:sp>
        <p:nvSpPr>
          <p:cNvPr id="4" name="Text Placeholder 3"/>
          <p:cNvSpPr>
            <a:spLocks noGrp="1"/>
          </p:cNvSpPr>
          <p:nvPr>
            <p:ph type="body" sz="quarter" idx="11"/>
          </p:nvPr>
        </p:nvSpPr>
        <p:spPr/>
        <p:txBody>
          <a:bodyPr/>
          <a:lstStyle/>
          <a:p>
            <a:r>
              <a:t>Near-possible ceiling: Stage 4 by late 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Financial Services</a:t>
            </a:r>
          </a:p>
        </p:txBody>
      </p:sp>
      <p:sp>
        <p:nvSpPr>
          <p:cNvPr id="3" name="Subtitle 2"/>
          <p:cNvSpPr>
            <a:spLocks noGrp="1"/>
          </p:cNvSpPr>
          <p:nvPr>
            <p:ph type="subTitle" idx="1"/>
          </p:nvPr>
        </p:nvSpPr>
        <p:spPr/>
        <p:txBody>
          <a:bodyPr/>
          <a:lstStyle/>
          <a:p>
            <a:r>
              <a:t>Majority at Stage 3–4  |  Leaders at Stage 5–6  |  Ceiling: Stage 6–7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Financial Services: The Clear Leader</a:t>
            </a:r>
          </a:p>
        </p:txBody>
      </p:sp>
      <p:sp>
        <p:nvSpPr>
          <p:cNvPr id="3" name="Rounded Rectangle 2"/>
          <p:cNvSpPr/>
          <p:nvPr/>
        </p:nvSpPr>
        <p:spPr>
          <a:xfrm>
            <a:off x="457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1</a:t>
            </a:r>
          </a:p>
        </p:txBody>
      </p:sp>
      <p:sp>
        <p:nvSpPr>
          <p:cNvPr id="4" name="Rounded Rectangle 3"/>
          <p:cNvSpPr/>
          <p:nvPr/>
        </p:nvSpPr>
        <p:spPr>
          <a:xfrm>
            <a:off x="1636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2</a:t>
            </a:r>
          </a:p>
        </p:txBody>
      </p:sp>
      <p:sp>
        <p:nvSpPr>
          <p:cNvPr id="5" name="Rounded Rectangle 4"/>
          <p:cNvSpPr/>
          <p:nvPr/>
        </p:nvSpPr>
        <p:spPr>
          <a:xfrm>
            <a:off x="2815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3</a:t>
            </a:r>
          </a:p>
        </p:txBody>
      </p:sp>
      <p:sp>
        <p:nvSpPr>
          <p:cNvPr id="6" name="Rounded Rectangle 5"/>
          <p:cNvSpPr/>
          <p:nvPr/>
        </p:nvSpPr>
        <p:spPr>
          <a:xfrm>
            <a:off x="3994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4</a:t>
            </a:r>
          </a:p>
        </p:txBody>
      </p:sp>
      <p:sp>
        <p:nvSpPr>
          <p:cNvPr id="7" name="Rounded Rectangle 6"/>
          <p:cNvSpPr/>
          <p:nvPr/>
        </p:nvSpPr>
        <p:spPr>
          <a:xfrm>
            <a:off x="5173200" y="1280160"/>
            <a:ext cx="1143000" cy="182880"/>
          </a:xfrm>
          <a:prstGeom prst="round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5</a:t>
            </a:r>
          </a:p>
        </p:txBody>
      </p:sp>
      <p:sp>
        <p:nvSpPr>
          <p:cNvPr id="8" name="Rounded Rectangle 7"/>
          <p:cNvSpPr/>
          <p:nvPr/>
        </p:nvSpPr>
        <p:spPr>
          <a:xfrm>
            <a:off x="6352200" y="1280160"/>
            <a:ext cx="1143000" cy="182880"/>
          </a:xfrm>
          <a:prstGeom prst="round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6</a:t>
            </a:r>
          </a:p>
        </p:txBody>
      </p:sp>
      <p:sp>
        <p:nvSpPr>
          <p:cNvPr id="9" name="Rounded Rectangle 8"/>
          <p:cNvSpPr/>
          <p:nvPr/>
        </p:nvSpPr>
        <p:spPr>
          <a:xfrm>
            <a:off x="7531200" y="1280160"/>
            <a:ext cx="1143000" cy="182880"/>
          </a:xfrm>
          <a:prstGeom prst="roundRect">
            <a:avLst/>
          </a:prstGeom>
          <a:solidFill>
            <a:srgbClr val="4597D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7</a:t>
            </a:r>
          </a:p>
        </p:txBody>
      </p:sp>
      <p:sp>
        <p:nvSpPr>
          <p:cNvPr id="10" name="Rounded Rectangle 9"/>
          <p:cNvSpPr/>
          <p:nvPr/>
        </p:nvSpPr>
        <p:spPr>
          <a:xfrm>
            <a:off x="8710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8</a:t>
            </a:r>
          </a:p>
        </p:txBody>
      </p:sp>
      <p:sp>
        <p:nvSpPr>
          <p:cNvPr id="11" name="TextBox 10"/>
          <p:cNvSpPr txBox="1"/>
          <p:nvPr/>
        </p:nvSpPr>
        <p:spPr>
          <a:xfrm>
            <a:off x="457200" y="1554480"/>
            <a:ext cx="10058400" cy="274320"/>
          </a:xfrm>
          <a:prstGeom prst="rect">
            <a:avLst/>
          </a:prstGeom>
          <a:noFill/>
        </p:spPr>
        <p:txBody>
          <a:bodyPr wrap="none">
            <a:spAutoFit/>
          </a:bodyPr>
          <a:lstStyle/>
          <a:p>
            <a:r>
              <a:rPr sz="900" b="0">
                <a:solidFill>
                  <a:srgbClr val="5BC2A7"/>
                </a:solidFill>
                <a:latin typeface="Khula"/>
              </a:rPr>
              <a:t>■ Achieved  </a:t>
            </a:r>
            <a:r>
              <a:rPr sz="900" b="0">
                <a:solidFill>
                  <a:srgbClr val="F5BB41"/>
                </a:solidFill>
                <a:latin typeface="Khula"/>
              </a:rPr>
              <a:t>■ Leaders Today  </a:t>
            </a:r>
            <a:r>
              <a:rPr sz="900" b="0">
                <a:solidFill>
                  <a:srgbClr val="4597D3"/>
                </a:solidFill>
                <a:latin typeface="Khula"/>
              </a:rPr>
              <a:t>■ Near-Possible  </a:t>
            </a:r>
            <a:r>
              <a:rPr sz="900" b="0">
                <a:solidFill>
                  <a:srgbClr val="E9ECEF"/>
                </a:solidFill>
                <a:latin typeface="Khula"/>
              </a:rPr>
              <a:t>■ Not Yet</a:t>
            </a:r>
          </a:p>
        </p:txBody>
      </p:sp>
      <p:sp>
        <p:nvSpPr>
          <p:cNvPr id="12" name="Rounded Rectangle 11"/>
          <p:cNvSpPr/>
          <p:nvPr/>
        </p:nvSpPr>
        <p:spPr>
          <a:xfrm>
            <a:off x="45720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005596"/>
                </a:solidFill>
                <a:latin typeface="Poppins"/>
              </a:rPr>
              <a:t>400+</a:t>
            </a:r>
          </a:p>
          <a:p>
            <a:pPr algn="l">
              <a:spcBef>
                <a:spcPts val="200"/>
              </a:spcBef>
            </a:pPr>
            <a:r>
              <a:rPr sz="1000" b="0">
                <a:solidFill>
                  <a:srgbClr val="666666"/>
                </a:solidFill>
                <a:latin typeface="Khula"/>
              </a:rPr>
              <a:t>production AI use cases
at JPMorgan (early 2026)</a:t>
            </a:r>
          </a:p>
        </p:txBody>
      </p:sp>
      <p:sp>
        <p:nvSpPr>
          <p:cNvPr id="13" name="Rectangle 12"/>
          <p:cNvSpPr/>
          <p:nvPr/>
        </p:nvSpPr>
        <p:spPr>
          <a:xfrm>
            <a:off x="457200" y="2083680"/>
            <a:ext cx="72000" cy="1227600"/>
          </a:xfrm>
          <a:prstGeom prst="rect">
            <a:avLst/>
          </a:prstGeom>
          <a:solidFill>
            <a:srgbClr val="0055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749039"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005596"/>
                </a:solidFill>
                <a:latin typeface="Poppins"/>
              </a:rPr>
              <a:t>21%</a:t>
            </a:r>
          </a:p>
          <a:p>
            <a:pPr algn="l">
              <a:spcBef>
                <a:spcPts val="200"/>
              </a:spcBef>
            </a:pPr>
            <a:r>
              <a:rPr sz="1000" b="0">
                <a:solidFill>
                  <a:srgbClr val="666666"/>
                </a:solidFill>
                <a:latin typeface="Khula"/>
              </a:rPr>
              <a:t>of financial firms have deployed
AI agents (NVIDIA 2026)</a:t>
            </a:r>
          </a:p>
        </p:txBody>
      </p:sp>
      <p:sp>
        <p:nvSpPr>
          <p:cNvPr id="15" name="Rectangle 14"/>
          <p:cNvSpPr/>
          <p:nvPr/>
        </p:nvSpPr>
        <p:spPr>
          <a:xfrm>
            <a:off x="3749039" y="2083680"/>
            <a:ext cx="72000" cy="1227600"/>
          </a:xfrm>
          <a:prstGeom prst="rect">
            <a:avLst/>
          </a:prstGeom>
          <a:solidFill>
            <a:srgbClr val="0055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04088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005596"/>
                </a:solidFill>
                <a:latin typeface="Poppins"/>
              </a:rPr>
              <a:t>~100%</a:t>
            </a:r>
          </a:p>
          <a:p>
            <a:pPr algn="l">
              <a:spcBef>
                <a:spcPts val="200"/>
              </a:spcBef>
            </a:pPr>
            <a:r>
              <a:rPr sz="1000" b="0">
                <a:solidFill>
                  <a:srgbClr val="666666"/>
                </a:solidFill>
                <a:latin typeface="Khula"/>
              </a:rPr>
              <a:t>plan to increase or maintain
AI budgets (NVIDIA 2026)</a:t>
            </a:r>
          </a:p>
        </p:txBody>
      </p:sp>
      <p:sp>
        <p:nvSpPr>
          <p:cNvPr id="17" name="Rectangle 16"/>
          <p:cNvSpPr/>
          <p:nvPr/>
        </p:nvSpPr>
        <p:spPr>
          <a:xfrm>
            <a:off x="7040880" y="2083680"/>
            <a:ext cx="72000" cy="1227600"/>
          </a:xfrm>
          <a:prstGeom prst="rect">
            <a:avLst/>
          </a:prstGeom>
          <a:solidFill>
            <a:srgbClr val="0055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657600"/>
            <a:ext cx="10058400" cy="1645920"/>
          </a:xfrm>
          <a:prstGeom prst="rect">
            <a:avLst/>
          </a:prstGeom>
          <a:noFill/>
        </p:spPr>
        <p:txBody>
          <a:bodyPr wrap="square">
            <a:spAutoFit/>
          </a:bodyPr>
          <a:lstStyle/>
          <a:p>
            <a:r>
              <a:rPr sz="1300" b="1">
                <a:solidFill>
                  <a:srgbClr val="1A1A2E"/>
                </a:solidFill>
                <a:latin typeface="Khula"/>
              </a:rPr>
              <a:t>The industry has moved from 'AI-assisted human' to 'human-supervised AI': </a:t>
            </a:r>
            <a:r>
              <a:rPr sz="1200" b="0">
                <a:solidFill>
                  <a:srgbClr val="666666"/>
                </a:solidFill>
                <a:latin typeface="Khula"/>
              </a:rPr>
              <a:t>Microsoft identifies financial services as having the highest concentration of 'Frontier Firms' — organizations embedding AI agents across every workflow. JPMorgan deploys tools to 200,000+ employees (over half use AI multiple times daily). Goldman Sachs AI does 95% of an IPO prospectus 'in minutes.' One Forrester-studied firm runs 60 agentic agents in production with plans for 200 more.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Financial Services: What's Deployed vs. Emerging</a:t>
            </a:r>
          </a:p>
        </p:txBody>
      </p:sp>
      <p:sp>
        <p:nvSpPr>
          <p:cNvPr id="3" name="Content Placeholder 2"/>
          <p:cNvSpPr>
            <a:spLocks noGrp="1"/>
          </p:cNvSpPr>
          <p:nvPr>
            <p:ph sz="quarter" idx="11"/>
          </p:nvPr>
        </p:nvSpPr>
        <p:spPr/>
        <p:txBody>
          <a:bodyPr/>
          <a:lstStyle/>
          <a:p>
            <a:r>
              <a:rPr sz="1400" b="1">
                <a:solidFill>
                  <a:srgbClr val="5BC2A7"/>
                </a:solidFill>
                <a:latin typeface="Poppins"/>
              </a:rPr>
              <a:t>✅ In Production Today</a:t>
            </a:r>
          </a:p>
          <a:p>
            <a:pPr>
              <a:spcBef>
                <a:spcPts val="200"/>
              </a:spcBef>
              <a:spcAft>
                <a:spcPts val="200"/>
              </a:spcAft>
            </a:pPr>
            <a:r>
              <a:rPr sz="1000" b="0">
                <a:solidFill>
                  <a:srgbClr val="1A1A2E"/>
                </a:solidFill>
              </a:rPr>
              <a:t>JPMorgan OmniAI — 400+ use cases, 200K employees, Coach AI for advisors, targeting 1,000+ by year-end</a:t>
            </a:r>
          </a:p>
          <a:p>
            <a:pPr>
              <a:spcBef>
                <a:spcPts val="200"/>
              </a:spcBef>
              <a:spcAft>
                <a:spcPts val="200"/>
              </a:spcAft>
            </a:pPr>
            <a:r>
              <a:rPr sz="1000" b="0">
                <a:solidFill>
                  <a:srgbClr val="1A1A2E"/>
                </a:solidFill>
              </a:rPr>
              <a:t>Goldman Sachs — GS AI Assistant firmwide, thousands of AI coders (Devin), AI agents doing accounting &amp; compliance (Claude)</a:t>
            </a:r>
          </a:p>
          <a:p>
            <a:pPr>
              <a:spcBef>
                <a:spcPts val="200"/>
              </a:spcBef>
              <a:spcAft>
                <a:spcPts val="200"/>
              </a:spcAft>
            </a:pPr>
            <a:r>
              <a:rPr sz="1000" b="0">
                <a:solidFill>
                  <a:srgbClr val="1A1A2E"/>
                </a:solidFill>
              </a:rPr>
              <a:t>Citi — Agentic AI to developers, autonomous software patches in production</a:t>
            </a:r>
          </a:p>
          <a:p>
            <a:pPr>
              <a:spcBef>
                <a:spcPts val="200"/>
              </a:spcBef>
              <a:spcAft>
                <a:spcPts val="200"/>
              </a:spcAft>
            </a:pPr>
            <a:r>
              <a:rPr sz="1000" b="0">
                <a:solidFill>
                  <a:srgbClr val="1A1A2E"/>
                </a:solidFill>
              </a:rPr>
              <a:t>Morgan Stanley — GPT-4 assistant for 16,000+ advisors querying 100K+ documents</a:t>
            </a:r>
          </a:p>
          <a:p>
            <a:pPr>
              <a:spcBef>
                <a:spcPts val="200"/>
              </a:spcBef>
              <a:spcAft>
                <a:spcPts val="200"/>
              </a:spcAft>
            </a:pPr>
            <a:r>
              <a:rPr sz="1000" b="0">
                <a:solidFill>
                  <a:srgbClr val="1A1A2E"/>
                </a:solidFill>
              </a:rPr>
              <a:t>BBVA Peru — Blue Buddy agentic AI, 83% digital resolution rate</a:t>
            </a:r>
          </a:p>
          <a:p>
            <a:pPr>
              <a:spcBef>
                <a:spcPts val="200"/>
              </a:spcBef>
              <a:spcAft>
                <a:spcPts val="200"/>
              </a:spcAft>
            </a:pPr>
            <a:r>
              <a:rPr sz="1000" b="0">
                <a:solidFill>
                  <a:srgbClr val="1A1A2E"/>
                </a:solidFill>
              </a:rPr>
              <a:t>One firm: 60 agents in production, planning 200 more (Forrester)</a:t>
            </a:r>
          </a:p>
          <a:p>
            <a:pPr>
              <a:spcBef>
                <a:spcPts val="200"/>
              </a:spcBef>
              <a:spcAft>
                <a:spcPts val="200"/>
              </a:spcAft>
            </a:pPr>
            <a:r>
              <a:rPr sz="1000" b="0">
                <a:solidFill>
                  <a:srgbClr val="1A1A2E"/>
                </a:solidFill>
              </a:rPr>
              <a:t>Autonomous payment routing — Sub-200ms transaction decisions at multiple institutions</a:t>
            </a:r>
          </a:p>
        </p:txBody>
      </p:sp>
      <p:sp>
        <p:nvSpPr>
          <p:cNvPr id="4" name="Content Placeholder 3"/>
          <p:cNvSpPr>
            <a:spLocks noGrp="1"/>
          </p:cNvSpPr>
          <p:nvPr>
            <p:ph sz="quarter" idx="12"/>
          </p:nvPr>
        </p:nvSpPr>
        <p:spPr/>
        <p:txBody>
          <a:bodyPr/>
          <a:lstStyle/>
          <a:p>
            <a:r>
              <a:rPr sz="1400" b="1">
                <a:solidFill>
                  <a:srgbClr val="F5BB41"/>
                </a:solidFill>
                <a:latin typeface="Poppins"/>
              </a:rPr>
              <a:t>🔄 Emerging, Not Scaled</a:t>
            </a:r>
          </a:p>
          <a:p>
            <a:pPr>
              <a:spcBef>
                <a:spcPts val="200"/>
              </a:spcBef>
              <a:spcAft>
                <a:spcPts val="200"/>
              </a:spcAft>
            </a:pPr>
            <a:r>
              <a:rPr sz="1000" b="0">
                <a:solidFill>
                  <a:srgbClr val="1A1A2E"/>
                </a:solidFill>
              </a:rPr>
              <a:t>Multi-agent orchestration across departments (most agents still domain-specific)</a:t>
            </a:r>
          </a:p>
          <a:p>
            <a:pPr>
              <a:spcBef>
                <a:spcPts val="200"/>
              </a:spcBef>
              <a:spcAft>
                <a:spcPts val="200"/>
              </a:spcAft>
            </a:pPr>
            <a:r>
              <a:rPr sz="1000" b="0">
                <a:solidFill>
                  <a:srgbClr val="1A1A2E"/>
                </a:solidFill>
              </a:rPr>
              <a:t>10+ agent swarms with orchestration (Goldman AAS moving this way, not fully autonomous)</a:t>
            </a:r>
          </a:p>
          <a:p>
            <a:pPr>
              <a:spcBef>
                <a:spcPts val="200"/>
              </a:spcBef>
              <a:spcAft>
                <a:spcPts val="200"/>
              </a:spcAft>
            </a:pPr>
            <a:r>
              <a:rPr sz="1000" b="0">
                <a:solidFill>
                  <a:srgbClr val="1A1A2E"/>
                </a:solidFill>
              </a:rPr>
              <a:t>Fully autonomous trading decisions (regulatory human-in-the-loop required)</a:t>
            </a:r>
          </a:p>
          <a:p>
            <a:pPr>
              <a:spcBef>
                <a:spcPts val="200"/>
              </a:spcBef>
              <a:spcAft>
                <a:spcPts val="200"/>
              </a:spcAft>
            </a:pPr>
            <a:r>
              <a:rPr sz="1000" b="0">
                <a:solidFill>
                  <a:srgbClr val="1A1A2E"/>
                </a:solidFill>
              </a:rPr>
              <a:t>Cross-institution agent-to-agent (Visa/Mastercard frameworks expected, not live)</a:t>
            </a:r>
          </a:p>
          <a:p>
            <a:pPr>
              <a:spcBef>
                <a:spcPts val="200"/>
              </a:spcBef>
              <a:spcAft>
                <a:spcPts val="200"/>
              </a:spcAft>
            </a:pPr>
            <a:r>
              <a:rPr sz="1000" b="0">
                <a:solidFill>
                  <a:srgbClr val="1A1A2E"/>
                </a:solidFill>
              </a:rPr>
              <a:t>CFPB requiring AI agents to register as loan officers — governance catching up</a:t>
            </a:r>
          </a:p>
          <a:p>
            <a:pPr>
              <a:spcBef>
                <a:spcPts val="200"/>
              </a:spcBef>
              <a:spcAft>
                <a:spcPts val="200"/>
              </a:spcAft>
            </a:pPr>
            <a:r>
              <a:rPr sz="1000" b="0">
                <a:solidFill>
                  <a:srgbClr val="1A1A2E"/>
                </a:solidFill>
              </a:rPr>
              <a:t>Only 1 in 5 companies has mature governance for autonomous agents (Deloitte)</a:t>
            </a:r>
          </a:p>
        </p:txBody>
      </p:sp>
      <p:sp>
        <p:nvSpPr>
          <p:cNvPr id="5" name="Text Placeholder 4"/>
          <p:cNvSpPr>
            <a:spLocks noGrp="1"/>
          </p:cNvSpPr>
          <p:nvPr>
            <p:ph type="body" sz="quarter" idx="13"/>
          </p:nvPr>
        </p:nvSpPr>
        <p:spPr/>
        <p:txBody>
          <a:bodyPr/>
          <a:lstStyle/>
          <a:p>
            <a:r>
              <a:t>Major banks operating in production at Stage 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Financial Services: Stage-by-Stage Reality</a:t>
            </a:r>
          </a:p>
        </p:txBody>
      </p:sp>
      <p:sp>
        <p:nvSpPr>
          <p:cNvPr id="3" name="Content Placeholder 2"/>
          <p:cNvSpPr>
            <a:spLocks noGrp="1"/>
          </p:cNvSpPr>
          <p:nvPr>
            <p:ph sz="quarter" idx="10"/>
          </p:nvPr>
        </p:nvSpPr>
        <p:spPr/>
        <p:txBody>
          <a:bodyPr/>
          <a:lstStyle/>
          <a:p>
            <a:pPr>
              <a:spcBef>
                <a:spcPts val="600"/>
              </a:spcBef>
              <a:spcAft>
                <a:spcPts val="100"/>
              </a:spcAft>
            </a:pPr>
            <a:r>
              <a:rPr sz="1100" b="1">
                <a:solidFill>
                  <a:srgbClr val="005596"/>
                </a:solidFill>
                <a:latin typeface="Poppins"/>
              </a:rPr>
              <a:t>Stage 1–2: PASSED</a:t>
            </a:r>
          </a:p>
          <a:p>
            <a:pPr>
              <a:spcAft>
                <a:spcPts val="400"/>
              </a:spcAft>
            </a:pPr>
            <a:r>
              <a:rPr sz="900" b="0">
                <a:solidFill>
                  <a:srgbClr val="1A1A2E"/>
                </a:solidFill>
                <a:latin typeface="Khula"/>
              </a:rPr>
              <a:t>Major banks moved through chatbot/copilot phases in 2023–24. Morgan Stanley advisor assistant (Sept 2023) was early Stage 2. Fully behind them for Tier 1.</a:t>
            </a:r>
          </a:p>
          <a:p>
            <a:pPr>
              <a:spcBef>
                <a:spcPts val="600"/>
              </a:spcBef>
              <a:spcAft>
                <a:spcPts val="100"/>
              </a:spcAft>
            </a:pPr>
            <a:r>
              <a:rPr sz="1100" b="1">
                <a:solidFill>
                  <a:srgbClr val="005596"/>
                </a:solidFill>
                <a:latin typeface="Poppins"/>
              </a:rPr>
              <a:t>Stage 3: INDUSTRY NORM</a:t>
            </a:r>
          </a:p>
          <a:p>
            <a:pPr>
              <a:spcAft>
                <a:spcPts val="400"/>
              </a:spcAft>
            </a:pPr>
            <a:r>
              <a:rPr sz="900" b="0">
                <a:solidFill>
                  <a:srgbClr val="1A1A2E"/>
                </a:solidFill>
                <a:latin typeface="Khula"/>
              </a:rPr>
              <a:t>Autonomous single agents are table stakes — fraud detection, document processing, risk scoring all run with minimal human intervention. Goldman AI does 95% of IPO prospectuses.</a:t>
            </a:r>
          </a:p>
          <a:p>
            <a:pPr>
              <a:spcBef>
                <a:spcPts val="600"/>
              </a:spcBef>
              <a:spcAft>
                <a:spcPts val="100"/>
              </a:spcAft>
            </a:pPr>
            <a:r>
              <a:rPr sz="1100" b="1">
                <a:solidFill>
                  <a:srgbClr val="005596"/>
                </a:solidFill>
                <a:latin typeface="Poppins"/>
              </a:rPr>
              <a:t>Stage 4: ACTIVE</a:t>
            </a:r>
          </a:p>
          <a:p>
            <a:pPr>
              <a:spcAft>
                <a:spcPts val="400"/>
              </a:spcAft>
            </a:pPr>
            <a:r>
              <a:rPr sz="900" b="0">
                <a:solidFill>
                  <a:srgbClr val="1A1A2E"/>
                </a:solidFill>
                <a:latin typeface="Khula"/>
              </a:rPr>
              <a:t>Agents with wider context. JPMorgan 400+ use cases spanning back-office, wealth, risk, trading. Goldman GS AI Assistant is model-agnostic (GPT, Gemini, Claude). Multi-step workflows like credit memos, cross-currency reconciliation.</a:t>
            </a:r>
          </a:p>
          <a:p>
            <a:pPr>
              <a:spcBef>
                <a:spcPts val="600"/>
              </a:spcBef>
              <a:spcAft>
                <a:spcPts val="100"/>
              </a:spcAft>
            </a:pPr>
            <a:r>
              <a:rPr sz="1100" b="1">
                <a:solidFill>
                  <a:srgbClr val="005596"/>
                </a:solidFill>
                <a:latin typeface="Poppins"/>
              </a:rPr>
              <a:t>Stage 5–6: LEADERS HERE → EMERGING</a:t>
            </a:r>
          </a:p>
          <a:p>
            <a:pPr>
              <a:spcAft>
                <a:spcPts val="400"/>
              </a:spcAft>
            </a:pPr>
            <a:r>
              <a:rPr sz="900" b="0">
                <a:solidFill>
                  <a:srgbClr val="1A1A2E"/>
                </a:solidFill>
                <a:latin typeface="Khula"/>
              </a:rPr>
              <a:t>Top 10 banks have hosted, production-grade agent infrastructure. JPMorgan OmniAI, Goldman Agent-as-a-Service, Citi developer agents. One firm runs 60 production agents. Goldman deploying thousands of AI coders alongside 12K humans. True inter-agent collaboration is early.</a:t>
            </a:r>
          </a:p>
          <a:p>
            <a:pPr>
              <a:spcBef>
                <a:spcPts val="600"/>
              </a:spcBef>
              <a:spcAft>
                <a:spcPts val="100"/>
              </a:spcAft>
            </a:pPr>
            <a:r>
              <a:rPr sz="1100" b="1">
                <a:solidFill>
                  <a:srgbClr val="005596"/>
                </a:solidFill>
                <a:latin typeface="Poppins"/>
              </a:rPr>
              <a:t>Stage 7: NEAR-POSSIBLE</a:t>
            </a:r>
          </a:p>
          <a:p>
            <a:pPr>
              <a:spcAft>
                <a:spcPts val="400"/>
              </a:spcAft>
            </a:pPr>
            <a:r>
              <a:rPr sz="900" b="0">
                <a:solidFill>
                  <a:srgbClr val="1A1A2E"/>
                </a:solidFill>
                <a:latin typeface="Khula"/>
              </a:rPr>
              <a:t>The 60-agent firm (planning 200 more) approaches Stage 7. Goldman's AI coder fleets operate as agent swarms. But orchestration governance across 10+ autonomous agents still maturing.</a:t>
            </a:r>
          </a:p>
          <a:p>
            <a:pPr>
              <a:spcBef>
                <a:spcPts val="600"/>
              </a:spcBef>
              <a:spcAft>
                <a:spcPts val="100"/>
              </a:spcAft>
            </a:pPr>
            <a:r>
              <a:rPr sz="1100" b="1">
                <a:solidFill>
                  <a:srgbClr val="005596"/>
                </a:solidFill>
                <a:latin typeface="Poppins"/>
              </a:rPr>
              <a:t>Stage 8: NOT YET</a:t>
            </a:r>
          </a:p>
          <a:p>
            <a:pPr>
              <a:spcAft>
                <a:spcPts val="400"/>
              </a:spcAft>
            </a:pPr>
            <a:r>
              <a:rPr sz="900" b="0">
                <a:solidFill>
                  <a:srgbClr val="1A1A2E"/>
                </a:solidFill>
                <a:latin typeface="Khula"/>
              </a:rPr>
              <a:t>No true factory-operator orchestration. SEC/CFPB mandate human-in-the-loop for high-stakes decisions. Only 20% have mature autonomous agent governance.</a:t>
            </a:r>
          </a:p>
        </p:txBody>
      </p:sp>
      <p:sp>
        <p:nvSpPr>
          <p:cNvPr id="4" name="Text Placeholder 3"/>
          <p:cNvSpPr>
            <a:spLocks noGrp="1"/>
          </p:cNvSpPr>
          <p:nvPr>
            <p:ph type="body" sz="quarter" idx="11"/>
          </p:nvPr>
        </p:nvSpPr>
        <p:spPr/>
        <p:txBody>
          <a:bodyPr/>
          <a:lstStyle/>
          <a:p>
            <a:r>
              <a:t>Near-possible ceiling: Stage 6–7 (back-office pockets)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Manufacturing</a:t>
            </a:r>
          </a:p>
        </p:txBody>
      </p:sp>
      <p:sp>
        <p:nvSpPr>
          <p:cNvPr id="3" name="Subtitle 2"/>
          <p:cNvSpPr>
            <a:spLocks noGrp="1"/>
          </p:cNvSpPr>
          <p:nvPr>
            <p:ph type="subTitle" idx="1"/>
          </p:nvPr>
        </p:nvSpPr>
        <p:spPr/>
        <p:txBody>
          <a:bodyPr/>
          <a:lstStyle/>
          <a:p>
            <a:r>
              <a:t>Majority at Stage 2–3  |  Leaders at Stage 4–5  |  Ceiling: Stage 5–6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Manufacturing: Deep ML Heritage, Emerging Agentic</a:t>
            </a:r>
          </a:p>
        </p:txBody>
      </p:sp>
      <p:sp>
        <p:nvSpPr>
          <p:cNvPr id="3" name="Rounded Rectangle 2"/>
          <p:cNvSpPr/>
          <p:nvPr/>
        </p:nvSpPr>
        <p:spPr>
          <a:xfrm>
            <a:off x="457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1</a:t>
            </a:r>
          </a:p>
        </p:txBody>
      </p:sp>
      <p:sp>
        <p:nvSpPr>
          <p:cNvPr id="4" name="Rounded Rectangle 3"/>
          <p:cNvSpPr/>
          <p:nvPr/>
        </p:nvSpPr>
        <p:spPr>
          <a:xfrm>
            <a:off x="1636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2</a:t>
            </a:r>
          </a:p>
        </p:txBody>
      </p:sp>
      <p:sp>
        <p:nvSpPr>
          <p:cNvPr id="5" name="Rounded Rectangle 4"/>
          <p:cNvSpPr/>
          <p:nvPr/>
        </p:nvSpPr>
        <p:spPr>
          <a:xfrm>
            <a:off x="2815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3</a:t>
            </a:r>
          </a:p>
        </p:txBody>
      </p:sp>
      <p:sp>
        <p:nvSpPr>
          <p:cNvPr id="6" name="Rounded Rectangle 5"/>
          <p:cNvSpPr/>
          <p:nvPr/>
        </p:nvSpPr>
        <p:spPr>
          <a:xfrm>
            <a:off x="3994200" y="1280160"/>
            <a:ext cx="1143000" cy="182880"/>
          </a:xfrm>
          <a:prstGeom prst="round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4</a:t>
            </a:r>
          </a:p>
        </p:txBody>
      </p:sp>
      <p:sp>
        <p:nvSpPr>
          <p:cNvPr id="7" name="Rounded Rectangle 6"/>
          <p:cNvSpPr/>
          <p:nvPr/>
        </p:nvSpPr>
        <p:spPr>
          <a:xfrm>
            <a:off x="5173200" y="1280160"/>
            <a:ext cx="1143000" cy="182880"/>
          </a:xfrm>
          <a:prstGeom prst="round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5</a:t>
            </a:r>
          </a:p>
        </p:txBody>
      </p:sp>
      <p:sp>
        <p:nvSpPr>
          <p:cNvPr id="8" name="Rounded Rectangle 7"/>
          <p:cNvSpPr/>
          <p:nvPr/>
        </p:nvSpPr>
        <p:spPr>
          <a:xfrm>
            <a:off x="6352200" y="1280160"/>
            <a:ext cx="1143000" cy="182880"/>
          </a:xfrm>
          <a:prstGeom prst="roundRect">
            <a:avLst/>
          </a:prstGeom>
          <a:solidFill>
            <a:srgbClr val="4597D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6</a:t>
            </a:r>
          </a:p>
        </p:txBody>
      </p:sp>
      <p:sp>
        <p:nvSpPr>
          <p:cNvPr id="9" name="Rounded Rectangle 8"/>
          <p:cNvSpPr/>
          <p:nvPr/>
        </p:nvSpPr>
        <p:spPr>
          <a:xfrm>
            <a:off x="7531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7</a:t>
            </a:r>
          </a:p>
        </p:txBody>
      </p:sp>
      <p:sp>
        <p:nvSpPr>
          <p:cNvPr id="10" name="Rounded Rectangle 9"/>
          <p:cNvSpPr/>
          <p:nvPr/>
        </p:nvSpPr>
        <p:spPr>
          <a:xfrm>
            <a:off x="8710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8</a:t>
            </a:r>
          </a:p>
        </p:txBody>
      </p:sp>
      <p:sp>
        <p:nvSpPr>
          <p:cNvPr id="11" name="TextBox 10"/>
          <p:cNvSpPr txBox="1"/>
          <p:nvPr/>
        </p:nvSpPr>
        <p:spPr>
          <a:xfrm>
            <a:off x="457200" y="1554480"/>
            <a:ext cx="10058400" cy="274320"/>
          </a:xfrm>
          <a:prstGeom prst="rect">
            <a:avLst/>
          </a:prstGeom>
          <a:noFill/>
        </p:spPr>
        <p:txBody>
          <a:bodyPr wrap="none">
            <a:spAutoFit/>
          </a:bodyPr>
          <a:lstStyle/>
          <a:p>
            <a:r>
              <a:rPr sz="900" b="0">
                <a:solidFill>
                  <a:srgbClr val="5BC2A7"/>
                </a:solidFill>
                <a:latin typeface="Khula"/>
              </a:rPr>
              <a:t>■ Achieved  </a:t>
            </a:r>
            <a:r>
              <a:rPr sz="900" b="0">
                <a:solidFill>
                  <a:srgbClr val="F5BB41"/>
                </a:solidFill>
                <a:latin typeface="Khula"/>
              </a:rPr>
              <a:t>■ Leaders Today  </a:t>
            </a:r>
            <a:r>
              <a:rPr sz="900" b="0">
                <a:solidFill>
                  <a:srgbClr val="4597D3"/>
                </a:solidFill>
                <a:latin typeface="Khula"/>
              </a:rPr>
              <a:t>■ Near-Possible  </a:t>
            </a:r>
            <a:r>
              <a:rPr sz="900" b="0">
                <a:solidFill>
                  <a:srgbClr val="E9ECEF"/>
                </a:solidFill>
                <a:latin typeface="Khula"/>
              </a:rPr>
              <a:t>■ Not Yet</a:t>
            </a:r>
          </a:p>
        </p:txBody>
      </p:sp>
      <p:sp>
        <p:nvSpPr>
          <p:cNvPr id="12" name="Rounded Rectangle 11"/>
          <p:cNvSpPr/>
          <p:nvPr/>
        </p:nvSpPr>
        <p:spPr>
          <a:xfrm>
            <a:off x="45720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5BC2A7"/>
                </a:solidFill>
                <a:latin typeface="Poppins"/>
              </a:rPr>
              <a:t>77%</a:t>
            </a:r>
          </a:p>
          <a:p>
            <a:pPr algn="l">
              <a:spcBef>
                <a:spcPts val="200"/>
              </a:spcBef>
            </a:pPr>
            <a:r>
              <a:rPr sz="1000" b="0">
                <a:solidFill>
                  <a:srgbClr val="666666"/>
                </a:solidFill>
                <a:latin typeface="Khula"/>
              </a:rPr>
              <a:t>of manufacturers use AI
(up from 70% in 2024)</a:t>
            </a:r>
          </a:p>
        </p:txBody>
      </p:sp>
      <p:sp>
        <p:nvSpPr>
          <p:cNvPr id="13" name="Rectangle 12"/>
          <p:cNvSpPr/>
          <p:nvPr/>
        </p:nvSpPr>
        <p:spPr>
          <a:xfrm>
            <a:off x="457200" y="2083680"/>
            <a:ext cx="72000" cy="1227600"/>
          </a:xfrm>
          <a:prstGeom prst="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749039"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F5BB41"/>
                </a:solidFill>
                <a:latin typeface="Poppins"/>
              </a:rPr>
              <a:t>6%→24%</a:t>
            </a:r>
          </a:p>
          <a:p>
            <a:pPr algn="l">
              <a:spcBef>
                <a:spcPts val="200"/>
              </a:spcBef>
            </a:pPr>
            <a:r>
              <a:rPr sz="1000" b="0">
                <a:solidFill>
                  <a:srgbClr val="666666"/>
                </a:solidFill>
                <a:latin typeface="Khula"/>
              </a:rPr>
              <a:t>agentic AI adoption increase
expected in 2026 (Deloitte)</a:t>
            </a:r>
          </a:p>
        </p:txBody>
      </p:sp>
      <p:sp>
        <p:nvSpPr>
          <p:cNvPr id="15" name="Rectangle 14"/>
          <p:cNvSpPr/>
          <p:nvPr/>
        </p:nvSpPr>
        <p:spPr>
          <a:xfrm>
            <a:off x="3749039" y="2083680"/>
            <a:ext cx="72000" cy="1227600"/>
          </a:xfrm>
          <a:prstGeom prst="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04088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F5BB41"/>
                </a:solidFill>
                <a:latin typeface="Poppins"/>
              </a:rPr>
              <a:t>20%</a:t>
            </a:r>
          </a:p>
          <a:p>
            <a:pPr algn="l">
              <a:spcBef>
                <a:spcPts val="200"/>
              </a:spcBef>
            </a:pPr>
            <a:r>
              <a:rPr sz="1000" b="0">
                <a:solidFill>
                  <a:srgbClr val="666666"/>
                </a:solidFill>
                <a:latin typeface="Khula"/>
              </a:rPr>
              <a:t>feel fully prepared for
AI at scale (Redwood 2026)</a:t>
            </a:r>
          </a:p>
        </p:txBody>
      </p:sp>
      <p:sp>
        <p:nvSpPr>
          <p:cNvPr id="17" name="Rectangle 16"/>
          <p:cNvSpPr/>
          <p:nvPr/>
        </p:nvSpPr>
        <p:spPr>
          <a:xfrm>
            <a:off x="7040880" y="2083680"/>
            <a:ext cx="72000" cy="1227600"/>
          </a:xfrm>
          <a:prstGeom prst="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657600"/>
            <a:ext cx="10058400" cy="1645920"/>
          </a:xfrm>
          <a:prstGeom prst="rect">
            <a:avLst/>
          </a:prstGeom>
          <a:noFill/>
        </p:spPr>
        <p:txBody>
          <a:bodyPr wrap="square">
            <a:spAutoFit/>
          </a:bodyPr>
          <a:lstStyle/>
          <a:p>
            <a:r>
              <a:rPr sz="1300" b="1">
                <a:solidFill>
                  <a:srgbClr val="1A1A2E"/>
                </a:solidFill>
                <a:latin typeface="Khula"/>
              </a:rPr>
              <a:t>A unique middle position — deep traditional AI/ML, emerging agentic: </a:t>
            </a:r>
            <a:r>
              <a:rPr sz="1200" b="0">
                <a:solidFill>
                  <a:srgbClr val="666666"/>
                </a:solidFill>
                <a:latin typeface="Khula"/>
              </a:rPr>
              <a:t>Process manufacturing has embedded AI routines for decades (process control, predictive maintenance, computer vision). But the jump to GenAI/agentic has been slower than financial services. 98% are exploring AI automation but only 20% ready for scale. Deloitte forecasts a 4× increase in agentic adoption during 2026. Only 5% of GenAI projects reached enterprise scale in 2025 (MIT).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Manufacturing: What's Deployed vs. What's Not</a:t>
            </a:r>
          </a:p>
        </p:txBody>
      </p:sp>
      <p:sp>
        <p:nvSpPr>
          <p:cNvPr id="3" name="Content Placeholder 2"/>
          <p:cNvSpPr>
            <a:spLocks noGrp="1"/>
          </p:cNvSpPr>
          <p:nvPr>
            <p:ph sz="quarter" idx="11"/>
          </p:nvPr>
        </p:nvSpPr>
        <p:spPr/>
        <p:txBody>
          <a:bodyPr/>
          <a:lstStyle/>
          <a:p>
            <a:r>
              <a:rPr sz="1400" b="1">
                <a:solidFill>
                  <a:srgbClr val="5BC2A7"/>
                </a:solidFill>
                <a:latin typeface="Poppins"/>
              </a:rPr>
              <a:t>✅ Deployed Today</a:t>
            </a:r>
          </a:p>
          <a:p>
            <a:pPr>
              <a:spcBef>
                <a:spcPts val="200"/>
              </a:spcBef>
              <a:spcAft>
                <a:spcPts val="200"/>
              </a:spcAft>
            </a:pPr>
            <a:r>
              <a:rPr sz="1000" b="0">
                <a:solidFill>
                  <a:srgbClr val="1A1A2E"/>
                </a:solidFill>
              </a:rPr>
              <a:t>Siemens Industrial AI Agents — Orchestrator deploys specialized agents, Engineering Copilot generates code via NL</a:t>
            </a:r>
          </a:p>
          <a:p>
            <a:pPr>
              <a:spcBef>
                <a:spcPts val="200"/>
              </a:spcBef>
              <a:spcAft>
                <a:spcPts val="200"/>
              </a:spcAft>
            </a:pPr>
            <a:r>
              <a:rPr sz="1000" b="0">
                <a:solidFill>
                  <a:srgbClr val="1A1A2E"/>
                </a:solidFill>
              </a:rPr>
              <a:t>Siemens × NVIDIA — Building world's first fully AI-driven factory (Erlangen, starting 2026)</a:t>
            </a:r>
          </a:p>
          <a:p>
            <a:pPr>
              <a:spcBef>
                <a:spcPts val="200"/>
              </a:spcBef>
              <a:spcAft>
                <a:spcPts val="200"/>
              </a:spcAft>
            </a:pPr>
            <a:r>
              <a:rPr sz="1000" b="0">
                <a:solidFill>
                  <a:srgbClr val="1A1A2E"/>
                </a:solidFill>
              </a:rPr>
              <a:t>BMW — Agentic AI robots autonomously spot bottlenecks, adjust manufacturing processes</a:t>
            </a:r>
          </a:p>
          <a:p>
            <a:pPr>
              <a:spcBef>
                <a:spcPts val="200"/>
              </a:spcBef>
              <a:spcAft>
                <a:spcPts val="200"/>
              </a:spcAft>
            </a:pPr>
            <a:r>
              <a:rPr sz="1000" b="0">
                <a:solidFill>
                  <a:srgbClr val="1A1A2E"/>
                </a:solidFill>
              </a:rPr>
              <a:t>GE Aviation — Agentic AI monitors machinery, detects issues without human intervention</a:t>
            </a:r>
          </a:p>
          <a:p>
            <a:pPr>
              <a:spcBef>
                <a:spcPts val="200"/>
              </a:spcBef>
              <a:spcAft>
                <a:spcPts val="200"/>
              </a:spcAft>
            </a:pPr>
            <a:r>
              <a:rPr sz="1000" b="0">
                <a:solidFill>
                  <a:srgbClr val="1A1A2E"/>
                </a:solidFill>
              </a:rPr>
              <a:t>Siemens Senseye — Predictive maintenance across 10,000+ assets, 4 continents, 12% downtime reduction in 12 weeks</a:t>
            </a:r>
          </a:p>
          <a:p>
            <a:pPr>
              <a:spcBef>
                <a:spcPts val="200"/>
              </a:spcBef>
              <a:spcAft>
                <a:spcPts val="200"/>
              </a:spcAft>
            </a:pPr>
            <a:r>
              <a:rPr sz="1000" b="0">
                <a:solidFill>
                  <a:srgbClr val="1A1A2E"/>
                </a:solidFill>
              </a:rPr>
              <a:t>40% of manufacturers upgrading scheduling with AI autonomous capabilities (IDC 2026)</a:t>
            </a:r>
          </a:p>
        </p:txBody>
      </p:sp>
      <p:sp>
        <p:nvSpPr>
          <p:cNvPr id="4" name="Content Placeholder 3"/>
          <p:cNvSpPr>
            <a:spLocks noGrp="1"/>
          </p:cNvSpPr>
          <p:nvPr>
            <p:ph sz="quarter" idx="12"/>
          </p:nvPr>
        </p:nvSpPr>
        <p:spPr/>
        <p:txBody>
          <a:bodyPr/>
          <a:lstStyle/>
          <a:p>
            <a:r>
              <a:rPr sz="1400" b="1">
                <a:solidFill>
                  <a:srgbClr val="DC3545"/>
                </a:solidFill>
                <a:latin typeface="Poppins"/>
              </a:rPr>
              <a:t>❌ Not Happening Yet</a:t>
            </a:r>
          </a:p>
          <a:p>
            <a:pPr>
              <a:spcBef>
                <a:spcPts val="200"/>
              </a:spcBef>
              <a:spcAft>
                <a:spcPts val="200"/>
              </a:spcAft>
            </a:pPr>
            <a:r>
              <a:rPr sz="1000" b="0">
                <a:solidFill>
                  <a:srgbClr val="1A1A2E"/>
                </a:solidFill>
              </a:rPr>
              <a:t>Only 5% of GenAI/agent projects reach enterprise scale (MIT 2025)</a:t>
            </a:r>
          </a:p>
          <a:p>
            <a:pPr>
              <a:spcBef>
                <a:spcPts val="200"/>
              </a:spcBef>
              <a:spcAft>
                <a:spcPts val="200"/>
              </a:spcAft>
            </a:pPr>
            <a:r>
              <a:rPr sz="1000" b="0">
                <a:solidFill>
                  <a:srgbClr val="1A1A2E"/>
                </a:solidFill>
              </a:rPr>
              <a:t>Multi-agent orchestration across full production lifecycle is aspirational</a:t>
            </a:r>
          </a:p>
          <a:p>
            <a:pPr>
              <a:spcBef>
                <a:spcPts val="200"/>
              </a:spcBef>
              <a:spcAft>
                <a:spcPts val="200"/>
              </a:spcAft>
            </a:pPr>
            <a:r>
              <a:rPr sz="1000" b="0">
                <a:solidFill>
                  <a:srgbClr val="1A1A2E"/>
                </a:solidFill>
              </a:rPr>
              <a:t>IT/OT data integration fragmented — 40% integrated by 2027 (IDC forecast)</a:t>
            </a:r>
          </a:p>
          <a:p>
            <a:pPr>
              <a:spcBef>
                <a:spcPts val="200"/>
              </a:spcBef>
              <a:spcAft>
                <a:spcPts val="200"/>
              </a:spcAft>
            </a:pPr>
            <a:r>
              <a:rPr sz="1000" b="0">
                <a:solidFill>
                  <a:srgbClr val="1A1A2E"/>
                </a:solidFill>
              </a:rPr>
              <a:t>Workforce resistance: 'taking away the fun part of engineering' (IDC)</a:t>
            </a:r>
          </a:p>
          <a:p>
            <a:pPr>
              <a:spcBef>
                <a:spcPts val="200"/>
              </a:spcBef>
              <a:spcAft>
                <a:spcPts val="200"/>
              </a:spcAft>
            </a:pPr>
            <a:r>
              <a:rPr sz="1000" b="0">
                <a:solidFill>
                  <a:srgbClr val="1A1A2E"/>
                </a:solidFill>
              </a:rPr>
              <a:t>40% of agentic AI projects at risk of cancellation by 2027 (Gartner)</a:t>
            </a:r>
          </a:p>
          <a:p>
            <a:pPr>
              <a:spcBef>
                <a:spcPts val="200"/>
              </a:spcBef>
              <a:spcAft>
                <a:spcPts val="200"/>
              </a:spcAft>
            </a:pPr>
            <a:r>
              <a:rPr sz="1000" b="0">
                <a:solidFill>
                  <a:srgbClr val="1A1A2E"/>
                </a:solidFill>
              </a:rPr>
              <a:t>Physical AI in safety-critical environments still requires heavy human oversight</a:t>
            </a:r>
          </a:p>
        </p:txBody>
      </p:sp>
      <p:sp>
        <p:nvSpPr>
          <p:cNvPr id="5" name="Text Placeholder 4"/>
          <p:cNvSpPr>
            <a:spLocks noGrp="1"/>
          </p:cNvSpPr>
          <p:nvPr>
            <p:ph type="body" sz="quarter" idx="13"/>
          </p:nvPr>
        </p:nvSpPr>
        <p:spPr/>
        <p:txBody>
          <a:bodyPr/>
          <a:lstStyle/>
          <a:p>
            <a:r>
              <a:t>Strong in traditional AI, emerging in agentic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Manufacturing: Stage-by-Stage Reality</a:t>
            </a:r>
          </a:p>
        </p:txBody>
      </p:sp>
      <p:sp>
        <p:nvSpPr>
          <p:cNvPr id="3" name="Content Placeholder 2"/>
          <p:cNvSpPr>
            <a:spLocks noGrp="1"/>
          </p:cNvSpPr>
          <p:nvPr>
            <p:ph sz="quarter" idx="10"/>
          </p:nvPr>
        </p:nvSpPr>
        <p:spPr/>
        <p:txBody>
          <a:bodyPr/>
          <a:lstStyle/>
          <a:p>
            <a:pPr>
              <a:spcBef>
                <a:spcPts val="700"/>
              </a:spcBef>
              <a:spcAft>
                <a:spcPts val="100"/>
              </a:spcAft>
            </a:pPr>
            <a:r>
              <a:rPr sz="1100" b="1">
                <a:solidFill>
                  <a:srgbClr val="005596"/>
                </a:solidFill>
                <a:latin typeface="Poppins"/>
              </a:rPr>
              <a:t>Stage 1–2: MAJORITY HERE</a:t>
            </a:r>
          </a:p>
          <a:p>
            <a:pPr>
              <a:spcAft>
                <a:spcPts val="500"/>
              </a:spcAft>
            </a:pPr>
            <a:r>
              <a:rPr sz="950" b="0">
                <a:solidFill>
                  <a:srgbClr val="1A1A2E"/>
                </a:solidFill>
                <a:latin typeface="Khula"/>
              </a:rPr>
              <a:t>77% use AI but mostly at Stage 2 — quality inspection, basic predictive maintenance, document analysis with human permission. 98% exploring but only 20% ready for scale. Deep ML maturity, shallow GenAI/agentic maturity.</a:t>
            </a:r>
          </a:p>
          <a:p>
            <a:pPr>
              <a:spcBef>
                <a:spcPts val="700"/>
              </a:spcBef>
              <a:spcAft>
                <a:spcPts val="100"/>
              </a:spcAft>
            </a:pPr>
            <a:r>
              <a:rPr sz="1100" b="1">
                <a:solidFill>
                  <a:srgbClr val="005596"/>
                </a:solidFill>
                <a:latin typeface="Poppins"/>
              </a:rPr>
              <a:t>Stage 3: ACTIVE (LEADERS)</a:t>
            </a:r>
          </a:p>
          <a:p>
            <a:pPr>
              <a:spcAft>
                <a:spcPts val="500"/>
              </a:spcAft>
            </a:pPr>
            <a:r>
              <a:rPr sz="950" b="0">
                <a:solidFill>
                  <a:srgbClr val="1A1A2E"/>
                </a:solidFill>
                <a:latin typeface="Khula"/>
              </a:rPr>
              <a:t>Top manufacturers have autonomous single-agent workflows: predictive maintenance without approval, computer vision auto-rejecting defects, autonomous scheduling adjustments. BMW robots making proactive changes. GE autonomous monitoring.</a:t>
            </a:r>
          </a:p>
          <a:p>
            <a:pPr>
              <a:spcBef>
                <a:spcPts val="700"/>
              </a:spcBef>
              <a:spcAft>
                <a:spcPts val="100"/>
              </a:spcAft>
            </a:pPr>
            <a:r>
              <a:rPr sz="1100" b="1">
                <a:solidFill>
                  <a:srgbClr val="005596"/>
                </a:solidFill>
                <a:latin typeface="Poppins"/>
              </a:rPr>
              <a:t>Stage 4–5: LEADERS HERE → EMERGING</a:t>
            </a:r>
          </a:p>
          <a:p>
            <a:pPr>
              <a:spcAft>
                <a:spcPts val="500"/>
              </a:spcAft>
            </a:pPr>
            <a:r>
              <a:rPr sz="950" b="0">
                <a:solidFill>
                  <a:srgbClr val="1A1A2E"/>
                </a:solidFill>
                <a:latin typeface="Khula"/>
              </a:rPr>
              <a:t>Siemens Industrial Copilot ecosystem = Wide Agent territory. 45% of G2000 OEMs connecting field/engineering data via AI by end 2026 (IDC). Siemens' orchestrator deploying specialized agents = Stage 5 infrastructure. Erlangen factory is bleeding-edge, not mainstream.</a:t>
            </a:r>
          </a:p>
          <a:p>
            <a:pPr>
              <a:spcBef>
                <a:spcPts val="700"/>
              </a:spcBef>
              <a:spcAft>
                <a:spcPts val="100"/>
              </a:spcAft>
            </a:pPr>
            <a:r>
              <a:rPr sz="1100" b="1">
                <a:solidFill>
                  <a:srgbClr val="005596"/>
                </a:solidFill>
                <a:latin typeface="Poppins"/>
              </a:rPr>
              <a:t>Stage 6: NEAR-POSSIBLE</a:t>
            </a:r>
          </a:p>
          <a:p>
            <a:pPr>
              <a:spcAft>
                <a:spcPts val="500"/>
              </a:spcAft>
            </a:pPr>
            <a:r>
              <a:rPr sz="950" b="0">
                <a:solidFill>
                  <a:srgbClr val="1A1A2E"/>
                </a:solidFill>
                <a:latin typeface="Khula"/>
              </a:rPr>
              <a:t>Siemens' digital + physical (robot) agents coordinating tasks is multi-agent architecture. Smart factory sense-decide-act loops across lines. But only at very leading edge and just starting in 2026.</a:t>
            </a:r>
          </a:p>
          <a:p>
            <a:pPr>
              <a:spcBef>
                <a:spcPts val="700"/>
              </a:spcBef>
              <a:spcAft>
                <a:spcPts val="100"/>
              </a:spcAft>
            </a:pPr>
            <a:r>
              <a:rPr sz="1100" b="1">
                <a:solidFill>
                  <a:srgbClr val="005596"/>
                </a:solidFill>
                <a:latin typeface="Poppins"/>
              </a:rPr>
              <a:t>Stage 7–8: NOT YET</a:t>
            </a:r>
          </a:p>
          <a:p>
            <a:pPr>
              <a:spcAft>
                <a:spcPts val="500"/>
              </a:spcAft>
            </a:pPr>
            <a:r>
              <a:rPr sz="950" b="0">
                <a:solidFill>
                  <a:srgbClr val="1A1A2E"/>
                </a:solidFill>
                <a:latin typeface="Khula"/>
              </a:rPr>
              <a:t>IDC: 65% of G1000 using AI agents in design/simulation by 2028. Software-defined factory with centralized control via open platforms: 2029 (IDC). Full autonomous orchestration is a 2028–29 vision.</a:t>
            </a:r>
          </a:p>
        </p:txBody>
      </p:sp>
      <p:sp>
        <p:nvSpPr>
          <p:cNvPr id="4" name="Text Placeholder 3"/>
          <p:cNvSpPr>
            <a:spLocks noGrp="1"/>
          </p:cNvSpPr>
          <p:nvPr>
            <p:ph type="body" sz="quarter" idx="11"/>
          </p:nvPr>
        </p:nvSpPr>
        <p:spPr/>
        <p:txBody>
          <a:bodyPr/>
          <a:lstStyle/>
          <a:p>
            <a:r>
              <a:t>Near-possible ceiling: Stage 5–6 by late 2026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Gap? Accelerators vs. Constraints</a:t>
            </a:r>
          </a:p>
        </p:txBody>
      </p:sp>
      <p:sp>
        <p:nvSpPr>
          <p:cNvPr id="3" name="Content Placeholder 2"/>
          <p:cNvSpPr>
            <a:spLocks noGrp="1"/>
          </p:cNvSpPr>
          <p:nvPr>
            <p:ph sz="quarter" idx="11"/>
          </p:nvPr>
        </p:nvSpPr>
        <p:spPr/>
        <p:txBody>
          <a:bodyPr/>
          <a:lstStyle/>
          <a:p>
            <a:r>
              <a:rPr sz="1400" b="1">
                <a:solidFill>
                  <a:srgbClr val="5BC2A7"/>
                </a:solidFill>
                <a:latin typeface="Poppins"/>
              </a:rPr>
              <a:t>What Accelerates Maturity</a:t>
            </a:r>
          </a:p>
          <a:p>
            <a:pPr>
              <a:spcBef>
                <a:spcPts val="300"/>
              </a:spcBef>
              <a:spcAft>
                <a:spcPts val="300"/>
              </a:spcAft>
            </a:pPr>
            <a:r>
              <a:rPr sz="1000" b="0">
                <a:solidFill>
                  <a:srgbClr val="1A1A2E"/>
                </a:solidFill>
              </a:rPr>
              <a:t>Digital-native workflows — Finance operates on data; construction operates on dirt</a:t>
            </a:r>
          </a:p>
          <a:p>
            <a:pPr>
              <a:spcBef>
                <a:spcPts val="300"/>
              </a:spcBef>
              <a:spcAft>
                <a:spcPts val="300"/>
              </a:spcAft>
            </a:pPr>
            <a:r>
              <a:rPr sz="1000" b="0">
                <a:solidFill>
                  <a:srgbClr val="1A1A2E"/>
                </a:solidFill>
              </a:rPr>
              <a:t>Massive IT budgets — JPMorgan: $18B/yr on tech vs. fraction at mid-size GCs</a:t>
            </a:r>
          </a:p>
          <a:p>
            <a:pPr>
              <a:spcBef>
                <a:spcPts val="300"/>
              </a:spcBef>
              <a:spcAft>
                <a:spcPts val="300"/>
              </a:spcAft>
            </a:pPr>
            <a:r>
              <a:rPr sz="1000" b="0">
                <a:solidFill>
                  <a:srgbClr val="1A1A2E"/>
                </a:solidFill>
              </a:rPr>
              <a:t>Clean, structured data — Financial transactions structured by nature; construction data in PDFs and handwritten logs</a:t>
            </a:r>
          </a:p>
          <a:p>
            <a:pPr>
              <a:spcBef>
                <a:spcPts val="300"/>
              </a:spcBef>
              <a:spcAft>
                <a:spcPts val="300"/>
              </a:spcAft>
            </a:pPr>
            <a:r>
              <a:rPr sz="1000" b="0">
                <a:solidFill>
                  <a:srgbClr val="1A1A2E"/>
                </a:solidFill>
              </a:rPr>
              <a:t>Clear ROI metrics — Every basis point in routing = revenue; construction gains harder to measure</a:t>
            </a:r>
          </a:p>
          <a:p>
            <a:pPr>
              <a:spcBef>
                <a:spcPts val="300"/>
              </a:spcBef>
              <a:spcAft>
                <a:spcPts val="300"/>
              </a:spcAft>
            </a:pPr>
            <a:r>
              <a:rPr sz="1000" b="0">
                <a:solidFill>
                  <a:srgbClr val="1A1A2E"/>
                </a:solidFill>
              </a:rPr>
              <a:t>Competitive pressure — Fintechs force innovation or death; construction faces less tech disruption</a:t>
            </a:r>
          </a:p>
        </p:txBody>
      </p:sp>
      <p:sp>
        <p:nvSpPr>
          <p:cNvPr id="4" name="Content Placeholder 3"/>
          <p:cNvSpPr>
            <a:spLocks noGrp="1"/>
          </p:cNvSpPr>
          <p:nvPr>
            <p:ph sz="quarter" idx="12"/>
          </p:nvPr>
        </p:nvSpPr>
        <p:spPr/>
        <p:txBody>
          <a:bodyPr/>
          <a:lstStyle/>
          <a:p>
            <a:r>
              <a:rPr sz="1400" b="1">
                <a:solidFill>
                  <a:srgbClr val="DC3545"/>
                </a:solidFill>
                <a:latin typeface="Poppins"/>
              </a:rPr>
              <a:t>What Constrains Maturity</a:t>
            </a:r>
          </a:p>
          <a:p>
            <a:pPr>
              <a:spcBef>
                <a:spcPts val="300"/>
              </a:spcBef>
              <a:spcAft>
                <a:spcPts val="300"/>
              </a:spcAft>
            </a:pPr>
            <a:r>
              <a:rPr sz="1000" b="0">
                <a:solidFill>
                  <a:srgbClr val="1A1A2E"/>
                </a:solidFill>
              </a:rPr>
              <a:t>Regulatory requirements — Finance has strictest AI governance, paradoxically enables and limits</a:t>
            </a:r>
          </a:p>
          <a:p>
            <a:pPr>
              <a:spcBef>
                <a:spcPts val="300"/>
              </a:spcBef>
              <a:spcAft>
                <a:spcPts val="300"/>
              </a:spcAft>
            </a:pPr>
            <a:r>
              <a:rPr sz="1000" b="0">
                <a:solidFill>
                  <a:srgbClr val="1A1A2E"/>
                </a:solidFill>
              </a:rPr>
              <a:t>Physical-world risk — Manufacturing errors injure people; financial errors are monetary</a:t>
            </a:r>
          </a:p>
          <a:p>
            <a:pPr>
              <a:spcBef>
                <a:spcPts val="300"/>
              </a:spcBef>
              <a:spcAft>
                <a:spcPts val="300"/>
              </a:spcAft>
            </a:pPr>
            <a:r>
              <a:rPr sz="1000" b="0">
                <a:solidFill>
                  <a:srgbClr val="1A1A2E"/>
                </a:solidFill>
              </a:rPr>
              <a:t>Workforce culture — 52% of construction uses paper; engineers resist AI 'taking away the fun'</a:t>
            </a:r>
          </a:p>
          <a:p>
            <a:pPr>
              <a:spcBef>
                <a:spcPts val="300"/>
              </a:spcBef>
              <a:spcAft>
                <a:spcPts val="300"/>
              </a:spcAft>
            </a:pPr>
            <a:r>
              <a:rPr sz="1000" b="0">
                <a:solidFill>
                  <a:srgbClr val="1A1A2E"/>
                </a:solidFill>
              </a:rPr>
              <a:t>Data fragmentation — Construction and manufacturing suffer from siloed OT/IT legacy systems</a:t>
            </a:r>
          </a:p>
          <a:p>
            <a:pPr>
              <a:spcBef>
                <a:spcPts val="300"/>
              </a:spcBef>
              <a:spcAft>
                <a:spcPts val="300"/>
              </a:spcAft>
            </a:pPr>
            <a:r>
              <a:rPr sz="1000" b="0">
                <a:solidFill>
                  <a:srgbClr val="1A1A2E"/>
                </a:solidFill>
              </a:rPr>
              <a:t>Governance gaps — Only 20% of companies globally have mature autonomous agent governance (Deloitte)</a:t>
            </a:r>
          </a:p>
        </p:txBody>
      </p:sp>
      <p:sp>
        <p:nvSpPr>
          <p:cNvPr id="5" name="Text Placeholder 4"/>
          <p:cNvSpPr>
            <a:spLocks noGrp="1"/>
          </p:cNvSpPr>
          <p:nvPr>
            <p:ph type="body" sz="quarter" idx="13"/>
          </p:nvPr>
        </p:nvSpPr>
        <p:spPr/>
        <p:txBody>
          <a:bodyPr/>
          <a:lstStyle/>
          <a:p>
            <a:r>
              <a:t>Understanding what drives maturity differences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5486400" cy="365760"/>
          </a:xfrm>
          <a:prstGeom prst="rect">
            <a:avLst/>
          </a:prstGeom>
          <a:noFill/>
        </p:spPr>
        <p:txBody>
          <a:bodyPr wrap="square">
            <a:spAutoFit/>
          </a:bodyPr>
          <a:lstStyle/>
          <a:p>
            <a:pPr algn="l">
              <a:defRPr sz="1200" b="1">
                <a:solidFill>
                  <a:srgbClr val="5BC2A7"/>
                </a:solidFill>
                <a:latin typeface="Arial"/>
              </a:defRPr>
            </a:pPr>
            <a:r>
              <a:t>RESEARCH</a:t>
            </a:r>
          </a:p>
        </p:txBody>
      </p:sp>
      <p:sp>
        <p:nvSpPr>
          <p:cNvPr id="4" name="TextBox 3"/>
          <p:cNvSpPr txBox="1"/>
          <p:nvPr/>
        </p:nvSpPr>
        <p:spPr>
          <a:xfrm>
            <a:off x="457200" y="548640"/>
            <a:ext cx="10972800" cy="731520"/>
          </a:xfrm>
          <a:prstGeom prst="rect">
            <a:avLst/>
          </a:prstGeom>
          <a:noFill/>
        </p:spPr>
        <p:txBody>
          <a:bodyPr wrap="square">
            <a:spAutoFit/>
          </a:bodyPr>
          <a:lstStyle/>
          <a:p>
            <a:pPr algn="l">
              <a:defRPr sz="3200" b="1">
                <a:solidFill>
                  <a:srgbClr val="005596"/>
                </a:solidFill>
                <a:latin typeface="Arial"/>
              </a:defRPr>
            </a:pPr>
            <a:r>
              <a:t>Governance: The Autonomy Safety Net</a:t>
            </a:r>
          </a:p>
        </p:txBody>
      </p:sp>
      <p:sp>
        <p:nvSpPr>
          <p:cNvPr id="5" name="Rounded Rectangle 4"/>
          <p:cNvSpPr/>
          <p:nvPr/>
        </p:nvSpPr>
        <p:spPr>
          <a:xfrm>
            <a:off x="731520" y="1463040"/>
            <a:ext cx="5029200" cy="32004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5029200" cy="457200"/>
          </a:xfrm>
          <a:prstGeom prst="rect">
            <a:avLst/>
          </a:prstGeom>
          <a:noFill/>
        </p:spPr>
        <p:txBody>
          <a:bodyPr wrap="square">
            <a:spAutoFit/>
          </a:bodyPr>
          <a:lstStyle/>
          <a:p>
            <a:pPr algn="ctr">
              <a:defRPr sz="1800" b="1">
                <a:solidFill>
                  <a:srgbClr val="333333"/>
                </a:solidFill>
                <a:latin typeface="Arial"/>
              </a:defRPr>
            </a:pPr>
            <a:r>
              <a:t>Autonomy Without Governance</a:t>
            </a:r>
          </a:p>
        </p:txBody>
      </p:sp>
      <p:sp>
        <p:nvSpPr>
          <p:cNvPr id="7" name="Rectangle 6"/>
          <p:cNvSpPr/>
          <p:nvPr/>
        </p:nvSpPr>
        <p:spPr>
          <a:xfrm>
            <a:off x="2331720" y="2286000"/>
            <a:ext cx="1828800" cy="2194560"/>
          </a:xfrm>
          <a:prstGeom prst="rect">
            <a:avLst/>
          </a:prstGeom>
          <a:solidFill>
            <a:srgbClr val="C0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31720" y="3108960"/>
            <a:ext cx="1828800" cy="731520"/>
          </a:xfrm>
          <a:prstGeom prst="rect">
            <a:avLst/>
          </a:prstGeom>
          <a:noFill/>
        </p:spPr>
        <p:txBody>
          <a:bodyPr wrap="square">
            <a:spAutoFit/>
          </a:bodyPr>
          <a:lstStyle/>
          <a:p>
            <a:pPr algn="ctr">
              <a:defRPr sz="3600" b="1">
                <a:solidFill>
                  <a:srgbClr val="FFFFFF"/>
                </a:solidFill>
                <a:latin typeface="Arial"/>
              </a:defRPr>
            </a:pPr>
            <a:r>
              <a:t>20%</a:t>
            </a:r>
          </a:p>
        </p:txBody>
      </p:sp>
      <p:sp>
        <p:nvSpPr>
          <p:cNvPr id="9" name="TextBox 8"/>
          <p:cNvSpPr txBox="1"/>
          <p:nvPr/>
        </p:nvSpPr>
        <p:spPr>
          <a:xfrm>
            <a:off x="731520" y="4709160"/>
            <a:ext cx="5029200" cy="365760"/>
          </a:xfrm>
          <a:prstGeom prst="rect">
            <a:avLst/>
          </a:prstGeom>
          <a:noFill/>
        </p:spPr>
        <p:txBody>
          <a:bodyPr wrap="square">
            <a:spAutoFit/>
          </a:bodyPr>
          <a:lstStyle/>
          <a:p>
            <a:pPr algn="ctr">
              <a:defRPr sz="1200" b="0">
                <a:solidFill>
                  <a:srgbClr val="333333"/>
                </a:solidFill>
                <a:latin typeface="Arial"/>
              </a:defRPr>
            </a:pPr>
            <a:r>
              <a:t>Success Rate</a:t>
            </a:r>
          </a:p>
        </p:txBody>
      </p:sp>
      <p:sp>
        <p:nvSpPr>
          <p:cNvPr id="10" name="Rounded Rectangle 9"/>
          <p:cNvSpPr/>
          <p:nvPr/>
        </p:nvSpPr>
        <p:spPr>
          <a:xfrm>
            <a:off x="6400800" y="1463040"/>
            <a:ext cx="5029200" cy="32004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645920"/>
            <a:ext cx="5029200" cy="457200"/>
          </a:xfrm>
          <a:prstGeom prst="rect">
            <a:avLst/>
          </a:prstGeom>
          <a:noFill/>
        </p:spPr>
        <p:txBody>
          <a:bodyPr wrap="square">
            <a:spAutoFit/>
          </a:bodyPr>
          <a:lstStyle/>
          <a:p>
            <a:pPr algn="ctr">
              <a:defRPr sz="1800" b="1">
                <a:solidFill>
                  <a:srgbClr val="333333"/>
                </a:solidFill>
                <a:latin typeface="Arial"/>
              </a:defRPr>
            </a:pPr>
            <a:r>
              <a:t>Autonomy With Governance</a:t>
            </a:r>
          </a:p>
        </p:txBody>
      </p:sp>
      <p:sp>
        <p:nvSpPr>
          <p:cNvPr id="12" name="Rectangle 11"/>
          <p:cNvSpPr/>
          <p:nvPr/>
        </p:nvSpPr>
        <p:spPr>
          <a:xfrm>
            <a:off x="8001000" y="2286000"/>
            <a:ext cx="1828800" cy="219456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0" y="3108960"/>
            <a:ext cx="1828800" cy="731520"/>
          </a:xfrm>
          <a:prstGeom prst="rect">
            <a:avLst/>
          </a:prstGeom>
          <a:noFill/>
        </p:spPr>
        <p:txBody>
          <a:bodyPr wrap="square">
            <a:spAutoFit/>
          </a:bodyPr>
          <a:lstStyle/>
          <a:p>
            <a:pPr algn="ctr">
              <a:defRPr sz="3600" b="1">
                <a:solidFill>
                  <a:srgbClr val="FFFFFF"/>
                </a:solidFill>
                <a:latin typeface="Arial"/>
              </a:defRPr>
            </a:pPr>
            <a:r>
              <a:t>45%</a:t>
            </a:r>
          </a:p>
        </p:txBody>
      </p:sp>
      <p:sp>
        <p:nvSpPr>
          <p:cNvPr id="14" name="TextBox 13"/>
          <p:cNvSpPr txBox="1"/>
          <p:nvPr/>
        </p:nvSpPr>
        <p:spPr>
          <a:xfrm>
            <a:off x="6400800" y="4709160"/>
            <a:ext cx="5029200" cy="365760"/>
          </a:xfrm>
          <a:prstGeom prst="rect">
            <a:avLst/>
          </a:prstGeom>
          <a:noFill/>
        </p:spPr>
        <p:txBody>
          <a:bodyPr wrap="square">
            <a:spAutoFit/>
          </a:bodyPr>
          <a:lstStyle/>
          <a:p>
            <a:pPr algn="ctr">
              <a:defRPr sz="1200" b="0">
                <a:solidFill>
                  <a:srgbClr val="333333"/>
                </a:solidFill>
                <a:latin typeface="Arial"/>
              </a:defRPr>
            </a:pPr>
            <a:r>
              <a:t>Success Rate</a:t>
            </a:r>
          </a:p>
        </p:txBody>
      </p:sp>
      <p:sp>
        <p:nvSpPr>
          <p:cNvPr id="15" name="Rounded Rectangle 14"/>
          <p:cNvSpPr/>
          <p:nvPr/>
        </p:nvSpPr>
        <p:spPr>
          <a:xfrm>
            <a:off x="731520" y="5303520"/>
            <a:ext cx="10698480" cy="91440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As trust increases and permissions decrease, governance becomes critical infrastructure</a:t>
            </a:r>
          </a:p>
        </p:txBody>
      </p:sp>
      <p:sp>
        <p:nvSpPr>
          <p:cNvPr id="16" name="TextBox 15"/>
          <p:cNvSpPr txBox="1"/>
          <p:nvPr/>
        </p:nvSpPr>
        <p:spPr>
          <a:xfrm>
            <a:off x="3368395" y="6446520"/>
            <a:ext cx="11612880" cy="365760"/>
          </a:xfrm>
          <a:prstGeom prst="rect">
            <a:avLst/>
          </a:prstGeom>
          <a:noFill/>
        </p:spPr>
        <p:txBody>
          <a:bodyPr wrap="none">
            <a:spAutoFit/>
          </a:bodyPr>
          <a:lstStyle/>
          <a:p>
            <a:pPr>
              <a:defRPr sz="900" i="1">
                <a:solidFill>
                  <a:srgbClr val="999999"/>
                </a:solidFill>
              </a:defRPr>
            </a:pPr>
            <a:r>
              <a:rPr dirty="0"/>
              <a:t>Source: Gartner AI Governance Research (2024)</a:t>
            </a:r>
          </a:p>
        </p:txBody>
      </p:sp>
      <p:sp>
        <p:nvSpPr>
          <p:cNvPr id="17" name="TextBox 16"/>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5486400" cy="365760"/>
          </a:xfrm>
          <a:prstGeom prst="rect">
            <a:avLst/>
          </a:prstGeom>
          <a:noFill/>
        </p:spPr>
        <p:txBody>
          <a:bodyPr wrap="square">
            <a:spAutoFit/>
          </a:bodyPr>
          <a:lstStyle/>
          <a:p>
            <a:pPr algn="l">
              <a:defRPr sz="1200" b="1">
                <a:solidFill>
                  <a:srgbClr val="5BC2A7"/>
                </a:solidFill>
                <a:latin typeface="Arial"/>
              </a:defRPr>
            </a:pPr>
            <a:r>
              <a:t>RESEARCH</a:t>
            </a:r>
          </a:p>
        </p:txBody>
      </p:sp>
      <p:sp>
        <p:nvSpPr>
          <p:cNvPr id="4" name="TextBox 3"/>
          <p:cNvSpPr txBox="1"/>
          <p:nvPr/>
        </p:nvSpPr>
        <p:spPr>
          <a:xfrm>
            <a:off x="457200" y="548640"/>
            <a:ext cx="10972800" cy="731520"/>
          </a:xfrm>
          <a:prstGeom prst="rect">
            <a:avLst/>
          </a:prstGeom>
          <a:noFill/>
        </p:spPr>
        <p:txBody>
          <a:bodyPr wrap="square">
            <a:spAutoFit/>
          </a:bodyPr>
          <a:lstStyle/>
          <a:p>
            <a:pPr algn="l">
              <a:defRPr sz="3200" b="1">
                <a:solidFill>
                  <a:srgbClr val="005596"/>
                </a:solidFill>
                <a:latin typeface="Arial"/>
              </a:defRPr>
            </a:pPr>
            <a:r>
              <a:t>Human-in-the-Loop: Even in Autonomous Mode</a:t>
            </a:r>
          </a:p>
        </p:txBody>
      </p:sp>
      <p:sp>
        <p:nvSpPr>
          <p:cNvPr id="5" name="Rounded Rectangle 4"/>
          <p:cNvSpPr/>
          <p:nvPr/>
        </p:nvSpPr>
        <p:spPr>
          <a:xfrm>
            <a:off x="731520" y="1463040"/>
            <a:ext cx="3474720" cy="43891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3474720" cy="457200"/>
          </a:xfrm>
          <a:prstGeom prst="rect">
            <a:avLst/>
          </a:prstGeom>
          <a:noFill/>
        </p:spPr>
        <p:txBody>
          <a:bodyPr wrap="square">
            <a:spAutoFit/>
          </a:bodyPr>
          <a:lstStyle/>
          <a:p>
            <a:pPr algn="ctr">
              <a:defRPr sz="2000" b="1">
                <a:solidFill>
                  <a:srgbClr val="333333"/>
                </a:solidFill>
                <a:latin typeface="Arial"/>
              </a:defRPr>
            </a:pPr>
            <a:r>
              <a:t>Full Manual</a:t>
            </a:r>
          </a:p>
        </p:txBody>
      </p:sp>
      <p:sp>
        <p:nvSpPr>
          <p:cNvPr id="7" name="Oval 6"/>
          <p:cNvSpPr/>
          <p:nvPr/>
        </p:nvSpPr>
        <p:spPr>
          <a:xfrm>
            <a:off x="1554480" y="2286000"/>
            <a:ext cx="1828800" cy="18288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solidFill>
                  <a:srgbClr val="FFFFFF"/>
                </a:solidFill>
                <a:latin typeface="Arial"/>
              </a:defRPr>
            </a:pPr>
            <a:r>
              <a:t>85%</a:t>
            </a:r>
          </a:p>
        </p:txBody>
      </p:sp>
      <p:sp>
        <p:nvSpPr>
          <p:cNvPr id="8" name="TextBox 7"/>
          <p:cNvSpPr txBox="1"/>
          <p:nvPr/>
        </p:nvSpPr>
        <p:spPr>
          <a:xfrm>
            <a:off x="731520" y="4297680"/>
            <a:ext cx="3474720" cy="365760"/>
          </a:xfrm>
          <a:prstGeom prst="rect">
            <a:avLst/>
          </a:prstGeom>
          <a:noFill/>
        </p:spPr>
        <p:txBody>
          <a:bodyPr wrap="square">
            <a:spAutoFit/>
          </a:bodyPr>
          <a:lstStyle/>
          <a:p>
            <a:pPr algn="ctr">
              <a:defRPr sz="1400" b="1">
                <a:solidFill>
                  <a:srgbClr val="999999"/>
                </a:solidFill>
                <a:latin typeface="Arial"/>
              </a:defRPr>
            </a:pPr>
            <a:r>
              <a:t>Stage 1-2</a:t>
            </a:r>
          </a:p>
        </p:txBody>
      </p:sp>
      <p:sp>
        <p:nvSpPr>
          <p:cNvPr id="9" name="TextBox 8"/>
          <p:cNvSpPr txBox="1"/>
          <p:nvPr/>
        </p:nvSpPr>
        <p:spPr>
          <a:xfrm>
            <a:off x="731520" y="4754880"/>
            <a:ext cx="3474720" cy="731520"/>
          </a:xfrm>
          <a:prstGeom prst="rect">
            <a:avLst/>
          </a:prstGeom>
          <a:noFill/>
        </p:spPr>
        <p:txBody>
          <a:bodyPr wrap="square">
            <a:spAutoFit/>
          </a:bodyPr>
          <a:lstStyle/>
          <a:p>
            <a:pPr algn="ctr">
              <a:defRPr sz="1200" b="0">
                <a:solidFill>
                  <a:srgbClr val="333333"/>
                </a:solidFill>
                <a:latin typeface="Arial"/>
              </a:defRPr>
            </a:pPr>
            <a:r>
              <a:t>You do</a:t>
            </a:r>
            <a:br/>
            <a:r>
              <a:t>everything</a:t>
            </a:r>
          </a:p>
        </p:txBody>
      </p:sp>
      <p:sp>
        <p:nvSpPr>
          <p:cNvPr id="10" name="Rounded Rectangle 9"/>
          <p:cNvSpPr/>
          <p:nvPr/>
        </p:nvSpPr>
        <p:spPr>
          <a:xfrm>
            <a:off x="4572000" y="1463040"/>
            <a:ext cx="3474720" cy="43891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645920"/>
            <a:ext cx="3474720" cy="457200"/>
          </a:xfrm>
          <a:prstGeom prst="rect">
            <a:avLst/>
          </a:prstGeom>
          <a:noFill/>
        </p:spPr>
        <p:txBody>
          <a:bodyPr wrap="square">
            <a:spAutoFit/>
          </a:bodyPr>
          <a:lstStyle/>
          <a:p>
            <a:pPr algn="ctr">
              <a:defRPr sz="2000" b="1">
                <a:solidFill>
                  <a:srgbClr val="333333"/>
                </a:solidFill>
                <a:latin typeface="Arial"/>
              </a:defRPr>
            </a:pPr>
            <a:r>
              <a:t>Human + AI</a:t>
            </a:r>
          </a:p>
        </p:txBody>
      </p:sp>
      <p:sp>
        <p:nvSpPr>
          <p:cNvPr id="12" name="Oval 11"/>
          <p:cNvSpPr/>
          <p:nvPr/>
        </p:nvSpPr>
        <p:spPr>
          <a:xfrm>
            <a:off x="5394960" y="2286000"/>
            <a:ext cx="1828800" cy="18288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solidFill>
                  <a:srgbClr val="FFFFFF"/>
                </a:solidFill>
                <a:latin typeface="Arial"/>
              </a:defRPr>
            </a:pPr>
            <a:r>
              <a:t>94%</a:t>
            </a:r>
          </a:p>
        </p:txBody>
      </p:sp>
      <p:sp>
        <p:nvSpPr>
          <p:cNvPr id="13" name="TextBox 12"/>
          <p:cNvSpPr txBox="1"/>
          <p:nvPr/>
        </p:nvSpPr>
        <p:spPr>
          <a:xfrm>
            <a:off x="4572000" y="4297680"/>
            <a:ext cx="3474720" cy="365760"/>
          </a:xfrm>
          <a:prstGeom prst="rect">
            <a:avLst/>
          </a:prstGeom>
          <a:noFill/>
        </p:spPr>
        <p:txBody>
          <a:bodyPr wrap="square">
            <a:spAutoFit/>
          </a:bodyPr>
          <a:lstStyle/>
          <a:p>
            <a:pPr algn="ctr">
              <a:defRPr sz="1400" b="1">
                <a:solidFill>
                  <a:srgbClr val="5BC2A7"/>
                </a:solidFill>
                <a:latin typeface="Arial"/>
              </a:defRPr>
            </a:pPr>
            <a:r>
              <a:t>Stage 5-6</a:t>
            </a:r>
          </a:p>
        </p:txBody>
      </p:sp>
      <p:sp>
        <p:nvSpPr>
          <p:cNvPr id="14" name="TextBox 13"/>
          <p:cNvSpPr txBox="1"/>
          <p:nvPr/>
        </p:nvSpPr>
        <p:spPr>
          <a:xfrm>
            <a:off x="4572000" y="4754880"/>
            <a:ext cx="3474720" cy="731520"/>
          </a:xfrm>
          <a:prstGeom prst="rect">
            <a:avLst/>
          </a:prstGeom>
          <a:noFill/>
        </p:spPr>
        <p:txBody>
          <a:bodyPr wrap="square">
            <a:spAutoFit/>
          </a:bodyPr>
          <a:lstStyle/>
          <a:p>
            <a:pPr algn="ctr">
              <a:defRPr sz="1200" b="0">
                <a:solidFill>
                  <a:srgbClr val="333333"/>
                </a:solidFill>
                <a:latin typeface="Arial"/>
              </a:defRPr>
            </a:pPr>
            <a:r>
              <a:t>You direct,</a:t>
            </a:r>
            <a:br/>
            <a:r>
              <a:t>AI executes</a:t>
            </a:r>
          </a:p>
        </p:txBody>
      </p:sp>
      <p:sp>
        <p:nvSpPr>
          <p:cNvPr id="15" name="Rounded Rectangle 14"/>
          <p:cNvSpPr/>
          <p:nvPr/>
        </p:nvSpPr>
        <p:spPr>
          <a:xfrm>
            <a:off x="8412480" y="1463040"/>
            <a:ext cx="3474720" cy="43891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1645920"/>
            <a:ext cx="3474720" cy="457200"/>
          </a:xfrm>
          <a:prstGeom prst="rect">
            <a:avLst/>
          </a:prstGeom>
          <a:noFill/>
        </p:spPr>
        <p:txBody>
          <a:bodyPr wrap="square">
            <a:spAutoFit/>
          </a:bodyPr>
          <a:lstStyle/>
          <a:p>
            <a:pPr algn="ctr">
              <a:defRPr sz="2000" b="1">
                <a:solidFill>
                  <a:srgbClr val="333333"/>
                </a:solidFill>
                <a:latin typeface="Arial"/>
              </a:defRPr>
            </a:pPr>
            <a:r>
              <a:t>Full Autonomy</a:t>
            </a:r>
          </a:p>
        </p:txBody>
      </p:sp>
      <p:sp>
        <p:nvSpPr>
          <p:cNvPr id="17" name="Oval 16"/>
          <p:cNvSpPr/>
          <p:nvPr/>
        </p:nvSpPr>
        <p:spPr>
          <a:xfrm>
            <a:off x="9235440" y="2286000"/>
            <a:ext cx="1828800" cy="1828800"/>
          </a:xfrm>
          <a:prstGeom prst="ellipse">
            <a:avLst/>
          </a:prstGeom>
          <a:solidFill>
            <a:srgbClr val="C045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solidFill>
                  <a:srgbClr val="FFFFFF"/>
                </a:solidFill>
                <a:latin typeface="Arial"/>
              </a:defRPr>
            </a:pPr>
            <a:r>
              <a:t>73%</a:t>
            </a:r>
          </a:p>
        </p:txBody>
      </p:sp>
      <p:sp>
        <p:nvSpPr>
          <p:cNvPr id="18" name="TextBox 17"/>
          <p:cNvSpPr txBox="1"/>
          <p:nvPr/>
        </p:nvSpPr>
        <p:spPr>
          <a:xfrm>
            <a:off x="8412480" y="4297680"/>
            <a:ext cx="3474720" cy="365760"/>
          </a:xfrm>
          <a:prstGeom prst="rect">
            <a:avLst/>
          </a:prstGeom>
          <a:noFill/>
        </p:spPr>
        <p:txBody>
          <a:bodyPr wrap="square">
            <a:spAutoFit/>
          </a:bodyPr>
          <a:lstStyle/>
          <a:p>
            <a:pPr algn="ctr">
              <a:defRPr sz="1400" b="1">
                <a:solidFill>
                  <a:srgbClr val="C04545"/>
                </a:solidFill>
                <a:latin typeface="Arial"/>
              </a:defRPr>
            </a:pPr>
            <a:r>
              <a:t>Stage 8 risk</a:t>
            </a:r>
          </a:p>
        </p:txBody>
      </p:sp>
      <p:sp>
        <p:nvSpPr>
          <p:cNvPr id="19" name="TextBox 18"/>
          <p:cNvSpPr txBox="1"/>
          <p:nvPr/>
        </p:nvSpPr>
        <p:spPr>
          <a:xfrm>
            <a:off x="8412480" y="4754880"/>
            <a:ext cx="3474720" cy="731520"/>
          </a:xfrm>
          <a:prstGeom prst="rect">
            <a:avLst/>
          </a:prstGeom>
          <a:noFill/>
        </p:spPr>
        <p:txBody>
          <a:bodyPr wrap="square">
            <a:spAutoFit/>
          </a:bodyPr>
          <a:lstStyle/>
          <a:p>
            <a:pPr algn="ctr">
              <a:defRPr sz="1200" b="0">
                <a:solidFill>
                  <a:srgbClr val="333333"/>
                </a:solidFill>
                <a:latin typeface="Arial"/>
              </a:defRPr>
            </a:pPr>
            <a:r>
              <a:t>AI alone,</a:t>
            </a:r>
            <a:br/>
            <a:r>
              <a:t>no oversight</a:t>
            </a:r>
          </a:p>
        </p:txBody>
      </p:sp>
      <p:sp>
        <p:nvSpPr>
          <p:cNvPr id="20" name="Rounded Rectangle 19"/>
          <p:cNvSpPr/>
          <p:nvPr/>
        </p:nvSpPr>
        <p:spPr>
          <a:xfrm>
            <a:off x="731520" y="5943600"/>
            <a:ext cx="10698480" cy="54864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Even with 10+ agents, the operator's judgment remains the quality gate</a:t>
            </a:r>
          </a:p>
        </p:txBody>
      </p:sp>
      <p:sp>
        <p:nvSpPr>
          <p:cNvPr id="21" name="TextBox 20"/>
          <p:cNvSpPr txBox="1"/>
          <p:nvPr/>
        </p:nvSpPr>
        <p:spPr>
          <a:xfrm>
            <a:off x="3383280" y="6467785"/>
            <a:ext cx="11612880" cy="365760"/>
          </a:xfrm>
          <a:prstGeom prst="rect">
            <a:avLst/>
          </a:prstGeom>
          <a:noFill/>
        </p:spPr>
        <p:txBody>
          <a:bodyPr wrap="none">
            <a:spAutoFit/>
          </a:bodyPr>
          <a:lstStyle/>
          <a:p>
            <a:pPr>
              <a:defRPr sz="900" i="1">
                <a:solidFill>
                  <a:srgbClr val="999999"/>
                </a:solidFill>
              </a:defRPr>
            </a:pPr>
            <a:r>
              <a:rPr dirty="0"/>
              <a:t>Source: MIT Sloan Management Review (2024)</a:t>
            </a:r>
          </a:p>
        </p:txBody>
      </p:sp>
      <p:sp>
        <p:nvSpPr>
          <p:cNvPr id="22" name="TextBox 21"/>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914400" y="0"/>
            <a:ext cx="4572000" cy="6858000"/>
          </a:xfrm>
          <a:prstGeom prst="parallelogram">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0"/>
            <a:ext cx="228600" cy="68580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560320"/>
            <a:ext cx="7315200" cy="1371600"/>
          </a:xfrm>
          <a:prstGeom prst="rect">
            <a:avLst/>
          </a:prstGeom>
          <a:noFill/>
        </p:spPr>
        <p:txBody>
          <a:bodyPr wrap="square">
            <a:spAutoFit/>
          </a:bodyPr>
          <a:lstStyle/>
          <a:p>
            <a:pPr algn="l">
              <a:defRPr sz="4400" b="1">
                <a:solidFill>
                  <a:srgbClr val="FFFFFF"/>
                </a:solidFill>
                <a:latin typeface="Arial"/>
              </a:defRPr>
            </a:pPr>
            <a:r>
              <a:t>Making It Real</a:t>
            </a:r>
          </a:p>
        </p:txBody>
      </p:sp>
      <p:sp>
        <p:nvSpPr>
          <p:cNvPr id="5" name="TextBox 4"/>
          <p:cNvSpPr txBox="1"/>
          <p:nvPr/>
        </p:nvSpPr>
        <p:spPr>
          <a:xfrm>
            <a:off x="4114800" y="3931920"/>
            <a:ext cx="7315200" cy="548640"/>
          </a:xfrm>
          <a:prstGeom prst="rect">
            <a:avLst/>
          </a:prstGeom>
          <a:noFill/>
        </p:spPr>
        <p:txBody>
          <a:bodyPr wrap="square">
            <a:spAutoFit/>
          </a:bodyPr>
          <a:lstStyle/>
          <a:p>
            <a:pPr algn="l">
              <a:defRPr sz="2000" b="0">
                <a:solidFill>
                  <a:srgbClr val="5BC2A7"/>
                </a:solidFill>
                <a:latin typeface="Arial"/>
              </a:defRPr>
            </a:pPr>
            <a:r>
              <a:t>From Stage 3 to Stage 8: A practical path</a:t>
            </a:r>
          </a:p>
        </p:txBody>
      </p:sp>
      <p:sp>
        <p:nvSpPr>
          <p:cNvPr id="6" name="TextBox 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5486400" cy="365760"/>
          </a:xfrm>
          <a:prstGeom prst="rect">
            <a:avLst/>
          </a:prstGeom>
          <a:noFill/>
        </p:spPr>
        <p:txBody>
          <a:bodyPr wrap="square">
            <a:spAutoFit/>
          </a:bodyPr>
          <a:lstStyle/>
          <a:p>
            <a:pPr algn="l">
              <a:defRPr sz="1200" b="1">
                <a:solidFill>
                  <a:srgbClr val="5BC2A7"/>
                </a:solidFill>
                <a:latin typeface="Arial"/>
              </a:defRPr>
            </a:pPr>
            <a:r>
              <a:t>RESEARCH</a:t>
            </a:r>
          </a:p>
        </p:txBody>
      </p:sp>
      <p:sp>
        <p:nvSpPr>
          <p:cNvPr id="4" name="TextBox 3"/>
          <p:cNvSpPr txBox="1"/>
          <p:nvPr/>
        </p:nvSpPr>
        <p:spPr>
          <a:xfrm>
            <a:off x="457200" y="548640"/>
            <a:ext cx="10972800" cy="731520"/>
          </a:xfrm>
          <a:prstGeom prst="rect">
            <a:avLst/>
          </a:prstGeom>
          <a:noFill/>
        </p:spPr>
        <p:txBody>
          <a:bodyPr wrap="square">
            <a:spAutoFit/>
          </a:bodyPr>
          <a:lstStyle/>
          <a:p>
            <a:pPr algn="l">
              <a:defRPr sz="3200" b="1">
                <a:solidFill>
                  <a:srgbClr val="005596"/>
                </a:solidFill>
                <a:latin typeface="Arial"/>
              </a:defRPr>
            </a:pPr>
            <a:r>
              <a:t>Why Multi-Agent Autonomy Needs Quality Gates</a:t>
            </a:r>
          </a:p>
        </p:txBody>
      </p:sp>
      <p:sp>
        <p:nvSpPr>
          <p:cNvPr id="5" name="Rectangle 4"/>
          <p:cNvSpPr/>
          <p:nvPr/>
        </p:nvSpPr>
        <p:spPr>
          <a:xfrm>
            <a:off x="914400" y="2414016"/>
            <a:ext cx="1645920" cy="3072384"/>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48256"/>
            <a:ext cx="1645920" cy="365760"/>
          </a:xfrm>
          <a:prstGeom prst="rect">
            <a:avLst/>
          </a:prstGeom>
          <a:noFill/>
        </p:spPr>
        <p:txBody>
          <a:bodyPr wrap="square">
            <a:spAutoFit/>
          </a:bodyPr>
          <a:lstStyle/>
          <a:p>
            <a:pPr algn="ctr">
              <a:defRPr sz="1800" b="1">
                <a:solidFill>
                  <a:srgbClr val="5BC2A7"/>
                </a:solidFill>
                <a:latin typeface="Arial"/>
              </a:defRPr>
            </a:pPr>
            <a:r>
              <a:t>84%</a:t>
            </a:r>
          </a:p>
        </p:txBody>
      </p:sp>
      <p:sp>
        <p:nvSpPr>
          <p:cNvPr id="7" name="TextBox 6"/>
          <p:cNvSpPr txBox="1"/>
          <p:nvPr/>
        </p:nvSpPr>
        <p:spPr>
          <a:xfrm>
            <a:off x="914400" y="5577840"/>
            <a:ext cx="1645920" cy="365760"/>
          </a:xfrm>
          <a:prstGeom prst="rect">
            <a:avLst/>
          </a:prstGeom>
          <a:noFill/>
        </p:spPr>
        <p:txBody>
          <a:bodyPr wrap="square">
            <a:spAutoFit/>
          </a:bodyPr>
          <a:lstStyle/>
          <a:p>
            <a:pPr algn="ctr">
              <a:defRPr sz="1200" b="0">
                <a:solidFill>
                  <a:srgbClr val="333333"/>
                </a:solidFill>
                <a:latin typeface="Arial"/>
              </a:defRPr>
            </a:pPr>
            <a:r>
              <a:t>Agent 1</a:t>
            </a:r>
          </a:p>
        </p:txBody>
      </p:sp>
      <p:sp>
        <p:nvSpPr>
          <p:cNvPr id="8" name="Rectangle 7"/>
          <p:cNvSpPr/>
          <p:nvPr/>
        </p:nvSpPr>
        <p:spPr>
          <a:xfrm>
            <a:off x="3108960" y="2889504"/>
            <a:ext cx="1645920" cy="2596896"/>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108960" y="2523744"/>
            <a:ext cx="1645920" cy="365760"/>
          </a:xfrm>
          <a:prstGeom prst="rect">
            <a:avLst/>
          </a:prstGeom>
          <a:noFill/>
        </p:spPr>
        <p:txBody>
          <a:bodyPr wrap="square">
            <a:spAutoFit/>
          </a:bodyPr>
          <a:lstStyle/>
          <a:p>
            <a:pPr algn="ctr">
              <a:defRPr sz="1800" b="1">
                <a:solidFill>
                  <a:srgbClr val="5BC2A7"/>
                </a:solidFill>
                <a:latin typeface="Arial"/>
              </a:defRPr>
            </a:pPr>
            <a:r>
              <a:t>71%</a:t>
            </a:r>
          </a:p>
        </p:txBody>
      </p:sp>
      <p:sp>
        <p:nvSpPr>
          <p:cNvPr id="10" name="TextBox 9"/>
          <p:cNvSpPr txBox="1"/>
          <p:nvPr/>
        </p:nvSpPr>
        <p:spPr>
          <a:xfrm>
            <a:off x="3108960" y="5577840"/>
            <a:ext cx="1645920" cy="365760"/>
          </a:xfrm>
          <a:prstGeom prst="rect">
            <a:avLst/>
          </a:prstGeom>
          <a:noFill/>
        </p:spPr>
        <p:txBody>
          <a:bodyPr wrap="square">
            <a:spAutoFit/>
          </a:bodyPr>
          <a:lstStyle/>
          <a:p>
            <a:pPr algn="ctr">
              <a:defRPr sz="1200" b="0">
                <a:solidFill>
                  <a:srgbClr val="333333"/>
                </a:solidFill>
                <a:latin typeface="Arial"/>
              </a:defRPr>
            </a:pPr>
            <a:r>
              <a:t>Agent 5</a:t>
            </a:r>
          </a:p>
        </p:txBody>
      </p:sp>
      <p:sp>
        <p:nvSpPr>
          <p:cNvPr id="11" name="Rectangle 10"/>
          <p:cNvSpPr/>
          <p:nvPr/>
        </p:nvSpPr>
        <p:spPr>
          <a:xfrm>
            <a:off x="5303520" y="3950208"/>
            <a:ext cx="1645920" cy="1536192"/>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0" y="3584448"/>
            <a:ext cx="1645920" cy="365760"/>
          </a:xfrm>
          <a:prstGeom prst="rect">
            <a:avLst/>
          </a:prstGeom>
          <a:noFill/>
        </p:spPr>
        <p:txBody>
          <a:bodyPr wrap="square">
            <a:spAutoFit/>
          </a:bodyPr>
          <a:lstStyle/>
          <a:p>
            <a:pPr algn="ctr">
              <a:defRPr sz="1800" b="1">
                <a:solidFill>
                  <a:srgbClr val="F5BB41"/>
                </a:solidFill>
                <a:latin typeface="Arial"/>
              </a:defRPr>
            </a:pPr>
            <a:r>
              <a:t>42%</a:t>
            </a:r>
          </a:p>
        </p:txBody>
      </p:sp>
      <p:sp>
        <p:nvSpPr>
          <p:cNvPr id="13" name="TextBox 12"/>
          <p:cNvSpPr txBox="1"/>
          <p:nvPr/>
        </p:nvSpPr>
        <p:spPr>
          <a:xfrm>
            <a:off x="5303520" y="5577840"/>
            <a:ext cx="1645920" cy="365760"/>
          </a:xfrm>
          <a:prstGeom prst="rect">
            <a:avLst/>
          </a:prstGeom>
          <a:noFill/>
        </p:spPr>
        <p:txBody>
          <a:bodyPr wrap="square">
            <a:spAutoFit/>
          </a:bodyPr>
          <a:lstStyle/>
          <a:p>
            <a:pPr algn="ctr">
              <a:defRPr sz="1200" b="0">
                <a:solidFill>
                  <a:srgbClr val="333333"/>
                </a:solidFill>
                <a:latin typeface="Arial"/>
              </a:defRPr>
            </a:pPr>
            <a:r>
              <a:t>Agent 10</a:t>
            </a:r>
          </a:p>
        </p:txBody>
      </p:sp>
      <p:sp>
        <p:nvSpPr>
          <p:cNvPr id="14" name="Rectangle 13"/>
          <p:cNvSpPr/>
          <p:nvPr/>
        </p:nvSpPr>
        <p:spPr>
          <a:xfrm>
            <a:off x="7498079" y="4828032"/>
            <a:ext cx="1645920" cy="658368"/>
          </a:xfrm>
          <a:prstGeom prst="rect">
            <a:avLst/>
          </a:prstGeom>
          <a:solidFill>
            <a:srgbClr val="C0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4462272"/>
            <a:ext cx="1645920" cy="365760"/>
          </a:xfrm>
          <a:prstGeom prst="rect">
            <a:avLst/>
          </a:prstGeom>
          <a:noFill/>
        </p:spPr>
        <p:txBody>
          <a:bodyPr wrap="square">
            <a:spAutoFit/>
          </a:bodyPr>
          <a:lstStyle/>
          <a:p>
            <a:pPr algn="ctr">
              <a:defRPr sz="1800" b="1">
                <a:solidFill>
                  <a:srgbClr val="C04545"/>
                </a:solidFill>
                <a:latin typeface="Arial"/>
              </a:defRPr>
            </a:pPr>
            <a:r>
              <a:t>18%</a:t>
            </a:r>
          </a:p>
        </p:txBody>
      </p:sp>
      <p:sp>
        <p:nvSpPr>
          <p:cNvPr id="16" name="TextBox 15"/>
          <p:cNvSpPr txBox="1"/>
          <p:nvPr/>
        </p:nvSpPr>
        <p:spPr>
          <a:xfrm>
            <a:off x="7498079" y="5577840"/>
            <a:ext cx="1645920" cy="365760"/>
          </a:xfrm>
          <a:prstGeom prst="rect">
            <a:avLst/>
          </a:prstGeom>
          <a:noFill/>
        </p:spPr>
        <p:txBody>
          <a:bodyPr wrap="square">
            <a:spAutoFit/>
          </a:bodyPr>
          <a:lstStyle/>
          <a:p>
            <a:pPr algn="ctr">
              <a:defRPr sz="1200" b="0">
                <a:solidFill>
                  <a:srgbClr val="333333"/>
                </a:solidFill>
                <a:latin typeface="Arial"/>
              </a:defRPr>
            </a:pPr>
            <a:r>
              <a:t>Agent 15</a:t>
            </a:r>
          </a:p>
        </p:txBody>
      </p:sp>
      <p:sp>
        <p:nvSpPr>
          <p:cNvPr id="17" name="Rectangle 16"/>
          <p:cNvSpPr/>
          <p:nvPr/>
        </p:nvSpPr>
        <p:spPr>
          <a:xfrm>
            <a:off x="9692640" y="5376672"/>
            <a:ext cx="1645920" cy="109728"/>
          </a:xfrm>
          <a:prstGeom prst="rect">
            <a:avLst/>
          </a:prstGeom>
          <a:solidFill>
            <a:srgbClr val="C0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92640" y="5010912"/>
            <a:ext cx="1645920" cy="365760"/>
          </a:xfrm>
          <a:prstGeom prst="rect">
            <a:avLst/>
          </a:prstGeom>
          <a:noFill/>
        </p:spPr>
        <p:txBody>
          <a:bodyPr wrap="square">
            <a:spAutoFit/>
          </a:bodyPr>
          <a:lstStyle/>
          <a:p>
            <a:pPr algn="ctr">
              <a:defRPr sz="1800" b="1">
                <a:solidFill>
                  <a:srgbClr val="C04545"/>
                </a:solidFill>
                <a:latin typeface="Arial"/>
              </a:defRPr>
            </a:pPr>
            <a:r>
              <a:t>3%</a:t>
            </a:r>
          </a:p>
        </p:txBody>
      </p:sp>
      <p:sp>
        <p:nvSpPr>
          <p:cNvPr id="19" name="TextBox 18"/>
          <p:cNvSpPr txBox="1"/>
          <p:nvPr/>
        </p:nvSpPr>
        <p:spPr>
          <a:xfrm>
            <a:off x="9692640" y="5577840"/>
            <a:ext cx="1645920" cy="365760"/>
          </a:xfrm>
          <a:prstGeom prst="rect">
            <a:avLst/>
          </a:prstGeom>
          <a:noFill/>
        </p:spPr>
        <p:txBody>
          <a:bodyPr wrap="square">
            <a:spAutoFit/>
          </a:bodyPr>
          <a:lstStyle/>
          <a:p>
            <a:pPr algn="ctr">
              <a:defRPr sz="1200" b="0">
                <a:solidFill>
                  <a:srgbClr val="333333"/>
                </a:solidFill>
                <a:latin typeface="Arial"/>
              </a:defRPr>
            </a:pPr>
            <a:r>
              <a:t>Agent 20</a:t>
            </a:r>
          </a:p>
        </p:txBody>
      </p:sp>
      <p:sp>
        <p:nvSpPr>
          <p:cNvPr id="20" name="Rounded Rectangle 19"/>
          <p:cNvSpPr/>
          <p:nvPr/>
        </p:nvSpPr>
        <p:spPr>
          <a:xfrm>
            <a:off x="8229600" y="1463040"/>
            <a:ext cx="3474720" cy="21945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80" y="1645920"/>
            <a:ext cx="3108960" cy="365760"/>
          </a:xfrm>
          <a:prstGeom prst="rect">
            <a:avLst/>
          </a:prstGeom>
          <a:noFill/>
        </p:spPr>
        <p:txBody>
          <a:bodyPr wrap="square">
            <a:spAutoFit/>
          </a:bodyPr>
          <a:lstStyle/>
          <a:p>
            <a:pPr algn="ctr">
              <a:defRPr sz="1600" b="1">
                <a:solidFill>
                  <a:srgbClr val="333333"/>
                </a:solidFill>
                <a:latin typeface="Arial"/>
              </a:defRPr>
            </a:pPr>
            <a:r>
              <a:t>The Problem</a:t>
            </a:r>
          </a:p>
        </p:txBody>
      </p:sp>
      <p:sp>
        <p:nvSpPr>
          <p:cNvPr id="22" name="TextBox 21"/>
          <p:cNvSpPr txBox="1"/>
          <p:nvPr/>
        </p:nvSpPr>
        <p:spPr>
          <a:xfrm>
            <a:off x="8412480" y="2103120"/>
            <a:ext cx="3108960" cy="1169551"/>
          </a:xfrm>
          <a:prstGeom prst="rect">
            <a:avLst/>
          </a:prstGeom>
          <a:noFill/>
        </p:spPr>
        <p:txBody>
          <a:bodyPr wrap="square">
            <a:spAutoFit/>
          </a:bodyPr>
          <a:lstStyle/>
          <a:p>
            <a:pPr algn="l">
              <a:defRPr sz="1400" b="0">
                <a:solidFill>
                  <a:srgbClr val="333333"/>
                </a:solidFill>
                <a:latin typeface="Arial"/>
              </a:defRPr>
            </a:pPr>
            <a:r>
              <a:rPr dirty="0"/>
              <a:t>20 agents at </a:t>
            </a:r>
            <a:r>
              <a:rPr lang="en-US" dirty="0"/>
              <a:t>84</a:t>
            </a:r>
            <a:r>
              <a:rPr dirty="0"/>
              <a:t>% each:</a:t>
            </a:r>
            <a:br>
              <a:rPr dirty="0"/>
            </a:br>
            <a:r>
              <a:rPr dirty="0"/>
              <a:t>0.</a:t>
            </a:r>
            <a:r>
              <a:rPr lang="en-US" dirty="0"/>
              <a:t>84</a:t>
            </a:r>
            <a:r>
              <a:rPr dirty="0"/>
              <a:t>^20 = </a:t>
            </a:r>
            <a:r>
              <a:rPr lang="en-US" dirty="0"/>
              <a:t>3</a:t>
            </a:r>
            <a:r>
              <a:rPr dirty="0"/>
              <a:t>%</a:t>
            </a:r>
            <a:br>
              <a:rPr dirty="0"/>
            </a:br>
            <a:br>
              <a:rPr dirty="0"/>
            </a:br>
            <a:r>
              <a:rPr dirty="0"/>
              <a:t>Nearly </a:t>
            </a:r>
            <a:r>
              <a:rPr lang="en-US" dirty="0"/>
              <a:t>all</a:t>
            </a:r>
            <a:r>
              <a:rPr dirty="0"/>
              <a:t> your</a:t>
            </a:r>
            <a:br>
              <a:rPr dirty="0"/>
            </a:br>
            <a:r>
              <a:rPr dirty="0"/>
              <a:t>swarm output fails!</a:t>
            </a:r>
          </a:p>
        </p:txBody>
      </p:sp>
      <p:sp>
        <p:nvSpPr>
          <p:cNvPr id="23" name="Rounded Rectangle 22"/>
          <p:cNvSpPr/>
          <p:nvPr/>
        </p:nvSpPr>
        <p:spPr>
          <a:xfrm>
            <a:off x="731520" y="5943600"/>
            <a:ext cx="10698480" cy="54864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Quality gates between agent stages prevent cascade failures in autonomous mode</a:t>
            </a:r>
          </a:p>
        </p:txBody>
      </p:sp>
      <p:sp>
        <p:nvSpPr>
          <p:cNvPr id="24" name="TextBox 23"/>
          <p:cNvSpPr txBox="1"/>
          <p:nvPr/>
        </p:nvSpPr>
        <p:spPr>
          <a:xfrm>
            <a:off x="3337559" y="6454783"/>
            <a:ext cx="11612880" cy="365760"/>
          </a:xfrm>
          <a:prstGeom prst="rect">
            <a:avLst/>
          </a:prstGeom>
          <a:noFill/>
        </p:spPr>
        <p:txBody>
          <a:bodyPr wrap="none">
            <a:spAutoFit/>
          </a:bodyPr>
          <a:lstStyle/>
          <a:p>
            <a:pPr>
              <a:defRPr sz="900" i="1">
                <a:solidFill>
                  <a:srgbClr val="999999"/>
                </a:solidFill>
              </a:defRPr>
            </a:pPr>
            <a:r>
              <a:rPr dirty="0"/>
              <a:t>Source: Error propagation research applied to multi-agent systems</a:t>
            </a:r>
          </a:p>
        </p:txBody>
      </p:sp>
      <p:sp>
        <p:nvSpPr>
          <p:cNvPr id="25" name="TextBox 24"/>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5486400" cy="365760"/>
          </a:xfrm>
          <a:prstGeom prst="rect">
            <a:avLst/>
          </a:prstGeom>
          <a:noFill/>
        </p:spPr>
        <p:txBody>
          <a:bodyPr wrap="square">
            <a:spAutoFit/>
          </a:bodyPr>
          <a:lstStyle/>
          <a:p>
            <a:pPr algn="l">
              <a:defRPr sz="1200" b="1">
                <a:solidFill>
                  <a:srgbClr val="5BC2A7"/>
                </a:solidFill>
                <a:latin typeface="Arial"/>
              </a:defRPr>
            </a:pPr>
            <a:r>
              <a:t>RESEARCH</a:t>
            </a:r>
          </a:p>
        </p:txBody>
      </p:sp>
      <p:sp>
        <p:nvSpPr>
          <p:cNvPr id="4" name="TextBox 3"/>
          <p:cNvSpPr txBox="1"/>
          <p:nvPr/>
        </p:nvSpPr>
        <p:spPr>
          <a:xfrm>
            <a:off x="457200" y="548640"/>
            <a:ext cx="10972800" cy="584775"/>
          </a:xfrm>
          <a:prstGeom prst="rect">
            <a:avLst/>
          </a:prstGeom>
          <a:noFill/>
        </p:spPr>
        <p:txBody>
          <a:bodyPr wrap="square">
            <a:spAutoFit/>
          </a:bodyPr>
          <a:lstStyle/>
          <a:p>
            <a:pPr algn="l">
              <a:defRPr sz="3200" b="1">
                <a:solidFill>
                  <a:srgbClr val="005596"/>
                </a:solidFill>
                <a:latin typeface="Arial"/>
              </a:defRPr>
            </a:pPr>
            <a:r>
              <a:rPr dirty="0"/>
              <a:t>The Skill Leveling Effect</a:t>
            </a:r>
            <a:r>
              <a:rPr lang="en-US" dirty="0"/>
              <a:t> ( before stage 4 )</a:t>
            </a:r>
            <a:endParaRPr dirty="0"/>
          </a:p>
        </p:txBody>
      </p:sp>
      <p:sp>
        <p:nvSpPr>
          <p:cNvPr id="5" name="TextBox 4"/>
          <p:cNvSpPr txBox="1"/>
          <p:nvPr/>
        </p:nvSpPr>
        <p:spPr>
          <a:xfrm>
            <a:off x="914400" y="1828800"/>
            <a:ext cx="3657600" cy="369332"/>
          </a:xfrm>
          <a:prstGeom prst="rect">
            <a:avLst/>
          </a:prstGeom>
          <a:noFill/>
        </p:spPr>
        <p:txBody>
          <a:bodyPr wrap="square">
            <a:spAutoFit/>
          </a:bodyPr>
          <a:lstStyle/>
          <a:p>
            <a:pPr algn="l">
              <a:defRPr sz="1800" b="1">
                <a:solidFill>
                  <a:srgbClr val="333333"/>
                </a:solidFill>
                <a:latin typeface="Arial"/>
              </a:defRPr>
            </a:pPr>
            <a:r>
              <a:rPr lang="en-US" dirty="0"/>
              <a:t>Junior Skills </a:t>
            </a:r>
            <a:r>
              <a:rPr dirty="0"/>
              <a:t>Users (Learning)</a:t>
            </a:r>
          </a:p>
        </p:txBody>
      </p:sp>
      <p:sp>
        <p:nvSpPr>
          <p:cNvPr id="6" name="Rectangle 5"/>
          <p:cNvSpPr/>
          <p:nvPr/>
        </p:nvSpPr>
        <p:spPr>
          <a:xfrm>
            <a:off x="914400" y="2377440"/>
            <a:ext cx="6400800" cy="128016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651760"/>
            <a:ext cx="6400800" cy="731520"/>
          </a:xfrm>
          <a:prstGeom prst="rect">
            <a:avLst/>
          </a:prstGeom>
          <a:noFill/>
        </p:spPr>
        <p:txBody>
          <a:bodyPr wrap="square">
            <a:spAutoFit/>
          </a:bodyPr>
          <a:lstStyle/>
          <a:p>
            <a:pPr algn="ctr">
              <a:defRPr sz="2800" b="1">
                <a:solidFill>
                  <a:srgbClr val="FFFFFF"/>
                </a:solidFill>
                <a:latin typeface="Arial"/>
              </a:defRPr>
            </a:pPr>
            <a:r>
              <a:t>+35% Productivity Gain</a:t>
            </a:r>
          </a:p>
        </p:txBody>
      </p:sp>
      <p:sp>
        <p:nvSpPr>
          <p:cNvPr id="8" name="TextBox 7"/>
          <p:cNvSpPr txBox="1"/>
          <p:nvPr/>
        </p:nvSpPr>
        <p:spPr>
          <a:xfrm>
            <a:off x="914400" y="4114800"/>
            <a:ext cx="3657600" cy="369332"/>
          </a:xfrm>
          <a:prstGeom prst="rect">
            <a:avLst/>
          </a:prstGeom>
          <a:noFill/>
        </p:spPr>
        <p:txBody>
          <a:bodyPr wrap="square">
            <a:spAutoFit/>
          </a:bodyPr>
          <a:lstStyle/>
          <a:p>
            <a:pPr algn="l">
              <a:defRPr sz="1800" b="1">
                <a:solidFill>
                  <a:srgbClr val="333333"/>
                </a:solidFill>
                <a:latin typeface="Arial"/>
              </a:defRPr>
            </a:pPr>
            <a:r>
              <a:rPr lang="en-US" dirty="0"/>
              <a:t>Expert Users</a:t>
            </a:r>
            <a:endParaRPr dirty="0"/>
          </a:p>
        </p:txBody>
      </p:sp>
      <p:sp>
        <p:nvSpPr>
          <p:cNvPr id="9" name="Rectangle 8"/>
          <p:cNvSpPr/>
          <p:nvPr/>
        </p:nvSpPr>
        <p:spPr>
          <a:xfrm>
            <a:off x="914400" y="4663440"/>
            <a:ext cx="548640" cy="12801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54480" y="4937760"/>
            <a:ext cx="2743200" cy="731520"/>
          </a:xfrm>
          <a:prstGeom prst="rect">
            <a:avLst/>
          </a:prstGeom>
          <a:noFill/>
        </p:spPr>
        <p:txBody>
          <a:bodyPr wrap="square">
            <a:spAutoFit/>
          </a:bodyPr>
          <a:lstStyle/>
          <a:p>
            <a:pPr algn="l">
              <a:defRPr sz="2800" b="1">
                <a:solidFill>
                  <a:srgbClr val="4597D3"/>
                </a:solidFill>
                <a:latin typeface="Arial"/>
              </a:defRPr>
            </a:pPr>
            <a:r>
              <a:t>+3%</a:t>
            </a:r>
          </a:p>
        </p:txBody>
      </p:sp>
      <p:sp>
        <p:nvSpPr>
          <p:cNvPr id="11" name="Rectangle 10"/>
          <p:cNvSpPr/>
          <p:nvPr/>
        </p:nvSpPr>
        <p:spPr>
          <a:xfrm>
            <a:off x="914400" y="6217920"/>
            <a:ext cx="6400800" cy="18288"/>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772400" y="1828800"/>
            <a:ext cx="3931920" cy="36576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55279" y="2011680"/>
            <a:ext cx="3566160" cy="457200"/>
          </a:xfrm>
          <a:prstGeom prst="rect">
            <a:avLst/>
          </a:prstGeom>
          <a:noFill/>
        </p:spPr>
        <p:txBody>
          <a:bodyPr wrap="square">
            <a:spAutoFit/>
          </a:bodyPr>
          <a:lstStyle/>
          <a:p>
            <a:pPr algn="ctr">
              <a:defRPr sz="1600" b="1">
                <a:solidFill>
                  <a:srgbClr val="333333"/>
                </a:solidFill>
                <a:latin typeface="Arial"/>
              </a:defRPr>
            </a:pPr>
            <a:r>
              <a:t>Strategic Insight</a:t>
            </a:r>
          </a:p>
        </p:txBody>
      </p:sp>
      <p:sp>
        <p:nvSpPr>
          <p:cNvPr id="14" name="TextBox 13"/>
          <p:cNvSpPr txBox="1"/>
          <p:nvPr/>
        </p:nvSpPr>
        <p:spPr>
          <a:xfrm>
            <a:off x="7955279" y="2560320"/>
            <a:ext cx="3566160" cy="1292662"/>
          </a:xfrm>
          <a:prstGeom prst="rect">
            <a:avLst/>
          </a:prstGeom>
          <a:noFill/>
        </p:spPr>
        <p:txBody>
          <a:bodyPr wrap="square">
            <a:spAutoFit/>
          </a:bodyPr>
          <a:lstStyle/>
          <a:p>
            <a:pPr algn="l">
              <a:defRPr sz="1300" b="0">
                <a:solidFill>
                  <a:srgbClr val="333333"/>
                </a:solidFill>
                <a:latin typeface="Arial"/>
              </a:defRPr>
            </a:pPr>
            <a:r>
              <a:rPr dirty="0"/>
              <a:t>AI democratizes capability across stages.</a:t>
            </a:r>
            <a:br>
              <a:rPr dirty="0"/>
            </a:br>
            <a:br>
              <a:rPr dirty="0"/>
            </a:br>
            <a:r>
              <a:rPr dirty="0"/>
              <a:t>Those at </a:t>
            </a:r>
            <a:r>
              <a:rPr lang="en-US" dirty="0"/>
              <a:t>early career stages </a:t>
            </a:r>
            <a:r>
              <a:rPr dirty="0"/>
              <a:t>gain the most.</a:t>
            </a:r>
            <a:br>
              <a:rPr dirty="0"/>
            </a:br>
            <a:br>
              <a:rPr dirty="0"/>
            </a:br>
            <a:r>
              <a:rPr dirty="0"/>
              <a:t>Stage 7-8 operators add value through orchestration, not individual output.</a:t>
            </a:r>
          </a:p>
        </p:txBody>
      </p:sp>
      <p:sp>
        <p:nvSpPr>
          <p:cNvPr id="15" name="TextBox 14"/>
          <p:cNvSpPr txBox="1"/>
          <p:nvPr/>
        </p:nvSpPr>
        <p:spPr>
          <a:xfrm>
            <a:off x="274320" y="6400800"/>
            <a:ext cx="11612880" cy="365760"/>
          </a:xfrm>
          <a:prstGeom prst="rect">
            <a:avLst/>
          </a:prstGeom>
          <a:noFill/>
        </p:spPr>
        <p:txBody>
          <a:bodyPr wrap="none">
            <a:spAutoFit/>
          </a:bodyPr>
          <a:lstStyle/>
          <a:p>
            <a:pPr>
              <a:defRPr sz="900" i="1">
                <a:solidFill>
                  <a:srgbClr val="999999"/>
                </a:solidFill>
              </a:defRPr>
            </a:pPr>
            <a:r>
              <a:t>Source: Fortune 500 Enterprise AI Analysis (2024)</a:t>
            </a:r>
          </a:p>
        </p:txBody>
      </p:sp>
      <p:sp>
        <p:nvSpPr>
          <p:cNvPr id="16" name="TextBox 1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Where to Deploy Your Agent Swarm</a:t>
            </a:r>
          </a:p>
        </p:txBody>
      </p:sp>
      <p:sp>
        <p:nvSpPr>
          <p:cNvPr id="4" name="TextBox 3"/>
          <p:cNvSpPr txBox="1"/>
          <p:nvPr/>
        </p:nvSpPr>
        <p:spPr>
          <a:xfrm>
            <a:off x="182880" y="3200400"/>
            <a:ext cx="731520" cy="1371600"/>
          </a:xfrm>
          <a:prstGeom prst="rect">
            <a:avLst/>
          </a:prstGeom>
          <a:noFill/>
        </p:spPr>
        <p:txBody>
          <a:bodyPr wrap="square">
            <a:spAutoFit/>
          </a:bodyPr>
          <a:lstStyle/>
          <a:p>
            <a:pPr algn="ctr">
              <a:defRPr sz="1200" b="1">
                <a:solidFill>
                  <a:srgbClr val="333333"/>
                </a:solidFill>
                <a:latin typeface="Arial"/>
              </a:defRPr>
            </a:pPr>
            <a:r>
              <a:t>Task</a:t>
            </a:r>
            <a:br/>
            <a:r>
              <a:t>Volume</a:t>
            </a:r>
          </a:p>
        </p:txBody>
      </p:sp>
      <p:sp>
        <p:nvSpPr>
          <p:cNvPr id="5" name="TextBox 4"/>
          <p:cNvSpPr txBox="1"/>
          <p:nvPr/>
        </p:nvSpPr>
        <p:spPr>
          <a:xfrm>
            <a:off x="5486400" y="6217920"/>
            <a:ext cx="2286000" cy="457200"/>
          </a:xfrm>
          <a:prstGeom prst="rect">
            <a:avLst/>
          </a:prstGeom>
          <a:noFill/>
        </p:spPr>
        <p:txBody>
          <a:bodyPr wrap="square">
            <a:spAutoFit/>
          </a:bodyPr>
          <a:lstStyle/>
          <a:p>
            <a:pPr algn="ctr">
              <a:defRPr sz="1200" b="1">
                <a:solidFill>
                  <a:srgbClr val="333333"/>
                </a:solidFill>
                <a:latin typeface="Arial"/>
              </a:defRPr>
            </a:pPr>
            <a:r>
              <a:t>Precision Required</a:t>
            </a:r>
          </a:p>
        </p:txBody>
      </p:sp>
      <p:sp>
        <p:nvSpPr>
          <p:cNvPr id="6" name="Rectangle 5"/>
          <p:cNvSpPr/>
          <p:nvPr/>
        </p:nvSpPr>
        <p:spPr>
          <a:xfrm>
            <a:off x="1097280" y="1371600"/>
            <a:ext cx="27432" cy="45720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97280" y="5943600"/>
            <a:ext cx="10058400" cy="27432"/>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26480" y="1371600"/>
            <a:ext cx="18288" cy="4572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3657600"/>
            <a:ext cx="10058400" cy="182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371600" y="1554480"/>
            <a:ext cx="4389120" cy="18288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FULL AUTONOMY</a:t>
            </a:r>
            <a:br/>
            <a:r>
              <a:t>Stages 7-8</a:t>
            </a:r>
            <a:br/>
            <a:r>
              <a:t>Maximum agent independence</a:t>
            </a:r>
          </a:p>
        </p:txBody>
      </p:sp>
      <p:sp>
        <p:nvSpPr>
          <p:cNvPr id="11" name="Rounded Rectangle 10"/>
          <p:cNvSpPr/>
          <p:nvPr/>
        </p:nvSpPr>
        <p:spPr>
          <a:xfrm>
            <a:off x="6400800" y="1554480"/>
            <a:ext cx="4389120" cy="18288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DIRECTED AUTONOMY</a:t>
            </a:r>
            <a:br/>
            <a:r>
              <a:t>Stages 5-6</a:t>
            </a:r>
            <a:br/>
            <a:r>
              <a:t>Human oversight at key gates</a:t>
            </a:r>
          </a:p>
        </p:txBody>
      </p:sp>
      <p:sp>
        <p:nvSpPr>
          <p:cNvPr id="12" name="Rounded Rectangle 11"/>
          <p:cNvSpPr/>
          <p:nvPr/>
        </p:nvSpPr>
        <p:spPr>
          <a:xfrm>
            <a:off x="1371600" y="3931920"/>
            <a:ext cx="4389120" cy="182880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SUPERVISED AGENTS</a:t>
            </a:r>
            <a:br/>
            <a:r>
              <a:t>Stages 3-4</a:t>
            </a:r>
            <a:br/>
            <a:r>
              <a:t>Agent drafts, human reviews</a:t>
            </a:r>
          </a:p>
        </p:txBody>
      </p:sp>
      <p:sp>
        <p:nvSpPr>
          <p:cNvPr id="13" name="Rounded Rectangle 12"/>
          <p:cNvSpPr/>
          <p:nvPr/>
        </p:nvSpPr>
        <p:spPr>
          <a:xfrm>
            <a:off x="6400800" y="3931920"/>
            <a:ext cx="4389120" cy="1828800"/>
          </a:xfrm>
          <a:prstGeom prst="round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HUMAN-LED</a:t>
            </a:r>
            <a:br/>
            <a:r>
              <a:t>Stages 1-2</a:t>
            </a:r>
            <a:br/>
            <a:r>
              <a:t>AI as tool only</a:t>
            </a:r>
          </a:p>
        </p:txBody>
      </p:sp>
      <p:sp>
        <p:nvSpPr>
          <p:cNvPr id="14" name="TextBox 13"/>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4572000" cy="457200"/>
          </a:xfrm>
          <a:prstGeom prst="rect">
            <a:avLst/>
          </a:prstGeom>
          <a:noFill/>
        </p:spPr>
        <p:txBody>
          <a:bodyPr wrap="square">
            <a:spAutoFit/>
          </a:bodyPr>
          <a:lstStyle/>
          <a:p>
            <a:pPr algn="l">
              <a:defRPr sz="1400" b="1">
                <a:solidFill>
                  <a:srgbClr val="5BC2A7"/>
                </a:solidFill>
                <a:latin typeface="Arial"/>
              </a:defRPr>
            </a:pPr>
            <a:r>
              <a:t>OBJECT LESSON</a:t>
            </a:r>
          </a:p>
        </p:txBody>
      </p:sp>
      <p:sp>
        <p:nvSpPr>
          <p:cNvPr id="3" name="TextBox 2"/>
          <p:cNvSpPr txBox="1"/>
          <p:nvPr/>
        </p:nvSpPr>
        <p:spPr>
          <a:xfrm>
            <a:off x="457200" y="822960"/>
            <a:ext cx="10972800" cy="822960"/>
          </a:xfrm>
          <a:prstGeom prst="rect">
            <a:avLst/>
          </a:prstGeom>
          <a:noFill/>
        </p:spPr>
        <p:txBody>
          <a:bodyPr wrap="square">
            <a:spAutoFit/>
          </a:bodyPr>
          <a:lstStyle/>
          <a:p>
            <a:pPr algn="l">
              <a:defRPr sz="3600" b="1">
                <a:solidFill>
                  <a:srgbClr val="FFFFFF"/>
                </a:solidFill>
                <a:latin typeface="Arial"/>
              </a:defRPr>
            </a:pPr>
            <a:r>
              <a:t>From Stage 3 to Stage 7: A Developer's Journey</a:t>
            </a:r>
          </a:p>
        </p:txBody>
      </p:sp>
      <p:sp>
        <p:nvSpPr>
          <p:cNvPr id="4" name="Rounded Rectangle 3"/>
          <p:cNvSpPr/>
          <p:nvPr/>
        </p:nvSpPr>
        <p:spPr>
          <a:xfrm>
            <a:off x="731520" y="2011680"/>
            <a:ext cx="347472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94560"/>
            <a:ext cx="3474720" cy="457200"/>
          </a:xfrm>
          <a:prstGeom prst="rect">
            <a:avLst/>
          </a:prstGeom>
          <a:noFill/>
        </p:spPr>
        <p:txBody>
          <a:bodyPr wrap="square">
            <a:spAutoFit/>
          </a:bodyPr>
          <a:lstStyle/>
          <a:p>
            <a:pPr algn="ctr">
              <a:defRPr sz="1400" b="1">
                <a:solidFill>
                  <a:srgbClr val="005596"/>
                </a:solidFill>
                <a:latin typeface="Arial"/>
              </a:defRPr>
            </a:pPr>
            <a:r>
              <a:t>Stage 3</a:t>
            </a:r>
          </a:p>
        </p:txBody>
      </p:sp>
      <p:sp>
        <p:nvSpPr>
          <p:cNvPr id="6" name="TextBox 5"/>
          <p:cNvSpPr txBox="1"/>
          <p:nvPr/>
        </p:nvSpPr>
        <p:spPr>
          <a:xfrm>
            <a:off x="731520" y="2651760"/>
            <a:ext cx="3474720" cy="548640"/>
          </a:xfrm>
          <a:prstGeom prst="rect">
            <a:avLst/>
          </a:prstGeom>
          <a:noFill/>
        </p:spPr>
        <p:txBody>
          <a:bodyPr wrap="square">
            <a:spAutoFit/>
          </a:bodyPr>
          <a:lstStyle/>
          <a:p>
            <a:pPr algn="ctr">
              <a:defRPr sz="2000" b="1">
                <a:solidFill>
                  <a:srgbClr val="333333"/>
                </a:solidFill>
                <a:latin typeface="Arial"/>
              </a:defRPr>
            </a:pPr>
            <a:r>
              <a:t>Autonomous IDE</a:t>
            </a:r>
          </a:p>
        </p:txBody>
      </p:sp>
      <p:sp>
        <p:nvSpPr>
          <p:cNvPr id="7" name="TextBox 6"/>
          <p:cNvSpPr txBox="1"/>
          <p:nvPr/>
        </p:nvSpPr>
        <p:spPr>
          <a:xfrm>
            <a:off x="731520" y="3291840"/>
            <a:ext cx="3474720" cy="1097280"/>
          </a:xfrm>
          <a:prstGeom prst="rect">
            <a:avLst/>
          </a:prstGeom>
          <a:noFill/>
        </p:spPr>
        <p:txBody>
          <a:bodyPr wrap="square">
            <a:spAutoFit/>
          </a:bodyPr>
          <a:lstStyle/>
          <a:p>
            <a:pPr algn="ctr">
              <a:defRPr sz="1400" b="0">
                <a:solidFill>
                  <a:srgbClr val="333333"/>
                </a:solidFill>
                <a:latin typeface="Arial"/>
              </a:defRPr>
            </a:pPr>
            <a:r>
              <a:t>Permission off</a:t>
            </a:r>
            <a:br/>
            <a:r>
              <a:t>Review diffs</a:t>
            </a:r>
          </a:p>
        </p:txBody>
      </p:sp>
      <p:sp>
        <p:nvSpPr>
          <p:cNvPr id="8" name="Right Arrow 7"/>
          <p:cNvSpPr/>
          <p:nvPr/>
        </p:nvSpPr>
        <p:spPr>
          <a:xfrm>
            <a:off x="4297680" y="3108960"/>
            <a:ext cx="228600" cy="365760"/>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72000" y="2011680"/>
            <a:ext cx="347472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2194560"/>
            <a:ext cx="3474720" cy="457200"/>
          </a:xfrm>
          <a:prstGeom prst="rect">
            <a:avLst/>
          </a:prstGeom>
          <a:noFill/>
        </p:spPr>
        <p:txBody>
          <a:bodyPr wrap="square">
            <a:spAutoFit/>
          </a:bodyPr>
          <a:lstStyle/>
          <a:p>
            <a:pPr algn="ctr">
              <a:defRPr sz="1400" b="1">
                <a:solidFill>
                  <a:srgbClr val="005596"/>
                </a:solidFill>
                <a:latin typeface="Arial"/>
              </a:defRPr>
            </a:pPr>
            <a:r>
              <a:t>Stage 5</a:t>
            </a:r>
          </a:p>
        </p:txBody>
      </p:sp>
      <p:sp>
        <p:nvSpPr>
          <p:cNvPr id="11" name="TextBox 10"/>
          <p:cNvSpPr txBox="1"/>
          <p:nvPr/>
        </p:nvSpPr>
        <p:spPr>
          <a:xfrm>
            <a:off x="4572000" y="2651760"/>
            <a:ext cx="3474720" cy="548640"/>
          </a:xfrm>
          <a:prstGeom prst="rect">
            <a:avLst/>
          </a:prstGeom>
          <a:noFill/>
        </p:spPr>
        <p:txBody>
          <a:bodyPr wrap="square">
            <a:spAutoFit/>
          </a:bodyPr>
          <a:lstStyle/>
          <a:p>
            <a:pPr algn="ctr">
              <a:defRPr sz="2000" b="1">
                <a:solidFill>
                  <a:srgbClr val="333333"/>
                </a:solidFill>
                <a:latin typeface="Arial"/>
              </a:defRPr>
            </a:pPr>
            <a:r>
              <a:t>CLI Agent</a:t>
            </a:r>
          </a:p>
        </p:txBody>
      </p:sp>
      <p:sp>
        <p:nvSpPr>
          <p:cNvPr id="12" name="TextBox 11"/>
          <p:cNvSpPr txBox="1"/>
          <p:nvPr/>
        </p:nvSpPr>
        <p:spPr>
          <a:xfrm>
            <a:off x="4572000" y="3291840"/>
            <a:ext cx="3474720" cy="1097280"/>
          </a:xfrm>
          <a:prstGeom prst="rect">
            <a:avLst/>
          </a:prstGeom>
          <a:noFill/>
        </p:spPr>
        <p:txBody>
          <a:bodyPr wrap="square">
            <a:spAutoFit/>
          </a:bodyPr>
          <a:lstStyle/>
          <a:p>
            <a:pPr algn="ctr">
              <a:defRPr sz="1400" b="0">
                <a:solidFill>
                  <a:srgbClr val="333333"/>
                </a:solidFill>
                <a:latin typeface="Arial"/>
              </a:defRPr>
            </a:pPr>
            <a:r>
              <a:t>Faster cycles</a:t>
            </a:r>
            <a:br/>
            <a:r>
              <a:t>Multiple tasks</a:t>
            </a:r>
          </a:p>
        </p:txBody>
      </p:sp>
      <p:sp>
        <p:nvSpPr>
          <p:cNvPr id="13" name="Right Arrow 12"/>
          <p:cNvSpPr/>
          <p:nvPr/>
        </p:nvSpPr>
        <p:spPr>
          <a:xfrm>
            <a:off x="8138160" y="3108960"/>
            <a:ext cx="228600" cy="365760"/>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412480" y="2011680"/>
            <a:ext cx="347472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0" y="2194560"/>
            <a:ext cx="3474720" cy="457200"/>
          </a:xfrm>
          <a:prstGeom prst="rect">
            <a:avLst/>
          </a:prstGeom>
          <a:noFill/>
        </p:spPr>
        <p:txBody>
          <a:bodyPr wrap="square">
            <a:spAutoFit/>
          </a:bodyPr>
          <a:lstStyle/>
          <a:p>
            <a:pPr algn="ctr">
              <a:defRPr sz="1400" b="1">
                <a:solidFill>
                  <a:srgbClr val="005596"/>
                </a:solidFill>
                <a:latin typeface="Arial"/>
              </a:defRPr>
            </a:pPr>
            <a:r>
              <a:t>Stage 7</a:t>
            </a:r>
          </a:p>
        </p:txBody>
      </p:sp>
      <p:sp>
        <p:nvSpPr>
          <p:cNvPr id="16" name="TextBox 15"/>
          <p:cNvSpPr txBox="1"/>
          <p:nvPr/>
        </p:nvSpPr>
        <p:spPr>
          <a:xfrm>
            <a:off x="8412480" y="2651760"/>
            <a:ext cx="3474720" cy="548640"/>
          </a:xfrm>
          <a:prstGeom prst="rect">
            <a:avLst/>
          </a:prstGeom>
          <a:noFill/>
        </p:spPr>
        <p:txBody>
          <a:bodyPr wrap="square">
            <a:spAutoFit/>
          </a:bodyPr>
          <a:lstStyle/>
          <a:p>
            <a:pPr algn="ctr">
              <a:defRPr sz="2000" b="1">
                <a:solidFill>
                  <a:srgbClr val="333333"/>
                </a:solidFill>
                <a:latin typeface="Arial"/>
              </a:defRPr>
            </a:pPr>
            <a:r>
              <a:t>10+ Agents</a:t>
            </a:r>
          </a:p>
        </p:txBody>
      </p:sp>
      <p:sp>
        <p:nvSpPr>
          <p:cNvPr id="17" name="TextBox 16"/>
          <p:cNvSpPr txBox="1"/>
          <p:nvPr/>
        </p:nvSpPr>
        <p:spPr>
          <a:xfrm>
            <a:off x="8412480" y="3291840"/>
            <a:ext cx="3474720" cy="1097280"/>
          </a:xfrm>
          <a:prstGeom prst="rect">
            <a:avLst/>
          </a:prstGeom>
          <a:noFill/>
        </p:spPr>
        <p:txBody>
          <a:bodyPr wrap="square">
            <a:spAutoFit/>
          </a:bodyPr>
          <a:lstStyle/>
          <a:p>
            <a:pPr algn="ctr">
              <a:defRPr sz="1400" b="0">
                <a:solidFill>
                  <a:srgbClr val="333333"/>
                </a:solidFill>
                <a:latin typeface="Arial"/>
              </a:defRPr>
            </a:pPr>
            <a:r>
              <a:t>Orchestration</a:t>
            </a:r>
            <a:br/>
            <a:r>
              <a:t>Quality gates</a:t>
            </a:r>
          </a:p>
        </p:txBody>
      </p:sp>
      <p:sp>
        <p:nvSpPr>
          <p:cNvPr id="18" name="Rectangle 17"/>
          <p:cNvSpPr/>
          <p:nvPr/>
        </p:nvSpPr>
        <p:spPr>
          <a:xfrm>
            <a:off x="274320" y="5029200"/>
            <a:ext cx="11612880" cy="164592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5166360"/>
            <a:ext cx="2903220" cy="640080"/>
          </a:xfrm>
          <a:prstGeom prst="rect">
            <a:avLst/>
          </a:prstGeom>
          <a:noFill/>
        </p:spPr>
        <p:txBody>
          <a:bodyPr wrap="square">
            <a:spAutoFit/>
          </a:bodyPr>
          <a:lstStyle/>
          <a:p>
            <a:pPr algn="ctr">
              <a:defRPr sz="2800" b="1">
                <a:solidFill>
                  <a:srgbClr val="FFFFFF"/>
                </a:solidFill>
                <a:latin typeface="Arial"/>
              </a:defRPr>
            </a:pPr>
            <a:r>
              <a:t>26%</a:t>
            </a:r>
          </a:p>
        </p:txBody>
      </p:sp>
      <p:sp>
        <p:nvSpPr>
          <p:cNvPr id="20" name="TextBox 19"/>
          <p:cNvSpPr txBox="1"/>
          <p:nvPr/>
        </p:nvSpPr>
        <p:spPr>
          <a:xfrm>
            <a:off x="274320" y="5715000"/>
            <a:ext cx="2903220" cy="457200"/>
          </a:xfrm>
          <a:prstGeom prst="rect">
            <a:avLst/>
          </a:prstGeom>
          <a:noFill/>
        </p:spPr>
        <p:txBody>
          <a:bodyPr wrap="square">
            <a:spAutoFit/>
          </a:bodyPr>
          <a:lstStyle/>
          <a:p>
            <a:pPr algn="ctr">
              <a:defRPr sz="1200" b="0">
                <a:solidFill>
                  <a:srgbClr val="FFFFFF"/>
                </a:solidFill>
                <a:latin typeface="Arial"/>
              </a:defRPr>
            </a:pPr>
            <a:r>
              <a:t>Faster at Stage 3</a:t>
            </a:r>
          </a:p>
        </p:txBody>
      </p:sp>
      <p:sp>
        <p:nvSpPr>
          <p:cNvPr id="21" name="TextBox 20"/>
          <p:cNvSpPr txBox="1"/>
          <p:nvPr/>
        </p:nvSpPr>
        <p:spPr>
          <a:xfrm>
            <a:off x="3177540" y="5166360"/>
            <a:ext cx="2903220" cy="640080"/>
          </a:xfrm>
          <a:prstGeom prst="rect">
            <a:avLst/>
          </a:prstGeom>
          <a:noFill/>
        </p:spPr>
        <p:txBody>
          <a:bodyPr wrap="square">
            <a:spAutoFit/>
          </a:bodyPr>
          <a:lstStyle/>
          <a:p>
            <a:pPr algn="ctr">
              <a:defRPr sz="2800" b="1">
                <a:solidFill>
                  <a:srgbClr val="FFFFFF"/>
                </a:solidFill>
                <a:latin typeface="Arial"/>
              </a:defRPr>
            </a:pPr>
            <a:r>
              <a:t>3-5x</a:t>
            </a:r>
          </a:p>
        </p:txBody>
      </p:sp>
      <p:sp>
        <p:nvSpPr>
          <p:cNvPr id="22" name="TextBox 21"/>
          <p:cNvSpPr txBox="1"/>
          <p:nvPr/>
        </p:nvSpPr>
        <p:spPr>
          <a:xfrm>
            <a:off x="3177540" y="5715000"/>
            <a:ext cx="2903220" cy="457200"/>
          </a:xfrm>
          <a:prstGeom prst="rect">
            <a:avLst/>
          </a:prstGeom>
          <a:noFill/>
        </p:spPr>
        <p:txBody>
          <a:bodyPr wrap="square">
            <a:spAutoFit/>
          </a:bodyPr>
          <a:lstStyle/>
          <a:p>
            <a:pPr algn="ctr">
              <a:defRPr sz="1200" b="0">
                <a:solidFill>
                  <a:srgbClr val="FFFFFF"/>
                </a:solidFill>
                <a:latin typeface="Arial"/>
              </a:defRPr>
            </a:pPr>
            <a:r>
              <a:t>Parallel at Stage 5</a:t>
            </a:r>
          </a:p>
        </p:txBody>
      </p:sp>
      <p:sp>
        <p:nvSpPr>
          <p:cNvPr id="23" name="TextBox 22"/>
          <p:cNvSpPr txBox="1"/>
          <p:nvPr/>
        </p:nvSpPr>
        <p:spPr>
          <a:xfrm>
            <a:off x="6080760" y="5166360"/>
            <a:ext cx="2903220" cy="640080"/>
          </a:xfrm>
          <a:prstGeom prst="rect">
            <a:avLst/>
          </a:prstGeom>
          <a:noFill/>
        </p:spPr>
        <p:txBody>
          <a:bodyPr wrap="square">
            <a:spAutoFit/>
          </a:bodyPr>
          <a:lstStyle/>
          <a:p>
            <a:pPr algn="ctr">
              <a:defRPr sz="2800" b="1">
                <a:solidFill>
                  <a:srgbClr val="FFFFFF"/>
                </a:solidFill>
                <a:latin typeface="Arial"/>
              </a:defRPr>
            </a:pPr>
            <a:r>
              <a:t>10+</a:t>
            </a:r>
          </a:p>
        </p:txBody>
      </p:sp>
      <p:sp>
        <p:nvSpPr>
          <p:cNvPr id="24" name="TextBox 23"/>
          <p:cNvSpPr txBox="1"/>
          <p:nvPr/>
        </p:nvSpPr>
        <p:spPr>
          <a:xfrm>
            <a:off x="6080760" y="5715000"/>
            <a:ext cx="2903220" cy="457200"/>
          </a:xfrm>
          <a:prstGeom prst="rect">
            <a:avLst/>
          </a:prstGeom>
          <a:noFill/>
        </p:spPr>
        <p:txBody>
          <a:bodyPr wrap="square">
            <a:spAutoFit/>
          </a:bodyPr>
          <a:lstStyle/>
          <a:p>
            <a:pPr algn="ctr">
              <a:defRPr sz="1200" b="0">
                <a:solidFill>
                  <a:srgbClr val="FFFFFF"/>
                </a:solidFill>
                <a:latin typeface="Arial"/>
              </a:defRPr>
            </a:pPr>
            <a:r>
              <a:t>Agents at Stage 7</a:t>
            </a:r>
          </a:p>
        </p:txBody>
      </p:sp>
      <p:sp>
        <p:nvSpPr>
          <p:cNvPr id="25" name="TextBox 24"/>
          <p:cNvSpPr txBox="1"/>
          <p:nvPr/>
        </p:nvSpPr>
        <p:spPr>
          <a:xfrm>
            <a:off x="8983980" y="5166360"/>
            <a:ext cx="2903220" cy="640080"/>
          </a:xfrm>
          <a:prstGeom prst="rect">
            <a:avLst/>
          </a:prstGeom>
          <a:noFill/>
        </p:spPr>
        <p:txBody>
          <a:bodyPr wrap="square">
            <a:spAutoFit/>
          </a:bodyPr>
          <a:lstStyle/>
          <a:p>
            <a:pPr algn="ctr">
              <a:defRPr sz="2800" b="1">
                <a:solidFill>
                  <a:srgbClr val="FFFFFF"/>
                </a:solidFill>
                <a:latin typeface="Arial"/>
              </a:defRPr>
            </a:pPr>
            <a:r>
              <a:t>∞</a:t>
            </a:r>
          </a:p>
        </p:txBody>
      </p:sp>
      <p:sp>
        <p:nvSpPr>
          <p:cNvPr id="26" name="TextBox 25"/>
          <p:cNvSpPr txBox="1"/>
          <p:nvPr/>
        </p:nvSpPr>
        <p:spPr>
          <a:xfrm>
            <a:off x="8983980" y="5715000"/>
            <a:ext cx="2903220" cy="457200"/>
          </a:xfrm>
          <a:prstGeom prst="rect">
            <a:avLst/>
          </a:prstGeom>
          <a:noFill/>
        </p:spPr>
        <p:txBody>
          <a:bodyPr wrap="square">
            <a:spAutoFit/>
          </a:bodyPr>
          <a:lstStyle/>
          <a:p>
            <a:pPr algn="ctr">
              <a:defRPr sz="1200" b="0">
                <a:solidFill>
                  <a:srgbClr val="FFFFFF"/>
                </a:solidFill>
                <a:latin typeface="Arial"/>
              </a:defRPr>
            </a:pPr>
            <a:r>
              <a:t>Potential</a:t>
            </a:r>
          </a:p>
        </p:txBody>
      </p:sp>
      <p:sp>
        <p:nvSpPr>
          <p:cNvPr id="27" name="TextBox 26"/>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914400" y="0"/>
            <a:ext cx="4572000" cy="6858000"/>
          </a:xfrm>
          <a:prstGeom prst="parallelogram">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0"/>
            <a:ext cx="228600" cy="68580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560320"/>
            <a:ext cx="7315200" cy="1371600"/>
          </a:xfrm>
          <a:prstGeom prst="rect">
            <a:avLst/>
          </a:prstGeom>
          <a:noFill/>
        </p:spPr>
        <p:txBody>
          <a:bodyPr wrap="square">
            <a:spAutoFit/>
          </a:bodyPr>
          <a:lstStyle/>
          <a:p>
            <a:pPr algn="l">
              <a:defRPr sz="4400" b="1">
                <a:solidFill>
                  <a:srgbClr val="FFFFFF"/>
                </a:solidFill>
                <a:latin typeface="Arial"/>
              </a:defRPr>
            </a:pPr>
            <a:r>
              <a:t>The Adoption Path</a:t>
            </a:r>
          </a:p>
        </p:txBody>
      </p:sp>
      <p:sp>
        <p:nvSpPr>
          <p:cNvPr id="5" name="TextBox 4"/>
          <p:cNvSpPr txBox="1"/>
          <p:nvPr/>
        </p:nvSpPr>
        <p:spPr>
          <a:xfrm>
            <a:off x="4114800" y="3931920"/>
            <a:ext cx="7315200" cy="548640"/>
          </a:xfrm>
          <a:prstGeom prst="rect">
            <a:avLst/>
          </a:prstGeom>
          <a:noFill/>
        </p:spPr>
        <p:txBody>
          <a:bodyPr wrap="square">
            <a:spAutoFit/>
          </a:bodyPr>
          <a:lstStyle/>
          <a:p>
            <a:pPr algn="l">
              <a:defRPr sz="2000" b="0">
                <a:solidFill>
                  <a:srgbClr val="5BC2A7"/>
                </a:solidFill>
                <a:latin typeface="Arial"/>
              </a:defRPr>
            </a:pPr>
            <a:r>
              <a:t>Climbing the trust ladder systematically</a:t>
            </a:r>
          </a:p>
        </p:txBody>
      </p:sp>
      <p:sp>
        <p:nvSpPr>
          <p:cNvPr id="6" name="TextBox 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200" b="1">
                <a:solidFill>
                  <a:srgbClr val="005596"/>
                </a:solidFill>
                <a:latin typeface="Arial"/>
              </a:defRPr>
            </a:pPr>
            <a:r>
              <a:t>Enterprise AI Maturity (Mapped to Evolution)</a:t>
            </a:r>
          </a:p>
        </p:txBody>
      </p:sp>
      <p:sp>
        <p:nvSpPr>
          <p:cNvPr id="4" name="Rectangle 3"/>
          <p:cNvSpPr/>
          <p:nvPr/>
        </p:nvSpPr>
        <p:spPr>
          <a:xfrm>
            <a:off x="731520" y="4206240"/>
            <a:ext cx="2651760" cy="146304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297680"/>
            <a:ext cx="2468880" cy="457200"/>
          </a:xfrm>
          <a:prstGeom prst="rect">
            <a:avLst/>
          </a:prstGeom>
          <a:noFill/>
        </p:spPr>
        <p:txBody>
          <a:bodyPr wrap="square">
            <a:spAutoFit/>
          </a:bodyPr>
          <a:lstStyle/>
          <a:p>
            <a:pPr algn="l">
              <a:defRPr sz="1600" b="1">
                <a:solidFill>
                  <a:srgbClr val="FFFFFF"/>
                </a:solidFill>
                <a:latin typeface="Arial"/>
              </a:defRPr>
            </a:pPr>
            <a:r>
              <a:t>Ad-Hoc</a:t>
            </a:r>
          </a:p>
        </p:txBody>
      </p:sp>
      <p:sp>
        <p:nvSpPr>
          <p:cNvPr id="6" name="Rounded Rectangle 5"/>
          <p:cNvSpPr/>
          <p:nvPr/>
        </p:nvSpPr>
        <p:spPr>
          <a:xfrm>
            <a:off x="1417320" y="4709160"/>
            <a:ext cx="1280160"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999999"/>
                </a:solidFill>
                <a:latin typeface="Arial"/>
              </a:defRPr>
            </a:pPr>
            <a:r>
              <a:t>Stages 1-2</a:t>
            </a:r>
          </a:p>
        </p:txBody>
      </p:sp>
      <p:sp>
        <p:nvSpPr>
          <p:cNvPr id="7" name="TextBox 6"/>
          <p:cNvSpPr txBox="1"/>
          <p:nvPr/>
        </p:nvSpPr>
        <p:spPr>
          <a:xfrm>
            <a:off x="822960" y="5120640"/>
            <a:ext cx="2468880" cy="1097280"/>
          </a:xfrm>
          <a:prstGeom prst="rect">
            <a:avLst/>
          </a:prstGeom>
          <a:noFill/>
        </p:spPr>
        <p:txBody>
          <a:bodyPr wrap="square">
            <a:spAutoFit/>
          </a:bodyPr>
          <a:lstStyle/>
          <a:p>
            <a:pPr algn="l">
              <a:defRPr sz="1000" b="0">
                <a:solidFill>
                  <a:srgbClr val="FFFFFF"/>
                </a:solidFill>
                <a:latin typeface="Arial"/>
              </a:defRPr>
            </a:pPr>
            <a:r>
              <a:t>Individual experiments</a:t>
            </a:r>
            <a:br/>
            <a:r>
              <a:t>No governance</a:t>
            </a:r>
          </a:p>
        </p:txBody>
      </p:sp>
      <p:sp>
        <p:nvSpPr>
          <p:cNvPr id="8" name="Rectangle 7"/>
          <p:cNvSpPr/>
          <p:nvPr/>
        </p:nvSpPr>
        <p:spPr>
          <a:xfrm>
            <a:off x="3566160" y="3474720"/>
            <a:ext cx="2651760" cy="21945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0" y="3566160"/>
            <a:ext cx="2468880" cy="457200"/>
          </a:xfrm>
          <a:prstGeom prst="rect">
            <a:avLst/>
          </a:prstGeom>
          <a:noFill/>
        </p:spPr>
        <p:txBody>
          <a:bodyPr wrap="square">
            <a:spAutoFit/>
          </a:bodyPr>
          <a:lstStyle/>
          <a:p>
            <a:pPr algn="l">
              <a:defRPr sz="1600" b="1">
                <a:solidFill>
                  <a:srgbClr val="FFFFFF"/>
                </a:solidFill>
                <a:latin typeface="Arial"/>
              </a:defRPr>
            </a:pPr>
            <a:r>
              <a:t>Experimental</a:t>
            </a:r>
          </a:p>
        </p:txBody>
      </p:sp>
      <p:sp>
        <p:nvSpPr>
          <p:cNvPr id="10" name="Rounded Rectangle 9"/>
          <p:cNvSpPr/>
          <p:nvPr/>
        </p:nvSpPr>
        <p:spPr>
          <a:xfrm>
            <a:off x="4251960" y="3977640"/>
            <a:ext cx="1280160"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4597D3"/>
                </a:solidFill>
                <a:latin typeface="Arial"/>
              </a:defRPr>
            </a:pPr>
            <a:r>
              <a:t>Stages 3-4</a:t>
            </a:r>
          </a:p>
        </p:txBody>
      </p:sp>
      <p:sp>
        <p:nvSpPr>
          <p:cNvPr id="11" name="TextBox 10"/>
          <p:cNvSpPr txBox="1"/>
          <p:nvPr/>
        </p:nvSpPr>
        <p:spPr>
          <a:xfrm>
            <a:off x="3657600" y="4389120"/>
            <a:ext cx="2468880" cy="1097280"/>
          </a:xfrm>
          <a:prstGeom prst="rect">
            <a:avLst/>
          </a:prstGeom>
          <a:noFill/>
        </p:spPr>
        <p:txBody>
          <a:bodyPr wrap="square">
            <a:spAutoFit/>
          </a:bodyPr>
          <a:lstStyle/>
          <a:p>
            <a:pPr algn="l">
              <a:defRPr sz="1000" b="0">
                <a:solidFill>
                  <a:srgbClr val="FFFFFF"/>
                </a:solidFill>
                <a:latin typeface="Arial"/>
              </a:defRPr>
            </a:pPr>
            <a:r>
              <a:t>Pilots, autonomy emerging</a:t>
            </a:r>
            <a:br/>
            <a:r>
              <a:t>Basic guidelines</a:t>
            </a:r>
          </a:p>
        </p:txBody>
      </p:sp>
      <p:sp>
        <p:nvSpPr>
          <p:cNvPr id="12" name="Rectangle 11"/>
          <p:cNvSpPr/>
          <p:nvPr/>
        </p:nvSpPr>
        <p:spPr>
          <a:xfrm>
            <a:off x="6400800" y="2743200"/>
            <a:ext cx="2651760" cy="292608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834640"/>
            <a:ext cx="2468880" cy="457200"/>
          </a:xfrm>
          <a:prstGeom prst="rect">
            <a:avLst/>
          </a:prstGeom>
          <a:noFill/>
        </p:spPr>
        <p:txBody>
          <a:bodyPr wrap="square">
            <a:spAutoFit/>
          </a:bodyPr>
          <a:lstStyle/>
          <a:p>
            <a:pPr algn="l">
              <a:defRPr sz="1600" b="1">
                <a:solidFill>
                  <a:srgbClr val="FFFFFF"/>
                </a:solidFill>
                <a:latin typeface="Arial"/>
              </a:defRPr>
            </a:pPr>
            <a:r>
              <a:t>Strategic</a:t>
            </a:r>
          </a:p>
        </p:txBody>
      </p:sp>
      <p:sp>
        <p:nvSpPr>
          <p:cNvPr id="14" name="Rounded Rectangle 13"/>
          <p:cNvSpPr/>
          <p:nvPr/>
        </p:nvSpPr>
        <p:spPr>
          <a:xfrm>
            <a:off x="7086600" y="3246120"/>
            <a:ext cx="1280160"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5BC2A7"/>
                </a:solidFill>
                <a:latin typeface="Arial"/>
              </a:defRPr>
            </a:pPr>
            <a:r>
              <a:t>Stages 5-6</a:t>
            </a:r>
          </a:p>
        </p:txBody>
      </p:sp>
      <p:sp>
        <p:nvSpPr>
          <p:cNvPr id="15" name="TextBox 14"/>
          <p:cNvSpPr txBox="1"/>
          <p:nvPr/>
        </p:nvSpPr>
        <p:spPr>
          <a:xfrm>
            <a:off x="6492240" y="3657600"/>
            <a:ext cx="2468880" cy="1097280"/>
          </a:xfrm>
          <a:prstGeom prst="rect">
            <a:avLst/>
          </a:prstGeom>
          <a:noFill/>
        </p:spPr>
        <p:txBody>
          <a:bodyPr wrap="square">
            <a:spAutoFit/>
          </a:bodyPr>
          <a:lstStyle/>
          <a:p>
            <a:pPr algn="l">
              <a:defRPr sz="1000" b="0">
                <a:solidFill>
                  <a:srgbClr val="FFFFFF"/>
                </a:solidFill>
                <a:latin typeface="Arial"/>
              </a:defRPr>
            </a:pPr>
            <a:r>
              <a:t>Multi-agent pilots</a:t>
            </a:r>
            <a:br/>
            <a:r>
              <a:t>Formal governance</a:t>
            </a:r>
          </a:p>
        </p:txBody>
      </p:sp>
      <p:sp>
        <p:nvSpPr>
          <p:cNvPr id="16" name="Rectangle 15"/>
          <p:cNvSpPr/>
          <p:nvPr/>
        </p:nvSpPr>
        <p:spPr>
          <a:xfrm>
            <a:off x="9235440" y="2011680"/>
            <a:ext cx="2651760" cy="365760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0" y="2103120"/>
            <a:ext cx="2468880" cy="457200"/>
          </a:xfrm>
          <a:prstGeom prst="rect">
            <a:avLst/>
          </a:prstGeom>
          <a:noFill/>
        </p:spPr>
        <p:txBody>
          <a:bodyPr wrap="square">
            <a:spAutoFit/>
          </a:bodyPr>
          <a:lstStyle/>
          <a:p>
            <a:pPr algn="l">
              <a:defRPr sz="1600" b="1">
                <a:solidFill>
                  <a:srgbClr val="FFFFFF"/>
                </a:solidFill>
                <a:latin typeface="Arial"/>
              </a:defRPr>
            </a:pPr>
            <a:r>
              <a:t>Operational</a:t>
            </a:r>
          </a:p>
        </p:txBody>
      </p:sp>
      <p:sp>
        <p:nvSpPr>
          <p:cNvPr id="18" name="Rounded Rectangle 17"/>
          <p:cNvSpPr/>
          <p:nvPr/>
        </p:nvSpPr>
        <p:spPr>
          <a:xfrm>
            <a:off x="9921240" y="2514600"/>
            <a:ext cx="1280160"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5BB41"/>
                </a:solidFill>
                <a:latin typeface="Arial"/>
              </a:defRPr>
            </a:pPr>
            <a:r>
              <a:t>Stages 7-8</a:t>
            </a:r>
          </a:p>
        </p:txBody>
      </p:sp>
      <p:sp>
        <p:nvSpPr>
          <p:cNvPr id="19" name="TextBox 18"/>
          <p:cNvSpPr txBox="1"/>
          <p:nvPr/>
        </p:nvSpPr>
        <p:spPr>
          <a:xfrm>
            <a:off x="9326880" y="2926080"/>
            <a:ext cx="2468880" cy="1097280"/>
          </a:xfrm>
          <a:prstGeom prst="rect">
            <a:avLst/>
          </a:prstGeom>
          <a:noFill/>
        </p:spPr>
        <p:txBody>
          <a:bodyPr wrap="square">
            <a:spAutoFit/>
          </a:bodyPr>
          <a:lstStyle/>
          <a:p>
            <a:pPr algn="l">
              <a:defRPr sz="1000" b="0">
                <a:solidFill>
                  <a:srgbClr val="FFFFFF"/>
                </a:solidFill>
                <a:latin typeface="Arial"/>
              </a:defRPr>
            </a:pPr>
            <a:r>
              <a:t>Orchestration</a:t>
            </a:r>
            <a:br/>
            <a:r>
              <a:t>Intelligence OS</a:t>
            </a:r>
          </a:p>
        </p:txBody>
      </p:sp>
      <p:sp>
        <p:nvSpPr>
          <p:cNvPr id="20" name="Right Arrow 19"/>
          <p:cNvSpPr/>
          <p:nvPr/>
        </p:nvSpPr>
        <p:spPr>
          <a:xfrm>
            <a:off x="731520" y="5943600"/>
            <a:ext cx="10698480" cy="365760"/>
          </a:xfrm>
          <a:prstGeom prst="rightArrow">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Your Path Up the Trust Ladder</a:t>
            </a:r>
          </a:p>
        </p:txBody>
      </p:sp>
      <p:sp>
        <p:nvSpPr>
          <p:cNvPr id="4" name="Rounded Rectangle 3"/>
          <p:cNvSpPr/>
          <p:nvPr/>
        </p:nvSpPr>
        <p:spPr>
          <a:xfrm>
            <a:off x="731520" y="1371600"/>
            <a:ext cx="3474720" cy="41148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1097280"/>
            <a:ext cx="2011680" cy="54864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Week 1</a:t>
            </a:r>
          </a:p>
        </p:txBody>
      </p:sp>
      <p:sp>
        <p:nvSpPr>
          <p:cNvPr id="6" name="TextBox 5"/>
          <p:cNvSpPr txBox="1"/>
          <p:nvPr/>
        </p:nvSpPr>
        <p:spPr>
          <a:xfrm>
            <a:off x="731520" y="1920240"/>
            <a:ext cx="3474720" cy="548640"/>
          </a:xfrm>
          <a:prstGeom prst="rect">
            <a:avLst/>
          </a:prstGeom>
          <a:noFill/>
        </p:spPr>
        <p:txBody>
          <a:bodyPr wrap="square">
            <a:spAutoFit/>
          </a:bodyPr>
          <a:lstStyle/>
          <a:p>
            <a:pPr algn="ctr">
              <a:defRPr sz="2800" b="1">
                <a:solidFill>
                  <a:srgbClr val="4597D3"/>
                </a:solidFill>
                <a:latin typeface="Arial"/>
              </a:defRPr>
            </a:pPr>
            <a:r>
              <a:t>Identify</a:t>
            </a:r>
          </a:p>
        </p:txBody>
      </p:sp>
      <p:sp>
        <p:nvSpPr>
          <p:cNvPr id="7" name="TextBox 6"/>
          <p:cNvSpPr txBox="1"/>
          <p:nvPr/>
        </p:nvSpPr>
        <p:spPr>
          <a:xfrm>
            <a:off x="914400" y="2651760"/>
            <a:ext cx="3108960" cy="2286000"/>
          </a:xfrm>
          <a:prstGeom prst="rect">
            <a:avLst/>
          </a:prstGeom>
          <a:noFill/>
        </p:spPr>
        <p:txBody>
          <a:bodyPr wrap="square">
            <a:spAutoFit/>
          </a:bodyPr>
          <a:lstStyle/>
          <a:p>
            <a:pPr algn="ctr">
              <a:defRPr sz="1600" b="0">
                <a:solidFill>
                  <a:srgbClr val="333333"/>
                </a:solidFill>
                <a:latin typeface="Arial"/>
              </a:defRPr>
            </a:pPr>
            <a:r>
              <a:t>Find 3 tasks for</a:t>
            </a:r>
            <a:br/>
            <a:r>
              <a:t>Stage 3 autonomous mode</a:t>
            </a:r>
          </a:p>
        </p:txBody>
      </p:sp>
      <p:sp>
        <p:nvSpPr>
          <p:cNvPr id="8" name="Rounded Rectangle 7"/>
          <p:cNvSpPr/>
          <p:nvPr/>
        </p:nvSpPr>
        <p:spPr>
          <a:xfrm>
            <a:off x="4572000" y="1371600"/>
            <a:ext cx="3474720" cy="41148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303520" y="1097280"/>
            <a:ext cx="2011680" cy="54864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Month 1</a:t>
            </a:r>
          </a:p>
        </p:txBody>
      </p:sp>
      <p:sp>
        <p:nvSpPr>
          <p:cNvPr id="10" name="TextBox 9"/>
          <p:cNvSpPr txBox="1"/>
          <p:nvPr/>
        </p:nvSpPr>
        <p:spPr>
          <a:xfrm>
            <a:off x="4572000" y="1920240"/>
            <a:ext cx="3474720" cy="548640"/>
          </a:xfrm>
          <a:prstGeom prst="rect">
            <a:avLst/>
          </a:prstGeom>
          <a:noFill/>
        </p:spPr>
        <p:txBody>
          <a:bodyPr wrap="square">
            <a:spAutoFit/>
          </a:bodyPr>
          <a:lstStyle/>
          <a:p>
            <a:pPr algn="ctr">
              <a:defRPr sz="2800" b="1">
                <a:solidFill>
                  <a:srgbClr val="5BC2A7"/>
                </a:solidFill>
                <a:latin typeface="Arial"/>
              </a:defRPr>
            </a:pPr>
            <a:r>
              <a:t>Pilot</a:t>
            </a:r>
          </a:p>
        </p:txBody>
      </p:sp>
      <p:sp>
        <p:nvSpPr>
          <p:cNvPr id="11" name="TextBox 10"/>
          <p:cNvSpPr txBox="1"/>
          <p:nvPr/>
        </p:nvSpPr>
        <p:spPr>
          <a:xfrm>
            <a:off x="4754880" y="2651760"/>
            <a:ext cx="3108960" cy="2286000"/>
          </a:xfrm>
          <a:prstGeom prst="rect">
            <a:avLst/>
          </a:prstGeom>
          <a:noFill/>
        </p:spPr>
        <p:txBody>
          <a:bodyPr wrap="square">
            <a:spAutoFit/>
          </a:bodyPr>
          <a:lstStyle/>
          <a:p>
            <a:pPr algn="ctr">
              <a:defRPr sz="1600" b="0">
                <a:solidFill>
                  <a:srgbClr val="333333"/>
                </a:solidFill>
                <a:latin typeface="Arial"/>
              </a:defRPr>
            </a:pPr>
            <a:r>
              <a:t>Run Stage 4-5 pilots</a:t>
            </a:r>
            <a:br/>
            <a:r>
              <a:t>with governance</a:t>
            </a:r>
          </a:p>
        </p:txBody>
      </p:sp>
      <p:sp>
        <p:nvSpPr>
          <p:cNvPr id="12" name="Rounded Rectangle 11"/>
          <p:cNvSpPr/>
          <p:nvPr/>
        </p:nvSpPr>
        <p:spPr>
          <a:xfrm>
            <a:off x="8412480" y="1371600"/>
            <a:ext cx="3474720" cy="41148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0" y="1097280"/>
            <a:ext cx="2011680" cy="54864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Quarter 1</a:t>
            </a:r>
          </a:p>
        </p:txBody>
      </p:sp>
      <p:sp>
        <p:nvSpPr>
          <p:cNvPr id="14" name="TextBox 13"/>
          <p:cNvSpPr txBox="1"/>
          <p:nvPr/>
        </p:nvSpPr>
        <p:spPr>
          <a:xfrm>
            <a:off x="8412480" y="1920240"/>
            <a:ext cx="3474720" cy="548640"/>
          </a:xfrm>
          <a:prstGeom prst="rect">
            <a:avLst/>
          </a:prstGeom>
          <a:noFill/>
        </p:spPr>
        <p:txBody>
          <a:bodyPr wrap="square">
            <a:spAutoFit/>
          </a:bodyPr>
          <a:lstStyle/>
          <a:p>
            <a:pPr algn="ctr">
              <a:defRPr sz="2800" b="1">
                <a:solidFill>
                  <a:srgbClr val="F5BB41"/>
                </a:solidFill>
                <a:latin typeface="Arial"/>
              </a:defRPr>
            </a:pPr>
            <a:r>
              <a:t>Scale</a:t>
            </a:r>
          </a:p>
        </p:txBody>
      </p:sp>
      <p:sp>
        <p:nvSpPr>
          <p:cNvPr id="15" name="TextBox 14"/>
          <p:cNvSpPr txBox="1"/>
          <p:nvPr/>
        </p:nvSpPr>
        <p:spPr>
          <a:xfrm>
            <a:off x="8595360" y="2651760"/>
            <a:ext cx="3108960" cy="2286000"/>
          </a:xfrm>
          <a:prstGeom prst="rect">
            <a:avLst/>
          </a:prstGeom>
          <a:noFill/>
        </p:spPr>
        <p:txBody>
          <a:bodyPr wrap="square">
            <a:spAutoFit/>
          </a:bodyPr>
          <a:lstStyle/>
          <a:p>
            <a:pPr algn="ctr">
              <a:defRPr sz="1600" b="0">
                <a:solidFill>
                  <a:srgbClr val="333333"/>
                </a:solidFill>
                <a:latin typeface="Arial"/>
              </a:defRPr>
            </a:pPr>
            <a:r>
              <a:t>Build toward</a:t>
            </a:r>
            <a:br/>
            <a:r>
              <a:t>Stage 6-7 operations</a:t>
            </a:r>
          </a:p>
        </p:txBody>
      </p:sp>
      <p:sp>
        <p:nvSpPr>
          <p:cNvPr id="16" name="Rounded Rectangle 15"/>
          <p:cNvSpPr/>
          <p:nvPr/>
        </p:nvSpPr>
        <p:spPr>
          <a:xfrm>
            <a:off x="731520" y="5669280"/>
            <a:ext cx="10698480" cy="82296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Each stage builds trust for the next. Don't skip steps.</a:t>
            </a:r>
          </a:p>
        </p:txBody>
      </p:sp>
      <p:sp>
        <p:nvSpPr>
          <p:cNvPr id="17" name="TextBox 16"/>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914400" y="0"/>
            <a:ext cx="4572000" cy="6858000"/>
          </a:xfrm>
          <a:prstGeom prst="parallelogram">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0"/>
            <a:ext cx="228600" cy="68580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286000"/>
            <a:ext cx="7315200" cy="1371600"/>
          </a:xfrm>
          <a:prstGeom prst="rect">
            <a:avLst/>
          </a:prstGeom>
          <a:noFill/>
        </p:spPr>
        <p:txBody>
          <a:bodyPr wrap="square">
            <a:spAutoFit/>
          </a:bodyPr>
          <a:lstStyle/>
          <a:p>
            <a:pPr algn="l">
              <a:defRPr sz="4400" b="1">
                <a:solidFill>
                  <a:srgbClr val="FFFFFF"/>
                </a:solidFill>
                <a:latin typeface="Arial"/>
              </a:defRPr>
            </a:pPr>
            <a:r>
              <a:t>The Agentic</a:t>
            </a:r>
            <a:br/>
            <a:r>
              <a:t>Landing Zone</a:t>
            </a:r>
          </a:p>
        </p:txBody>
      </p:sp>
      <p:sp>
        <p:nvSpPr>
          <p:cNvPr id="5" name="TextBox 4"/>
          <p:cNvSpPr txBox="1"/>
          <p:nvPr/>
        </p:nvSpPr>
        <p:spPr>
          <a:xfrm>
            <a:off x="4114800" y="4114800"/>
            <a:ext cx="7315200" cy="707886"/>
          </a:xfrm>
          <a:prstGeom prst="rect">
            <a:avLst/>
          </a:prstGeom>
          <a:noFill/>
        </p:spPr>
        <p:txBody>
          <a:bodyPr wrap="square">
            <a:spAutoFit/>
          </a:bodyPr>
          <a:lstStyle/>
          <a:p>
            <a:pPr algn="l">
              <a:defRPr sz="2000" b="0">
                <a:solidFill>
                  <a:srgbClr val="5BC2A7"/>
                </a:solidFill>
                <a:latin typeface="Arial"/>
              </a:defRPr>
            </a:pPr>
            <a:r>
              <a:rPr dirty="0"/>
              <a:t>Infrastructure for Stage </a:t>
            </a:r>
            <a:r>
              <a:rPr lang="en-US" dirty="0"/>
              <a:t>4</a:t>
            </a:r>
            <a:r>
              <a:rPr dirty="0"/>
              <a:t>-8 operations:</a:t>
            </a:r>
            <a:br>
              <a:rPr dirty="0"/>
            </a:br>
            <a:r>
              <a:rPr dirty="0"/>
              <a:t>Your autonomy safety net at scale</a:t>
            </a:r>
          </a:p>
        </p:txBody>
      </p:sp>
      <p:sp>
        <p:nvSpPr>
          <p:cNvPr id="6" name="TextBox 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What Is an Agentic Landing Zone?</a:t>
            </a:r>
          </a:p>
        </p:txBody>
      </p:sp>
      <p:sp>
        <p:nvSpPr>
          <p:cNvPr id="4" name="Rectangle 3"/>
          <p:cNvSpPr/>
          <p:nvPr/>
        </p:nvSpPr>
        <p:spPr>
          <a:xfrm>
            <a:off x="914400" y="2926080"/>
            <a:ext cx="10332720" cy="1645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56591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94894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3197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71500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09803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48106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86409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1828799" y="3200400"/>
            <a:ext cx="1882141" cy="1097280"/>
          </a:xfrm>
          <a:prstGeom prst="rightArrow">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Agents</a:t>
            </a:r>
          </a:p>
        </p:txBody>
      </p:sp>
      <p:sp>
        <p:nvSpPr>
          <p:cNvPr id="13" name="TextBox 12"/>
          <p:cNvSpPr txBox="1"/>
          <p:nvPr/>
        </p:nvSpPr>
        <p:spPr>
          <a:xfrm>
            <a:off x="914400" y="2286000"/>
            <a:ext cx="2743200" cy="307777"/>
          </a:xfrm>
          <a:prstGeom prst="rect">
            <a:avLst/>
          </a:prstGeom>
          <a:noFill/>
        </p:spPr>
        <p:txBody>
          <a:bodyPr wrap="square">
            <a:spAutoFit/>
          </a:bodyPr>
          <a:lstStyle/>
          <a:p>
            <a:pPr algn="l">
              <a:defRPr sz="1400" b="1">
                <a:solidFill>
                  <a:srgbClr val="005596"/>
                </a:solidFill>
                <a:latin typeface="Arial"/>
              </a:defRPr>
            </a:pPr>
            <a:r>
              <a:rPr dirty="0"/>
              <a:t>Stage </a:t>
            </a:r>
            <a:r>
              <a:rPr lang="en-US" dirty="0"/>
              <a:t>3</a:t>
            </a:r>
            <a:r>
              <a:rPr dirty="0"/>
              <a:t>-6 Pilots</a:t>
            </a:r>
          </a:p>
        </p:txBody>
      </p:sp>
      <p:sp>
        <p:nvSpPr>
          <p:cNvPr id="14" name="TextBox 13"/>
          <p:cNvSpPr txBox="1"/>
          <p:nvPr/>
        </p:nvSpPr>
        <p:spPr>
          <a:xfrm>
            <a:off x="8229600" y="2286000"/>
            <a:ext cx="3200400" cy="457200"/>
          </a:xfrm>
          <a:prstGeom prst="rect">
            <a:avLst/>
          </a:prstGeom>
          <a:noFill/>
        </p:spPr>
        <p:txBody>
          <a:bodyPr wrap="square">
            <a:spAutoFit/>
          </a:bodyPr>
          <a:lstStyle/>
          <a:p>
            <a:pPr algn="l">
              <a:defRPr sz="1400" b="1">
                <a:solidFill>
                  <a:srgbClr val="005596"/>
                </a:solidFill>
                <a:latin typeface="Arial"/>
              </a:defRPr>
            </a:pPr>
            <a:r>
              <a:t>Stage 7-8 Production</a:t>
            </a:r>
          </a:p>
        </p:txBody>
      </p:sp>
      <p:sp>
        <p:nvSpPr>
          <p:cNvPr id="15" name="Rounded Rectangle 14"/>
          <p:cNvSpPr/>
          <p:nvPr/>
        </p:nvSpPr>
        <p:spPr>
          <a:xfrm>
            <a:off x="731520" y="4846320"/>
            <a:ext cx="5029200" cy="16459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5029200"/>
            <a:ext cx="4663440" cy="1280160"/>
          </a:xfrm>
          <a:prstGeom prst="rect">
            <a:avLst/>
          </a:prstGeom>
          <a:noFill/>
        </p:spPr>
        <p:txBody>
          <a:bodyPr wrap="square">
            <a:spAutoFit/>
          </a:bodyPr>
          <a:lstStyle/>
          <a:p>
            <a:pPr algn="l">
              <a:defRPr sz="1400" b="0">
                <a:solidFill>
                  <a:srgbClr val="333333"/>
                </a:solidFill>
                <a:latin typeface="Arial"/>
              </a:defRPr>
            </a:pPr>
            <a:r>
              <a:t>Pre-configured infrastructure:</a:t>
            </a:r>
            <a:br/>
            <a:r>
              <a:t>• Governance guardrails</a:t>
            </a:r>
            <a:br/>
            <a:r>
              <a:t>• Security boundaries</a:t>
            </a:r>
            <a:br/>
            <a:r>
              <a:t>• Orchestration patterns</a:t>
            </a:r>
            <a:br/>
            <a:r>
              <a:t>• Quality gates</a:t>
            </a:r>
          </a:p>
        </p:txBody>
      </p:sp>
      <p:sp>
        <p:nvSpPr>
          <p:cNvPr id="17" name="Rounded Rectangle 16"/>
          <p:cNvSpPr/>
          <p:nvPr/>
        </p:nvSpPr>
        <p:spPr>
          <a:xfrm>
            <a:off x="6217920" y="4846320"/>
            <a:ext cx="5212080" cy="164592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5074920"/>
            <a:ext cx="4846320" cy="830997"/>
          </a:xfrm>
          <a:prstGeom prst="rect">
            <a:avLst/>
          </a:prstGeom>
          <a:noFill/>
        </p:spPr>
        <p:txBody>
          <a:bodyPr wrap="square">
            <a:spAutoFit/>
          </a:bodyPr>
          <a:lstStyle/>
          <a:p>
            <a:pPr algn="ctr">
              <a:defRPr sz="1600" b="1">
                <a:solidFill>
                  <a:srgbClr val="FFFFFF"/>
                </a:solidFill>
                <a:latin typeface="Arial"/>
              </a:defRPr>
            </a:pPr>
            <a:r>
              <a:rPr dirty="0"/>
              <a:t>Enables safe progression from</a:t>
            </a:r>
            <a:br>
              <a:rPr dirty="0"/>
            </a:br>
            <a:r>
              <a:rPr dirty="0"/>
              <a:t>Stage </a:t>
            </a:r>
            <a:r>
              <a:rPr lang="en-US" dirty="0"/>
              <a:t>3</a:t>
            </a:r>
            <a:r>
              <a:rPr dirty="0"/>
              <a:t> to Stage 8 without</a:t>
            </a:r>
            <a:br>
              <a:rPr dirty="0"/>
            </a:br>
            <a:r>
              <a:rPr dirty="0"/>
              <a:t>building everything yourself.</a:t>
            </a:r>
          </a:p>
        </p:txBody>
      </p:sp>
      <p:sp>
        <p:nvSpPr>
          <p:cNvPr id="19" name="TextBox 18"/>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Agentic Landing Zone: Six Components</a:t>
            </a:r>
          </a:p>
        </p:txBody>
      </p:sp>
      <p:sp>
        <p:nvSpPr>
          <p:cNvPr id="4" name="Rounded Rectangle 3"/>
          <p:cNvSpPr/>
          <p:nvPr/>
        </p:nvSpPr>
        <p:spPr>
          <a:xfrm>
            <a:off x="640080" y="137160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508760"/>
            <a:ext cx="548640" cy="548640"/>
          </a:xfrm>
          <a:prstGeom prst="ellipse">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1</a:t>
            </a:r>
          </a:p>
        </p:txBody>
      </p:sp>
      <p:sp>
        <p:nvSpPr>
          <p:cNvPr id="6" name="TextBox 5"/>
          <p:cNvSpPr txBox="1"/>
          <p:nvPr/>
        </p:nvSpPr>
        <p:spPr>
          <a:xfrm>
            <a:off x="1463040" y="1554480"/>
            <a:ext cx="2560320" cy="548640"/>
          </a:xfrm>
          <a:prstGeom prst="rect">
            <a:avLst/>
          </a:prstGeom>
          <a:noFill/>
        </p:spPr>
        <p:txBody>
          <a:bodyPr wrap="square">
            <a:spAutoFit/>
          </a:bodyPr>
          <a:lstStyle/>
          <a:p>
            <a:pPr algn="l">
              <a:defRPr sz="2000" b="1">
                <a:solidFill>
                  <a:srgbClr val="005596"/>
                </a:solidFill>
                <a:latin typeface="Arial"/>
              </a:defRPr>
            </a:pPr>
            <a:r>
              <a:t>Governance</a:t>
            </a:r>
          </a:p>
        </p:txBody>
      </p:sp>
      <p:sp>
        <p:nvSpPr>
          <p:cNvPr id="7" name="TextBox 6"/>
          <p:cNvSpPr txBox="1"/>
          <p:nvPr/>
        </p:nvSpPr>
        <p:spPr>
          <a:xfrm>
            <a:off x="822960" y="2286000"/>
            <a:ext cx="3200400" cy="1188720"/>
          </a:xfrm>
          <a:prstGeom prst="rect">
            <a:avLst/>
          </a:prstGeom>
          <a:noFill/>
        </p:spPr>
        <p:txBody>
          <a:bodyPr wrap="square">
            <a:spAutoFit/>
          </a:bodyPr>
          <a:lstStyle/>
          <a:p>
            <a:pPr algn="l">
              <a:defRPr sz="1400" b="0">
                <a:solidFill>
                  <a:srgbClr val="333333"/>
                </a:solidFill>
                <a:latin typeface="Arial"/>
              </a:defRPr>
            </a:pPr>
            <a:r>
              <a:t>Your autonomy safety net</a:t>
            </a:r>
          </a:p>
        </p:txBody>
      </p:sp>
      <p:sp>
        <p:nvSpPr>
          <p:cNvPr id="8" name="Rounded Rectangle 7"/>
          <p:cNvSpPr/>
          <p:nvPr/>
        </p:nvSpPr>
        <p:spPr>
          <a:xfrm>
            <a:off x="4480560" y="137160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617720" y="1508760"/>
            <a:ext cx="548640" cy="54864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2</a:t>
            </a:r>
          </a:p>
        </p:txBody>
      </p:sp>
      <p:sp>
        <p:nvSpPr>
          <p:cNvPr id="10" name="TextBox 9"/>
          <p:cNvSpPr txBox="1"/>
          <p:nvPr/>
        </p:nvSpPr>
        <p:spPr>
          <a:xfrm>
            <a:off x="5303520" y="1554480"/>
            <a:ext cx="2560320" cy="548640"/>
          </a:xfrm>
          <a:prstGeom prst="rect">
            <a:avLst/>
          </a:prstGeom>
          <a:noFill/>
        </p:spPr>
        <p:txBody>
          <a:bodyPr wrap="square">
            <a:spAutoFit/>
          </a:bodyPr>
          <a:lstStyle/>
          <a:p>
            <a:pPr algn="l">
              <a:defRPr sz="2000" b="1">
                <a:solidFill>
                  <a:srgbClr val="4597D3"/>
                </a:solidFill>
                <a:latin typeface="Arial"/>
              </a:defRPr>
            </a:pPr>
            <a:r>
              <a:t>Orchestration</a:t>
            </a:r>
          </a:p>
        </p:txBody>
      </p:sp>
      <p:sp>
        <p:nvSpPr>
          <p:cNvPr id="11" name="TextBox 10"/>
          <p:cNvSpPr txBox="1"/>
          <p:nvPr/>
        </p:nvSpPr>
        <p:spPr>
          <a:xfrm>
            <a:off x="4663440" y="2286000"/>
            <a:ext cx="3200400" cy="1188720"/>
          </a:xfrm>
          <a:prstGeom prst="rect">
            <a:avLst/>
          </a:prstGeom>
          <a:noFill/>
        </p:spPr>
        <p:txBody>
          <a:bodyPr wrap="square">
            <a:spAutoFit/>
          </a:bodyPr>
          <a:lstStyle/>
          <a:p>
            <a:pPr algn="l">
              <a:defRPr sz="1400" b="0">
                <a:solidFill>
                  <a:srgbClr val="333333"/>
                </a:solidFill>
                <a:latin typeface="Arial"/>
              </a:defRPr>
            </a:pPr>
            <a:r>
              <a:t>Multi-agent coordination</a:t>
            </a:r>
          </a:p>
        </p:txBody>
      </p:sp>
      <p:sp>
        <p:nvSpPr>
          <p:cNvPr id="12" name="Rounded Rectangle 11"/>
          <p:cNvSpPr/>
          <p:nvPr/>
        </p:nvSpPr>
        <p:spPr>
          <a:xfrm>
            <a:off x="8321040" y="137160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458200" y="1508760"/>
            <a:ext cx="548640" cy="54864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3</a:t>
            </a:r>
          </a:p>
        </p:txBody>
      </p:sp>
      <p:sp>
        <p:nvSpPr>
          <p:cNvPr id="14" name="TextBox 13"/>
          <p:cNvSpPr txBox="1"/>
          <p:nvPr/>
        </p:nvSpPr>
        <p:spPr>
          <a:xfrm>
            <a:off x="9144000" y="1554480"/>
            <a:ext cx="2560320" cy="548640"/>
          </a:xfrm>
          <a:prstGeom prst="rect">
            <a:avLst/>
          </a:prstGeom>
          <a:noFill/>
        </p:spPr>
        <p:txBody>
          <a:bodyPr wrap="square">
            <a:spAutoFit/>
          </a:bodyPr>
          <a:lstStyle/>
          <a:p>
            <a:pPr algn="l">
              <a:defRPr sz="2000" b="1">
                <a:solidFill>
                  <a:srgbClr val="5BC2A7"/>
                </a:solidFill>
                <a:latin typeface="Arial"/>
              </a:defRPr>
            </a:pPr>
            <a:r>
              <a:t>Tool Registry</a:t>
            </a:r>
          </a:p>
        </p:txBody>
      </p:sp>
      <p:sp>
        <p:nvSpPr>
          <p:cNvPr id="15" name="TextBox 14"/>
          <p:cNvSpPr txBox="1"/>
          <p:nvPr/>
        </p:nvSpPr>
        <p:spPr>
          <a:xfrm>
            <a:off x="8503920" y="2286000"/>
            <a:ext cx="3200400" cy="1188720"/>
          </a:xfrm>
          <a:prstGeom prst="rect">
            <a:avLst/>
          </a:prstGeom>
          <a:noFill/>
        </p:spPr>
        <p:txBody>
          <a:bodyPr wrap="square">
            <a:spAutoFit/>
          </a:bodyPr>
          <a:lstStyle/>
          <a:p>
            <a:pPr algn="l">
              <a:defRPr sz="1400" b="0">
                <a:solidFill>
                  <a:srgbClr val="333333"/>
                </a:solidFill>
                <a:latin typeface="Arial"/>
              </a:defRPr>
            </a:pPr>
            <a:r>
              <a:t>Approved agent capabilities</a:t>
            </a:r>
          </a:p>
        </p:txBody>
      </p:sp>
      <p:sp>
        <p:nvSpPr>
          <p:cNvPr id="16" name="Rounded Rectangle 15"/>
          <p:cNvSpPr/>
          <p:nvPr/>
        </p:nvSpPr>
        <p:spPr>
          <a:xfrm>
            <a:off x="640080" y="393192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77240" y="4069080"/>
            <a:ext cx="548640" cy="54864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4</a:t>
            </a:r>
          </a:p>
        </p:txBody>
      </p:sp>
      <p:sp>
        <p:nvSpPr>
          <p:cNvPr id="18" name="TextBox 17"/>
          <p:cNvSpPr txBox="1"/>
          <p:nvPr/>
        </p:nvSpPr>
        <p:spPr>
          <a:xfrm>
            <a:off x="1463040" y="4114800"/>
            <a:ext cx="2560320" cy="548640"/>
          </a:xfrm>
          <a:prstGeom prst="rect">
            <a:avLst/>
          </a:prstGeom>
          <a:noFill/>
        </p:spPr>
        <p:txBody>
          <a:bodyPr wrap="square">
            <a:spAutoFit/>
          </a:bodyPr>
          <a:lstStyle/>
          <a:p>
            <a:pPr algn="l">
              <a:defRPr sz="2000" b="1">
                <a:solidFill>
                  <a:srgbClr val="F5BB41"/>
                </a:solidFill>
                <a:latin typeface="Arial"/>
              </a:defRPr>
            </a:pPr>
            <a:r>
              <a:t>Knowledge</a:t>
            </a:r>
          </a:p>
        </p:txBody>
      </p:sp>
      <p:sp>
        <p:nvSpPr>
          <p:cNvPr id="19" name="TextBox 18"/>
          <p:cNvSpPr txBox="1"/>
          <p:nvPr/>
        </p:nvSpPr>
        <p:spPr>
          <a:xfrm>
            <a:off x="822960" y="4846320"/>
            <a:ext cx="3200400" cy="1188720"/>
          </a:xfrm>
          <a:prstGeom prst="rect">
            <a:avLst/>
          </a:prstGeom>
          <a:noFill/>
        </p:spPr>
        <p:txBody>
          <a:bodyPr wrap="square">
            <a:spAutoFit/>
          </a:bodyPr>
          <a:lstStyle/>
          <a:p>
            <a:pPr algn="l">
              <a:defRPr sz="1400" b="0">
                <a:solidFill>
                  <a:srgbClr val="333333"/>
                </a:solidFill>
                <a:latin typeface="Arial"/>
              </a:defRPr>
            </a:pPr>
            <a:r>
              <a:t>Shared context for swarms</a:t>
            </a:r>
          </a:p>
        </p:txBody>
      </p:sp>
      <p:sp>
        <p:nvSpPr>
          <p:cNvPr id="20" name="Rounded Rectangle 19"/>
          <p:cNvSpPr/>
          <p:nvPr/>
        </p:nvSpPr>
        <p:spPr>
          <a:xfrm>
            <a:off x="4480560" y="393192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617720" y="4069080"/>
            <a:ext cx="548640" cy="54864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5</a:t>
            </a:r>
          </a:p>
        </p:txBody>
      </p:sp>
      <p:sp>
        <p:nvSpPr>
          <p:cNvPr id="22" name="TextBox 21"/>
          <p:cNvSpPr txBox="1"/>
          <p:nvPr/>
        </p:nvSpPr>
        <p:spPr>
          <a:xfrm>
            <a:off x="5303520" y="4114800"/>
            <a:ext cx="2560320" cy="548640"/>
          </a:xfrm>
          <a:prstGeom prst="rect">
            <a:avLst/>
          </a:prstGeom>
          <a:noFill/>
        </p:spPr>
        <p:txBody>
          <a:bodyPr wrap="square">
            <a:spAutoFit/>
          </a:bodyPr>
          <a:lstStyle/>
          <a:p>
            <a:pPr algn="l">
              <a:defRPr sz="2000" b="1">
                <a:solidFill>
                  <a:srgbClr val="4597D3"/>
                </a:solidFill>
                <a:latin typeface="Arial"/>
              </a:defRPr>
            </a:pPr>
            <a:r>
              <a:t>Observability</a:t>
            </a:r>
          </a:p>
        </p:txBody>
      </p:sp>
      <p:sp>
        <p:nvSpPr>
          <p:cNvPr id="23" name="TextBox 22"/>
          <p:cNvSpPr txBox="1"/>
          <p:nvPr/>
        </p:nvSpPr>
        <p:spPr>
          <a:xfrm>
            <a:off x="4663440" y="4846320"/>
            <a:ext cx="3200400" cy="1188720"/>
          </a:xfrm>
          <a:prstGeom prst="rect">
            <a:avLst/>
          </a:prstGeom>
          <a:noFill/>
        </p:spPr>
        <p:txBody>
          <a:bodyPr wrap="square">
            <a:spAutoFit/>
          </a:bodyPr>
          <a:lstStyle/>
          <a:p>
            <a:pPr algn="l">
              <a:defRPr sz="1400" b="0">
                <a:solidFill>
                  <a:srgbClr val="333333"/>
                </a:solidFill>
                <a:latin typeface="Arial"/>
              </a:defRPr>
            </a:pPr>
            <a:r>
              <a:t>Monitor your factory</a:t>
            </a:r>
          </a:p>
        </p:txBody>
      </p:sp>
      <p:sp>
        <p:nvSpPr>
          <p:cNvPr id="24" name="Rounded Rectangle 23"/>
          <p:cNvSpPr/>
          <p:nvPr/>
        </p:nvSpPr>
        <p:spPr>
          <a:xfrm>
            <a:off x="8321040" y="393192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458200" y="4069080"/>
            <a:ext cx="548640" cy="548640"/>
          </a:xfrm>
          <a:prstGeom prst="ellipse">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6</a:t>
            </a:r>
          </a:p>
        </p:txBody>
      </p:sp>
      <p:sp>
        <p:nvSpPr>
          <p:cNvPr id="26" name="TextBox 25"/>
          <p:cNvSpPr txBox="1"/>
          <p:nvPr/>
        </p:nvSpPr>
        <p:spPr>
          <a:xfrm>
            <a:off x="9144000" y="4114800"/>
            <a:ext cx="2560320" cy="548640"/>
          </a:xfrm>
          <a:prstGeom prst="rect">
            <a:avLst/>
          </a:prstGeom>
          <a:noFill/>
        </p:spPr>
        <p:txBody>
          <a:bodyPr wrap="square">
            <a:spAutoFit/>
          </a:bodyPr>
          <a:lstStyle/>
          <a:p>
            <a:pPr algn="l">
              <a:defRPr sz="2000" b="1">
                <a:solidFill>
                  <a:srgbClr val="005596"/>
                </a:solidFill>
                <a:latin typeface="Arial"/>
              </a:defRPr>
            </a:pPr>
            <a:r>
              <a:t>Security</a:t>
            </a:r>
          </a:p>
        </p:txBody>
      </p:sp>
      <p:sp>
        <p:nvSpPr>
          <p:cNvPr id="27" name="TextBox 26"/>
          <p:cNvSpPr txBox="1"/>
          <p:nvPr/>
        </p:nvSpPr>
        <p:spPr>
          <a:xfrm>
            <a:off x="8503920" y="4846320"/>
            <a:ext cx="3200400" cy="1188720"/>
          </a:xfrm>
          <a:prstGeom prst="rect">
            <a:avLst/>
          </a:prstGeom>
          <a:noFill/>
        </p:spPr>
        <p:txBody>
          <a:bodyPr wrap="square">
            <a:spAutoFit/>
          </a:bodyPr>
          <a:lstStyle/>
          <a:p>
            <a:pPr algn="l">
              <a:defRPr sz="1400" b="0">
                <a:solidFill>
                  <a:srgbClr val="333333"/>
                </a:solidFill>
                <a:latin typeface="Arial"/>
              </a:defRPr>
            </a:pPr>
            <a:r>
              <a:t>Boundaries that scale</a:t>
            </a:r>
          </a:p>
        </p:txBody>
      </p:sp>
      <p:sp>
        <p:nvSpPr>
          <p:cNvPr id="28" name="TextBox 27"/>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914400" y="0"/>
            <a:ext cx="4572000" cy="6858000"/>
          </a:xfrm>
          <a:prstGeom prst="parallelogram">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0"/>
            <a:ext cx="228600" cy="68580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560320"/>
            <a:ext cx="7315200" cy="1371600"/>
          </a:xfrm>
          <a:prstGeom prst="rect">
            <a:avLst/>
          </a:prstGeom>
          <a:noFill/>
        </p:spPr>
        <p:txBody>
          <a:bodyPr wrap="square">
            <a:spAutoFit/>
          </a:bodyPr>
          <a:lstStyle/>
          <a:p>
            <a:pPr algn="l">
              <a:defRPr sz="4400" b="1">
                <a:solidFill>
                  <a:srgbClr val="FFFFFF"/>
                </a:solidFill>
                <a:latin typeface="Arial"/>
              </a:defRPr>
            </a:pPr>
            <a:r>
              <a:t>Your Next Move</a:t>
            </a:r>
          </a:p>
        </p:txBody>
      </p:sp>
      <p:sp>
        <p:nvSpPr>
          <p:cNvPr id="5" name="TextBox 4"/>
          <p:cNvSpPr txBox="1"/>
          <p:nvPr/>
        </p:nvSpPr>
        <p:spPr>
          <a:xfrm>
            <a:off x="4114800" y="3931920"/>
            <a:ext cx="7315200" cy="548640"/>
          </a:xfrm>
          <a:prstGeom prst="rect">
            <a:avLst/>
          </a:prstGeom>
          <a:noFill/>
        </p:spPr>
        <p:txBody>
          <a:bodyPr wrap="square">
            <a:spAutoFit/>
          </a:bodyPr>
          <a:lstStyle/>
          <a:p>
            <a:pPr algn="l">
              <a:defRPr sz="2000" b="0">
                <a:solidFill>
                  <a:srgbClr val="5BC2A7"/>
                </a:solidFill>
                <a:latin typeface="Arial"/>
              </a:defRPr>
            </a:pPr>
            <a:r>
              <a:t>Where are you on the trust ladder?</a:t>
            </a:r>
          </a:p>
        </p:txBody>
      </p:sp>
      <p:sp>
        <p:nvSpPr>
          <p:cNvPr id="6" name="TextBox 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200" b="1">
                <a:solidFill>
                  <a:srgbClr val="005596"/>
                </a:solidFill>
                <a:latin typeface="Arial"/>
              </a:defRPr>
            </a:pPr>
            <a:r>
              <a:t>Three Questions to Answer Now</a:t>
            </a:r>
          </a:p>
        </p:txBody>
      </p:sp>
      <p:sp>
        <p:nvSpPr>
          <p:cNvPr id="4" name="Rounded Rectangle 3"/>
          <p:cNvSpPr/>
          <p:nvPr/>
        </p:nvSpPr>
        <p:spPr>
          <a:xfrm>
            <a:off x="640080" y="1371600"/>
            <a:ext cx="3566160" cy="45720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3566160" cy="548640"/>
          </a:xfrm>
          <a:prstGeom prst="rect">
            <a:avLst/>
          </a:prstGeom>
          <a:noFill/>
        </p:spPr>
        <p:txBody>
          <a:bodyPr wrap="square">
            <a:spAutoFit/>
          </a:bodyPr>
          <a:lstStyle/>
          <a:p>
            <a:pPr algn="ctr">
              <a:defRPr sz="4800" b="1">
                <a:solidFill>
                  <a:srgbClr val="FFFFFF"/>
                </a:solidFill>
                <a:latin typeface="Arial"/>
              </a:defRPr>
            </a:pPr>
            <a:r>
              <a:t>1</a:t>
            </a:r>
          </a:p>
        </p:txBody>
      </p:sp>
      <p:sp>
        <p:nvSpPr>
          <p:cNvPr id="6" name="TextBox 5"/>
          <p:cNvSpPr txBox="1"/>
          <p:nvPr/>
        </p:nvSpPr>
        <p:spPr>
          <a:xfrm>
            <a:off x="640080" y="2286000"/>
            <a:ext cx="3566160" cy="1645920"/>
          </a:xfrm>
          <a:prstGeom prst="rect">
            <a:avLst/>
          </a:prstGeom>
          <a:noFill/>
        </p:spPr>
        <p:txBody>
          <a:bodyPr wrap="square">
            <a:spAutoFit/>
          </a:bodyPr>
          <a:lstStyle/>
          <a:p>
            <a:pPr algn="ctr">
              <a:defRPr sz="1800" b="1">
                <a:solidFill>
                  <a:srgbClr val="FFFFFF"/>
                </a:solidFill>
                <a:latin typeface="Arial"/>
              </a:defRPr>
            </a:pPr>
            <a:r>
              <a:t>What stage are</a:t>
            </a:r>
            <a:br/>
            <a:r>
              <a:t>you at today?</a:t>
            </a:r>
          </a:p>
        </p:txBody>
      </p:sp>
      <p:sp>
        <p:nvSpPr>
          <p:cNvPr id="7" name="Rounded Rectangle 6"/>
          <p:cNvSpPr/>
          <p:nvPr/>
        </p:nvSpPr>
        <p:spPr>
          <a:xfrm>
            <a:off x="914400" y="4206240"/>
            <a:ext cx="301752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4389120"/>
            <a:ext cx="2834640" cy="914400"/>
          </a:xfrm>
          <a:prstGeom prst="rect">
            <a:avLst/>
          </a:prstGeom>
          <a:noFill/>
        </p:spPr>
        <p:txBody>
          <a:bodyPr wrap="square">
            <a:spAutoFit/>
          </a:bodyPr>
          <a:lstStyle/>
          <a:p>
            <a:pPr algn="ctr">
              <a:defRPr sz="1300" b="0">
                <a:solidFill>
                  <a:srgbClr val="4597D3"/>
                </a:solidFill>
                <a:latin typeface="Arial"/>
              </a:defRPr>
            </a:pPr>
            <a:r>
              <a:t>Most are Stage 2-4.</a:t>
            </a:r>
            <a:br/>
            <a:r>
              <a:t>Few are ready for 7-8.</a:t>
            </a:r>
          </a:p>
        </p:txBody>
      </p:sp>
      <p:sp>
        <p:nvSpPr>
          <p:cNvPr id="9" name="Rounded Rectangle 8"/>
          <p:cNvSpPr/>
          <p:nvPr/>
        </p:nvSpPr>
        <p:spPr>
          <a:xfrm>
            <a:off x="4480560" y="1371600"/>
            <a:ext cx="3566160" cy="45720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1554480"/>
            <a:ext cx="3566160" cy="548640"/>
          </a:xfrm>
          <a:prstGeom prst="rect">
            <a:avLst/>
          </a:prstGeom>
          <a:noFill/>
        </p:spPr>
        <p:txBody>
          <a:bodyPr wrap="square">
            <a:spAutoFit/>
          </a:bodyPr>
          <a:lstStyle/>
          <a:p>
            <a:pPr algn="ctr">
              <a:defRPr sz="4800" b="1">
                <a:solidFill>
                  <a:srgbClr val="FFFFFF"/>
                </a:solidFill>
                <a:latin typeface="Arial"/>
              </a:defRPr>
            </a:pPr>
            <a:r>
              <a:t>2</a:t>
            </a:r>
          </a:p>
        </p:txBody>
      </p:sp>
      <p:sp>
        <p:nvSpPr>
          <p:cNvPr id="11" name="TextBox 10"/>
          <p:cNvSpPr txBox="1"/>
          <p:nvPr/>
        </p:nvSpPr>
        <p:spPr>
          <a:xfrm>
            <a:off x="4480560" y="2286000"/>
            <a:ext cx="3566160" cy="1645920"/>
          </a:xfrm>
          <a:prstGeom prst="rect">
            <a:avLst/>
          </a:prstGeom>
          <a:noFill/>
        </p:spPr>
        <p:txBody>
          <a:bodyPr wrap="square">
            <a:spAutoFit/>
          </a:bodyPr>
          <a:lstStyle/>
          <a:p>
            <a:pPr algn="ctr">
              <a:defRPr sz="1800" b="1">
                <a:solidFill>
                  <a:srgbClr val="FFFFFF"/>
                </a:solidFill>
                <a:latin typeface="Arial"/>
              </a:defRPr>
            </a:pPr>
            <a:r>
              <a:t>What's your path</a:t>
            </a:r>
            <a:br/>
            <a:r>
              <a:t>to autonomy safely?</a:t>
            </a:r>
          </a:p>
        </p:txBody>
      </p:sp>
      <p:sp>
        <p:nvSpPr>
          <p:cNvPr id="12" name="Rounded Rectangle 11"/>
          <p:cNvSpPr/>
          <p:nvPr/>
        </p:nvSpPr>
        <p:spPr>
          <a:xfrm>
            <a:off x="4754880" y="4206240"/>
            <a:ext cx="301752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0" y="4389120"/>
            <a:ext cx="2834640" cy="914400"/>
          </a:xfrm>
          <a:prstGeom prst="rect">
            <a:avLst/>
          </a:prstGeom>
          <a:noFill/>
        </p:spPr>
        <p:txBody>
          <a:bodyPr wrap="square">
            <a:spAutoFit/>
          </a:bodyPr>
          <a:lstStyle/>
          <a:p>
            <a:pPr algn="ctr">
              <a:defRPr sz="1300" b="0">
                <a:solidFill>
                  <a:srgbClr val="5BC2A7"/>
                </a:solidFill>
                <a:latin typeface="Arial"/>
              </a:defRPr>
            </a:pPr>
            <a:r>
              <a:t>Governance first,</a:t>
            </a:r>
            <a:br/>
            <a:r>
              <a:t>then scale trust.</a:t>
            </a:r>
          </a:p>
        </p:txBody>
      </p:sp>
      <p:sp>
        <p:nvSpPr>
          <p:cNvPr id="14" name="Rounded Rectangle 13"/>
          <p:cNvSpPr/>
          <p:nvPr/>
        </p:nvSpPr>
        <p:spPr>
          <a:xfrm>
            <a:off x="8321040" y="1371600"/>
            <a:ext cx="3566160" cy="457200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1554480"/>
            <a:ext cx="3566160" cy="548640"/>
          </a:xfrm>
          <a:prstGeom prst="rect">
            <a:avLst/>
          </a:prstGeom>
          <a:noFill/>
        </p:spPr>
        <p:txBody>
          <a:bodyPr wrap="square">
            <a:spAutoFit/>
          </a:bodyPr>
          <a:lstStyle/>
          <a:p>
            <a:pPr algn="ctr">
              <a:defRPr sz="4800" b="1">
                <a:solidFill>
                  <a:srgbClr val="FFFFFF"/>
                </a:solidFill>
                <a:latin typeface="Arial"/>
              </a:defRPr>
            </a:pPr>
            <a:r>
              <a:t>3</a:t>
            </a:r>
          </a:p>
        </p:txBody>
      </p:sp>
      <p:sp>
        <p:nvSpPr>
          <p:cNvPr id="16" name="TextBox 15"/>
          <p:cNvSpPr txBox="1"/>
          <p:nvPr/>
        </p:nvSpPr>
        <p:spPr>
          <a:xfrm>
            <a:off x="8321040" y="2286000"/>
            <a:ext cx="3566160" cy="1645920"/>
          </a:xfrm>
          <a:prstGeom prst="rect">
            <a:avLst/>
          </a:prstGeom>
          <a:noFill/>
        </p:spPr>
        <p:txBody>
          <a:bodyPr wrap="square">
            <a:spAutoFit/>
          </a:bodyPr>
          <a:lstStyle/>
          <a:p>
            <a:pPr algn="ctr">
              <a:defRPr sz="1800" b="1">
                <a:solidFill>
                  <a:srgbClr val="FFFFFF"/>
                </a:solidFill>
                <a:latin typeface="Arial"/>
              </a:defRPr>
            </a:pPr>
            <a:r>
              <a:t>Who will operate</a:t>
            </a:r>
            <a:br/>
            <a:r>
              <a:t>your agent factory?</a:t>
            </a:r>
          </a:p>
        </p:txBody>
      </p:sp>
      <p:sp>
        <p:nvSpPr>
          <p:cNvPr id="17" name="Rounded Rectangle 16"/>
          <p:cNvSpPr/>
          <p:nvPr/>
        </p:nvSpPr>
        <p:spPr>
          <a:xfrm>
            <a:off x="8595360" y="4206240"/>
            <a:ext cx="301752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0" y="4389120"/>
            <a:ext cx="2834640" cy="914400"/>
          </a:xfrm>
          <a:prstGeom prst="rect">
            <a:avLst/>
          </a:prstGeom>
          <a:noFill/>
        </p:spPr>
        <p:txBody>
          <a:bodyPr wrap="square">
            <a:spAutoFit/>
          </a:bodyPr>
          <a:lstStyle/>
          <a:p>
            <a:pPr algn="ctr">
              <a:defRPr sz="1300" b="0">
                <a:solidFill>
                  <a:srgbClr val="F5BB41"/>
                </a:solidFill>
                <a:latin typeface="Arial"/>
              </a:defRPr>
            </a:pPr>
            <a:r>
              <a:t>New role:</a:t>
            </a:r>
            <a:br/>
            <a:r>
              <a:t>Factory Operator.</a:t>
            </a:r>
          </a:p>
        </p:txBody>
      </p:sp>
      <p:sp>
        <p:nvSpPr>
          <p:cNvPr id="19" name="TextBox 18"/>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Improving's Agentic Landing Zone</a:t>
            </a:r>
          </a:p>
        </p:txBody>
      </p:sp>
      <p:sp>
        <p:nvSpPr>
          <p:cNvPr id="4" name="Rounded Rectangle 3"/>
          <p:cNvSpPr/>
          <p:nvPr/>
        </p:nvSpPr>
        <p:spPr>
          <a:xfrm>
            <a:off x="640080" y="1371600"/>
            <a:ext cx="3566160" cy="41148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3566160" cy="548640"/>
          </a:xfrm>
          <a:prstGeom prst="rect">
            <a:avLst/>
          </a:prstGeom>
          <a:noFill/>
        </p:spPr>
        <p:txBody>
          <a:bodyPr wrap="square">
            <a:spAutoFit/>
          </a:bodyPr>
          <a:lstStyle/>
          <a:p>
            <a:pPr algn="ctr">
              <a:defRPr sz="2800" b="1">
                <a:solidFill>
                  <a:srgbClr val="FFFFFF"/>
                </a:solidFill>
                <a:latin typeface="Arial"/>
              </a:defRPr>
            </a:pPr>
            <a:r>
              <a:t>Assess</a:t>
            </a:r>
          </a:p>
        </p:txBody>
      </p:sp>
      <p:sp>
        <p:nvSpPr>
          <p:cNvPr id="6" name="Rounded Rectangle 5"/>
          <p:cNvSpPr/>
          <p:nvPr/>
        </p:nvSpPr>
        <p:spPr>
          <a:xfrm>
            <a:off x="1463040" y="2194560"/>
            <a:ext cx="192024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4597D3"/>
                </a:solidFill>
                <a:latin typeface="Arial"/>
              </a:defRPr>
            </a:pPr>
            <a:r>
              <a:t>2-4 weeks</a:t>
            </a:r>
          </a:p>
        </p:txBody>
      </p:sp>
      <p:sp>
        <p:nvSpPr>
          <p:cNvPr id="7" name="TextBox 6"/>
          <p:cNvSpPr txBox="1"/>
          <p:nvPr/>
        </p:nvSpPr>
        <p:spPr>
          <a:xfrm>
            <a:off x="914400" y="2834640"/>
            <a:ext cx="3017520" cy="2468880"/>
          </a:xfrm>
          <a:prstGeom prst="rect">
            <a:avLst/>
          </a:prstGeom>
          <a:noFill/>
        </p:spPr>
        <p:txBody>
          <a:bodyPr wrap="square">
            <a:spAutoFit/>
          </a:bodyPr>
          <a:lstStyle/>
          <a:p>
            <a:pPr algn="ctr">
              <a:defRPr sz="1400" b="0">
                <a:solidFill>
                  <a:srgbClr val="FFFFFF"/>
                </a:solidFill>
                <a:latin typeface="Arial"/>
              </a:defRPr>
            </a:pPr>
            <a:r>
              <a:t>Where are you on</a:t>
            </a:r>
            <a:br/>
            <a:r>
              <a:t>the trust ladder?</a:t>
            </a:r>
            <a:br/>
            <a:r>
              <a:t>Readiness evaluation</a:t>
            </a:r>
          </a:p>
        </p:txBody>
      </p:sp>
      <p:sp>
        <p:nvSpPr>
          <p:cNvPr id="8" name="Rounded Rectangle 7"/>
          <p:cNvSpPr/>
          <p:nvPr/>
        </p:nvSpPr>
        <p:spPr>
          <a:xfrm>
            <a:off x="4480560" y="1371600"/>
            <a:ext cx="3566160" cy="41148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0" y="1554480"/>
            <a:ext cx="3566160" cy="548640"/>
          </a:xfrm>
          <a:prstGeom prst="rect">
            <a:avLst/>
          </a:prstGeom>
          <a:noFill/>
        </p:spPr>
        <p:txBody>
          <a:bodyPr wrap="square">
            <a:spAutoFit/>
          </a:bodyPr>
          <a:lstStyle/>
          <a:p>
            <a:pPr algn="ctr">
              <a:defRPr sz="2800" b="1">
                <a:solidFill>
                  <a:srgbClr val="FFFFFF"/>
                </a:solidFill>
                <a:latin typeface="Arial"/>
              </a:defRPr>
            </a:pPr>
            <a:r>
              <a:t>Build</a:t>
            </a:r>
          </a:p>
        </p:txBody>
      </p:sp>
      <p:sp>
        <p:nvSpPr>
          <p:cNvPr id="10" name="Rounded Rectangle 9"/>
          <p:cNvSpPr/>
          <p:nvPr/>
        </p:nvSpPr>
        <p:spPr>
          <a:xfrm>
            <a:off x="5303520" y="2194560"/>
            <a:ext cx="192024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5BC2A7"/>
                </a:solidFill>
                <a:latin typeface="Arial"/>
              </a:defRPr>
            </a:pPr>
            <a:r>
              <a:t>6-12 weeks</a:t>
            </a:r>
          </a:p>
        </p:txBody>
      </p:sp>
      <p:sp>
        <p:nvSpPr>
          <p:cNvPr id="11" name="TextBox 10"/>
          <p:cNvSpPr txBox="1"/>
          <p:nvPr/>
        </p:nvSpPr>
        <p:spPr>
          <a:xfrm>
            <a:off x="4754880" y="2834640"/>
            <a:ext cx="3017520" cy="954107"/>
          </a:xfrm>
          <a:prstGeom prst="rect">
            <a:avLst/>
          </a:prstGeom>
          <a:noFill/>
        </p:spPr>
        <p:txBody>
          <a:bodyPr wrap="square">
            <a:spAutoFit/>
          </a:bodyPr>
          <a:lstStyle/>
          <a:p>
            <a:pPr algn="ctr">
              <a:defRPr sz="1400" b="0">
                <a:solidFill>
                  <a:srgbClr val="FFFFFF"/>
                </a:solidFill>
                <a:latin typeface="Arial"/>
              </a:defRPr>
            </a:pPr>
            <a:r>
              <a:rPr dirty="0"/>
              <a:t>Deploy your autonomy</a:t>
            </a:r>
            <a:br>
              <a:rPr dirty="0"/>
            </a:br>
            <a:r>
              <a:rPr dirty="0"/>
              <a:t>safety net</a:t>
            </a:r>
            <a:br>
              <a:rPr dirty="0"/>
            </a:br>
            <a:r>
              <a:rPr dirty="0"/>
              <a:t>Governance + </a:t>
            </a:r>
            <a:r>
              <a:rPr lang="en-US" dirty="0"/>
              <a:t>first autonomous agents </a:t>
            </a:r>
            <a:endParaRPr dirty="0"/>
          </a:p>
        </p:txBody>
      </p:sp>
      <p:sp>
        <p:nvSpPr>
          <p:cNvPr id="12" name="Rounded Rectangle 11"/>
          <p:cNvSpPr/>
          <p:nvPr/>
        </p:nvSpPr>
        <p:spPr>
          <a:xfrm>
            <a:off x="8321040" y="1371600"/>
            <a:ext cx="3566160" cy="411480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1554480"/>
            <a:ext cx="3566160" cy="548640"/>
          </a:xfrm>
          <a:prstGeom prst="rect">
            <a:avLst/>
          </a:prstGeom>
          <a:noFill/>
        </p:spPr>
        <p:txBody>
          <a:bodyPr wrap="square">
            <a:spAutoFit/>
          </a:bodyPr>
          <a:lstStyle/>
          <a:p>
            <a:pPr algn="ctr">
              <a:defRPr sz="2800" b="1">
                <a:solidFill>
                  <a:srgbClr val="FFFFFF"/>
                </a:solidFill>
                <a:latin typeface="Arial"/>
              </a:defRPr>
            </a:pPr>
            <a:r>
              <a:t>Scale</a:t>
            </a:r>
          </a:p>
        </p:txBody>
      </p:sp>
      <p:sp>
        <p:nvSpPr>
          <p:cNvPr id="14" name="Rounded Rectangle 13"/>
          <p:cNvSpPr/>
          <p:nvPr/>
        </p:nvSpPr>
        <p:spPr>
          <a:xfrm>
            <a:off x="9144000" y="2194560"/>
            <a:ext cx="192024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5BB41"/>
                </a:solidFill>
                <a:latin typeface="Arial"/>
              </a:defRPr>
            </a:pPr>
            <a:r>
              <a:t>Ongoing</a:t>
            </a:r>
          </a:p>
        </p:txBody>
      </p:sp>
      <p:sp>
        <p:nvSpPr>
          <p:cNvPr id="15" name="TextBox 14"/>
          <p:cNvSpPr txBox="1"/>
          <p:nvPr/>
        </p:nvSpPr>
        <p:spPr>
          <a:xfrm>
            <a:off x="8595360" y="2834640"/>
            <a:ext cx="3017520" cy="2468880"/>
          </a:xfrm>
          <a:prstGeom prst="rect">
            <a:avLst/>
          </a:prstGeom>
          <a:noFill/>
        </p:spPr>
        <p:txBody>
          <a:bodyPr wrap="square">
            <a:spAutoFit/>
          </a:bodyPr>
          <a:lstStyle/>
          <a:p>
            <a:pPr algn="ctr">
              <a:defRPr sz="1400" b="0">
                <a:solidFill>
                  <a:srgbClr val="FFFFFF"/>
                </a:solidFill>
                <a:latin typeface="Arial"/>
              </a:defRPr>
            </a:pPr>
            <a:r>
              <a:t>Progress to</a:t>
            </a:r>
            <a:br/>
            <a:r>
              <a:t>Stage 7-8</a:t>
            </a:r>
            <a:br/>
            <a:r>
              <a:t>Full orchestration</a:t>
            </a:r>
          </a:p>
        </p:txBody>
      </p:sp>
      <p:sp>
        <p:nvSpPr>
          <p:cNvPr id="16" name="Rounded Rectangle 15"/>
          <p:cNvSpPr/>
          <p:nvPr/>
        </p:nvSpPr>
        <p:spPr>
          <a:xfrm>
            <a:off x="731520" y="5669280"/>
            <a:ext cx="10698480" cy="8229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806440"/>
            <a:ext cx="10332720" cy="548640"/>
          </a:xfrm>
          <a:prstGeom prst="rect">
            <a:avLst/>
          </a:prstGeom>
          <a:noFill/>
        </p:spPr>
        <p:txBody>
          <a:bodyPr wrap="square">
            <a:spAutoFit/>
          </a:bodyPr>
          <a:lstStyle/>
          <a:p>
            <a:pPr algn="ctr">
              <a:defRPr sz="1600" b="1">
                <a:solidFill>
                  <a:srgbClr val="333333"/>
                </a:solidFill>
                <a:latin typeface="Arial"/>
              </a:defRPr>
            </a:pPr>
            <a:r>
              <a:t>We've helped enterprises progress from Stage 3 to Stage 8 systematically</a:t>
            </a:r>
          </a:p>
        </p:txBody>
      </p:sp>
      <p:sp>
        <p:nvSpPr>
          <p:cNvPr id="18" name="TextBox 17"/>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23</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31A904D-701E-F411-7EC6-F6604C221D44}"/>
              </a:ext>
            </a:extLst>
          </p:cNvPr>
          <p:cNvSpPr>
            <a:spLocks noGrp="1"/>
          </p:cNvSpPr>
          <p:nvPr>
            <p:ph type="body" sz="quarter" idx="18"/>
          </p:nvPr>
        </p:nvSpPr>
        <p:spPr/>
        <p:txBody>
          <a:bodyPr/>
          <a:lstStyle/>
          <a:p>
            <a:r>
              <a:rPr lang="en-US" dirty="0"/>
              <a:t>Questions</a:t>
            </a:r>
          </a:p>
        </p:txBody>
      </p:sp>
      <p:sp>
        <p:nvSpPr>
          <p:cNvPr id="5" name="Text Placeholder 4">
            <a:extLst>
              <a:ext uri="{FF2B5EF4-FFF2-40B4-BE49-F238E27FC236}">
                <a16:creationId xmlns:a16="http://schemas.microsoft.com/office/drawing/2014/main" id="{B4D5E722-7106-C484-4AE6-6BD089335AC9}"/>
              </a:ext>
            </a:extLst>
          </p:cNvPr>
          <p:cNvSpPr>
            <a:spLocks noGrp="1"/>
          </p:cNvSpPr>
          <p:nvPr>
            <p:ph type="body" sz="quarter" idx="16"/>
          </p:nvPr>
        </p:nvSpPr>
        <p:spPr/>
        <p:txBody>
          <a:bodyPr>
            <a:normAutofit fontScale="40000" lnSpcReduction="20000"/>
          </a:bodyPr>
          <a:lstStyle/>
          <a:p>
            <a:endParaRPr lang="en-US"/>
          </a:p>
        </p:txBody>
      </p:sp>
      <p:sp>
        <p:nvSpPr>
          <p:cNvPr id="4" name="Title 3">
            <a:extLst>
              <a:ext uri="{FF2B5EF4-FFF2-40B4-BE49-F238E27FC236}">
                <a16:creationId xmlns:a16="http://schemas.microsoft.com/office/drawing/2014/main" id="{644D5709-BDD4-BB6B-6639-0725D02441F4}"/>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DD9EE30B-A239-70CD-B1EE-7CFE26D4BAB8}"/>
              </a:ext>
            </a:extLst>
          </p:cNvPr>
          <p:cNvSpPr>
            <a:spLocks noGrp="1"/>
          </p:cNvSpPr>
          <p:nvPr>
            <p:ph type="body" sz="quarter" idx="17"/>
          </p:nvPr>
        </p:nvSpPr>
        <p:spPr/>
        <p:txBody>
          <a:bodyPr/>
          <a:lstStyle/>
          <a:p>
            <a:pPr algn="ctr"/>
            <a:r>
              <a:rPr lang="en-US" dirty="0"/>
              <a:t>Anything we want to dive further into?</a:t>
            </a:r>
          </a:p>
        </p:txBody>
      </p:sp>
    </p:spTree>
    <p:extLst>
      <p:ext uri="{BB962C8B-B14F-4D97-AF65-F5344CB8AC3E}">
        <p14:creationId xmlns:p14="http://schemas.microsoft.com/office/powerpoint/2010/main" val="13881581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val 1"/>
          <p:cNvSpPr/>
          <p:nvPr/>
        </p:nvSpPr>
        <p:spPr>
          <a:xfrm>
            <a:off x="8229600" y="-1828800"/>
            <a:ext cx="6400800" cy="64008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4572000"/>
            <a:ext cx="3657600" cy="36576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828800"/>
            <a:ext cx="7315200" cy="1371600"/>
          </a:xfrm>
          <a:prstGeom prst="rect">
            <a:avLst/>
          </a:prstGeom>
          <a:noFill/>
        </p:spPr>
        <p:txBody>
          <a:bodyPr wrap="square">
            <a:spAutoFit/>
          </a:bodyPr>
          <a:lstStyle/>
          <a:p>
            <a:pPr algn="l">
              <a:defRPr sz="4000" b="1">
                <a:solidFill>
                  <a:srgbClr val="FFFFFF"/>
                </a:solidFill>
                <a:latin typeface="Arial"/>
              </a:defRPr>
            </a:pPr>
            <a:r>
              <a:t>Let's Build Your</a:t>
            </a:r>
            <a:br/>
            <a:r>
              <a:t>Intelligence Operating System</a:t>
            </a:r>
          </a:p>
        </p:txBody>
      </p:sp>
      <p:sp>
        <p:nvSpPr>
          <p:cNvPr id="5" name="TextBox 4"/>
          <p:cNvSpPr txBox="1"/>
          <p:nvPr/>
        </p:nvSpPr>
        <p:spPr>
          <a:xfrm>
            <a:off x="731520" y="3657600"/>
            <a:ext cx="6400800" cy="914400"/>
          </a:xfrm>
          <a:prstGeom prst="rect">
            <a:avLst/>
          </a:prstGeom>
          <a:noFill/>
        </p:spPr>
        <p:txBody>
          <a:bodyPr wrap="square">
            <a:spAutoFit/>
          </a:bodyPr>
          <a:lstStyle/>
          <a:p>
            <a:pPr algn="l">
              <a:defRPr sz="2000" b="0">
                <a:solidFill>
                  <a:srgbClr val="5BC2A7"/>
                </a:solidFill>
                <a:latin typeface="Arial"/>
              </a:defRPr>
            </a:pPr>
            <a:r>
              <a:t>From Stage 3 to Stage 8—with governance,</a:t>
            </a:r>
            <a:br/>
            <a:r>
              <a:t>trust, and human direction at the center.</a:t>
            </a:r>
          </a:p>
        </p:txBody>
      </p:sp>
      <p:sp>
        <p:nvSpPr>
          <p:cNvPr id="6" name="Rounded Rectangle 5"/>
          <p:cNvSpPr/>
          <p:nvPr/>
        </p:nvSpPr>
        <p:spPr>
          <a:xfrm>
            <a:off x="731520" y="5029200"/>
            <a:ext cx="50292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5257800"/>
            <a:ext cx="5029200" cy="646331"/>
          </a:xfrm>
          <a:prstGeom prst="rect">
            <a:avLst/>
          </a:prstGeom>
          <a:noFill/>
        </p:spPr>
        <p:txBody>
          <a:bodyPr wrap="square">
            <a:spAutoFit/>
          </a:bodyPr>
          <a:lstStyle/>
          <a:p>
            <a:pPr algn="ctr">
              <a:defRPr sz="1800" b="1">
                <a:solidFill>
                  <a:srgbClr val="005596"/>
                </a:solidFill>
                <a:latin typeface="Arial"/>
              </a:defRPr>
            </a:pPr>
            <a:r>
              <a:rPr lang="en-US" dirty="0"/>
              <a:t>We can discuss how to bring this to your organization.</a:t>
            </a:r>
            <a:endParaRPr dirty="0"/>
          </a:p>
        </p:txBody>
      </p:sp>
      <p:sp>
        <p:nvSpPr>
          <p:cNvPr id="8" name="TextBox 7"/>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5596"/>
                </a:solidFill>
                <a:latin typeface="Poppins"/>
              </a:rPr>
              <a:t>Before We Begin</a:t>
            </a:r>
          </a:p>
        </p:txBody>
      </p:sp>
      <p:sp>
        <p:nvSpPr>
          <p:cNvPr id="3" name="Content Placeholder 2"/>
          <p:cNvSpPr>
            <a:spLocks noGrp="1"/>
          </p:cNvSpPr>
          <p:nvPr>
            <p:ph idx="10" sz="quarter"/>
          </p:nvPr>
        </p:nvSpPr>
        <p:spPr/>
        <p:txBody>
          <a:bodyPr wrap="square"/>
          <a:lstStyle/>
          <a:p>
            <a:pPr>
              <a:spcAft>
                <a:spcPts val="400"/>
              </a:spcAft>
            </a:pPr>
            <a:r>
              <a:rPr sz="1400" b="0">
                <a:solidFill>
                  <a:srgbClr val="333333"/>
                </a:solidFill>
                <a:latin typeface="Khula"/>
              </a:rPr>
              <a:t>1. Where do you spend most of your time in a typical workday?</a:t>
            </a:r>
          </a:p>
          <a:p>
            <a:pPr>
              <a:spcAft>
                <a:spcPts val="400"/>
              </a:spcAft>
            </a:pPr>
            <a:r>
              <a:rPr sz="1400" b="0">
                <a:solidFill>
                  <a:srgbClr val="333333"/>
                </a:solidFill>
                <a:latin typeface="Khula"/>
              </a:rPr>
              <a:t>   (Not the most important thing — the biggest time sink)</a:t>
            </a:r>
          </a:p>
          <a:p>
            <a:pPr>
              <a:spcAft>
                <a:spcPts val="400"/>
              </a:spcAft>
            </a:pPr>
          </a:p>
          <a:p>
            <a:pPr>
              <a:spcAft>
                <a:spcPts val="400"/>
              </a:spcAft>
            </a:pPr>
            <a:r>
              <a:rPr sz="1400" b="0">
                <a:solidFill>
                  <a:srgbClr val="333333"/>
                </a:solidFill>
                <a:latin typeface="Khula"/>
              </a:rPr>
              <a:t>2. What do you already know or believe about AI?</a:t>
            </a:r>
          </a:p>
          <a:p>
            <a:pPr>
              <a:spcAft>
                <a:spcPts val="400"/>
              </a:spcAft>
            </a:pPr>
            <a:r>
              <a:rPr sz="1400" b="0">
                <a:solidFill>
                  <a:srgbClr val="333333"/>
                </a:solidFill>
                <a:latin typeface="Khula"/>
              </a:rPr>
              <a:t>   How have you started using it (if at all)?</a:t>
            </a:r>
          </a:p>
          <a:p>
            <a:pPr>
              <a:spcAft>
                <a:spcPts val="400"/>
              </a:spcAft>
            </a:pPr>
          </a:p>
          <a:p>
            <a:pPr>
              <a:spcAft>
                <a:spcPts val="400"/>
              </a:spcAft>
            </a:pPr>
            <a:r>
              <a:rPr sz="1400" b="1">
                <a:solidFill>
                  <a:srgbClr val="333333"/>
                </a:solidFill>
                <a:latin typeface="Khula"/>
              </a:rPr>
              <a:t>Write these down. We'll come back to them.</a:t>
            </a:r>
          </a:p>
        </p:txBody>
      </p:sp>
      <p:sp>
        <p:nvSpPr>
          <p:cNvPr id="4" name="Text Placeholder 3"/>
          <p:cNvSpPr>
            <a:spLocks noGrp="1"/>
          </p:cNvSpPr>
          <p:nvPr>
            <p:ph type="body" idx="11" sz="quarter"/>
          </p:nvPr>
        </p:nvSpPr>
        <p:spPr/>
        <p:txBody>
          <a:bodyPr/>
          <a:lstStyle/>
          <a:p>
            <a:r>
              <a:rPr sz="1400" b="0">
                <a:solidFill>
                  <a:srgbClr val="005596"/>
                </a:solidFill>
                <a:latin typeface="Khula"/>
              </a:rPr>
              <a:t>Two questions for you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5596"/>
                </a:solidFill>
                <a:latin typeface="Poppins"/>
              </a:rPr>
              <a:t>AI Is Your Wingman, Not the Lead Pilot</a:t>
            </a:r>
          </a:p>
        </p:txBody>
      </p:sp>
      <p:sp>
        <p:nvSpPr>
          <p:cNvPr id="3" name="Content Placeholder 2"/>
          <p:cNvSpPr>
            <a:spLocks noGrp="1"/>
          </p:cNvSpPr>
          <p:nvPr>
            <p:ph idx="10" sz="quarter"/>
          </p:nvPr>
        </p:nvSpPr>
        <p:spPr/>
        <p:txBody>
          <a:bodyPr wrap="square"/>
          <a:lstStyle/>
          <a:p>
            <a:pPr>
              <a:spcAft>
                <a:spcPts val="400"/>
              </a:spcAft>
            </a:pPr>
            <a:r>
              <a:rPr sz="1400" b="1">
                <a:solidFill>
                  <a:srgbClr val="333333"/>
                </a:solidFill>
                <a:latin typeface="Khula"/>
              </a:rPr>
              <a:t>The Boeing Loyal Wingman: fully autonomous weapons vehicle.</a:t>
            </a:r>
          </a:p>
          <a:p>
            <a:pPr>
              <a:spcAft>
                <a:spcPts val="400"/>
              </a:spcAft>
            </a:pPr>
            <a:r>
              <a:rPr sz="1400" b="0">
                <a:solidFill>
                  <a:srgbClr val="333333"/>
                </a:solidFill>
                <a:latin typeface="Khula"/>
              </a:rPr>
              <a:t>No cockpit. No drone operator. If it decides to act, nothing stops it.</a:t>
            </a:r>
          </a:p>
          <a:p>
            <a:pPr>
              <a:spcAft>
                <a:spcPts val="400"/>
              </a:spcAft>
            </a:pPr>
          </a:p>
          <a:p>
            <a:pPr>
              <a:spcAft>
                <a:spcPts val="400"/>
              </a:spcAft>
            </a:pPr>
            <a:r>
              <a:rPr sz="1400" b="1">
                <a:solidFill>
                  <a:srgbClr val="333333"/>
                </a:solidFill>
                <a:latin typeface="Khula"/>
              </a:rPr>
              <a:t>But the lead pilot is responsible.</a:t>
            </a:r>
          </a:p>
          <a:p>
            <a:pPr>
              <a:spcAft>
                <a:spcPts val="400"/>
              </a:spcAft>
            </a:pPr>
            <a:r>
              <a:rPr sz="1400" b="0">
                <a:solidFill>
                  <a:srgbClr val="333333"/>
                </a:solidFill>
                <a:latin typeface="Khula"/>
              </a:rPr>
              <a:t>If the wingman commits a war crime, the lead pilot faces the tribunal.</a:t>
            </a:r>
          </a:p>
          <a:p>
            <a:pPr>
              <a:spcAft>
                <a:spcPts val="400"/>
              </a:spcAft>
            </a:pPr>
          </a:p>
          <a:p>
            <a:pPr>
              <a:spcAft>
                <a:spcPts val="400"/>
              </a:spcAft>
            </a:pPr>
            <a:r>
              <a:rPr sz="1400" b="0">
                <a:solidFill>
                  <a:srgbClr val="333333"/>
                </a:solidFill>
                <a:latin typeface="Khula"/>
              </a:rPr>
              <a:t>The same applies to AI in your business:</a:t>
            </a:r>
          </a:p>
          <a:p>
            <a:pPr>
              <a:spcAft>
                <a:spcPts val="400"/>
              </a:spcAft>
            </a:pPr>
            <a:r>
              <a:rPr sz="1400" b="0">
                <a:solidFill>
                  <a:srgbClr val="333333"/>
                </a:solidFill>
                <a:latin typeface="Khula"/>
              </a:rPr>
              <a:t>• Agents can operate autonomously (Stages 5-8)</a:t>
            </a:r>
          </a:p>
          <a:p>
            <a:pPr>
              <a:spcAft>
                <a:spcPts val="400"/>
              </a:spcAft>
            </a:pPr>
            <a:r>
              <a:rPr sz="1400" b="0">
                <a:solidFill>
                  <a:srgbClr val="333333"/>
                </a:solidFill>
                <a:latin typeface="Khula"/>
              </a:rPr>
              <a:t>• But YOU own the outcomes</a:t>
            </a:r>
          </a:p>
          <a:p>
            <a:pPr>
              <a:spcAft>
                <a:spcPts val="400"/>
              </a:spcAft>
            </a:pPr>
            <a:r>
              <a:rPr sz="1400" b="0">
                <a:solidFill>
                  <a:srgbClr val="333333"/>
                </a:solidFill>
                <a:latin typeface="Khula"/>
              </a:rPr>
              <a:t>• Governance is your chain of command</a:t>
            </a:r>
          </a:p>
        </p:txBody>
      </p:sp>
      <p:sp>
        <p:nvSpPr>
          <p:cNvPr id="4" name="Text Placeholder 3"/>
          <p:cNvSpPr>
            <a:spLocks noGrp="1"/>
          </p:cNvSpPr>
          <p:nvPr>
            <p:ph type="body" idx="11" sz="quarter"/>
          </p:nvPr>
        </p:nvSpPr>
        <p:spPr/>
        <p:txBody>
          <a:bodyPr/>
          <a:lstStyle/>
          <a:p>
            <a:r>
              <a:rPr sz="1400" b="0">
                <a:solidFill>
                  <a:srgbClr val="005596"/>
                </a:solidFill>
                <a:latin typeface="Khula"/>
              </a:rPr>
              <a:t>Accountability cannot be delegated to a machine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5596"/>
                </a:solidFill>
                <a:latin typeface="Poppins"/>
              </a:rPr>
              <a:t>Pause: Where Does This Land?</a:t>
            </a:r>
          </a:p>
        </p:txBody>
      </p:sp>
      <p:sp>
        <p:nvSpPr>
          <p:cNvPr id="3" name="Content Placeholder 2"/>
          <p:cNvSpPr>
            <a:spLocks noGrp="1"/>
          </p:cNvSpPr>
          <p:nvPr>
            <p:ph idx="10" sz="quarter"/>
          </p:nvPr>
        </p:nvSpPr>
        <p:spPr/>
        <p:txBody>
          <a:bodyPr wrap="square"/>
          <a:lstStyle/>
          <a:p>
            <a:pPr>
              <a:spcAft>
                <a:spcPts val="400"/>
              </a:spcAft>
            </a:pPr>
            <a:r>
              <a:rPr sz="1400" b="0">
                <a:solidFill>
                  <a:srgbClr val="333333"/>
                </a:solidFill>
                <a:latin typeface="Khula"/>
              </a:rPr>
              <a:t>Your biggest time sink — which industry vertical does it relate to?</a:t>
            </a:r>
          </a:p>
          <a:p>
            <a:pPr>
              <a:spcAft>
                <a:spcPts val="400"/>
              </a:spcAft>
            </a:pPr>
          </a:p>
          <a:p>
            <a:pPr>
              <a:spcAft>
                <a:spcPts val="400"/>
              </a:spcAft>
            </a:pPr>
            <a:r>
              <a:rPr sz="1400" b="0">
                <a:solidFill>
                  <a:srgbClr val="333333"/>
                </a:solidFill>
                <a:latin typeface="Khula"/>
              </a:rPr>
              <a:t>Could an agent handle part of it?</a:t>
            </a:r>
          </a:p>
          <a:p>
            <a:pPr>
              <a:spcAft>
                <a:spcPts val="400"/>
              </a:spcAft>
            </a:pPr>
            <a:r>
              <a:rPr sz="1400" b="0">
                <a:solidFill>
                  <a:srgbClr val="333333"/>
                </a:solidFill>
                <a:latin typeface="Khula"/>
              </a:rPr>
              <a:t>What stage would that require?</a:t>
            </a:r>
          </a:p>
          <a:p>
            <a:pPr>
              <a:spcAft>
                <a:spcPts val="400"/>
              </a:spcAft>
            </a:pPr>
          </a:p>
          <a:p>
            <a:pPr>
              <a:spcAft>
                <a:spcPts val="400"/>
              </a:spcAft>
            </a:pPr>
            <a:r>
              <a:rPr sz="1400" b="1">
                <a:solidFill>
                  <a:srgbClr val="333333"/>
                </a:solidFill>
                <a:latin typeface="Khula"/>
              </a:rPr>
              <a:t>Turn to a neighbor and share one reaction.</a:t>
            </a:r>
          </a:p>
        </p:txBody>
      </p:sp>
      <p:sp>
        <p:nvSpPr>
          <p:cNvPr id="4" name="Text Placeholder 3"/>
          <p:cNvSpPr>
            <a:spLocks noGrp="1"/>
          </p:cNvSpPr>
          <p:nvPr>
            <p:ph type="body" idx="11" sz="quarter"/>
          </p:nvPr>
        </p:nvSpPr>
        <p:spPr/>
        <p:txBody>
          <a:bodyPr/>
          <a:lstStyle/>
          <a:p>
            <a:r>
              <a:rPr sz="1400" b="0">
                <a:solidFill>
                  <a:srgbClr val="005596"/>
                </a:solidFill>
                <a:latin typeface="Khula"/>
              </a:rPr>
              <a:t>Looking back at what you wrote at the start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5596"/>
                </a:solidFill>
                <a:latin typeface="Poppins"/>
              </a:rPr>
              <a:t>AI Impact: Is the Task Demand-Limited?</a:t>
            </a:r>
          </a:p>
        </p:txBody>
      </p:sp>
      <p:sp>
        <p:nvSpPr>
          <p:cNvPr id="3" name="Content Placeholder 2"/>
          <p:cNvSpPr>
            <a:spLocks noGrp="1"/>
          </p:cNvSpPr>
          <p:nvPr>
            <p:ph idx="10" sz="quarter"/>
          </p:nvPr>
        </p:nvSpPr>
        <p:spPr/>
        <p:txBody>
          <a:bodyPr wrap="square"/>
          <a:lstStyle/>
          <a:p>
            <a:pPr>
              <a:spcAft>
                <a:spcPts val="400"/>
              </a:spcAft>
            </a:pPr>
            <a:r>
              <a:rPr sz="1400" b="1">
                <a:solidFill>
                  <a:srgbClr val="333333"/>
                </a:solidFill>
                <a:latin typeface="Khula"/>
              </a:rPr>
              <a:t>SUPPLY-LIMITED TASKS (AI compresses time):</a:t>
            </a:r>
          </a:p>
          <a:p>
            <a:pPr>
              <a:spcAft>
                <a:spcPts val="400"/>
              </a:spcAft>
            </a:pPr>
            <a:r>
              <a:rPr sz="1400" b="0">
                <a:solidFill>
                  <a:srgbClr val="333333"/>
                </a:solidFill>
                <a:latin typeface="Khula"/>
              </a:rPr>
              <a:t>• Writing reports: 4 hours → 30 minutes</a:t>
            </a:r>
          </a:p>
          <a:p>
            <a:pPr>
              <a:spcAft>
                <a:spcPts val="400"/>
              </a:spcAft>
            </a:pPr>
            <a:r>
              <a:rPr sz="1400" b="0">
                <a:solidFill>
                  <a:srgbClr val="333333"/>
                </a:solidFill>
                <a:latin typeface="Khula"/>
              </a:rPr>
              <a:t>• Code reviews: 2 hours → 20 minutes</a:t>
            </a:r>
          </a:p>
          <a:p>
            <a:pPr>
              <a:spcAft>
                <a:spcPts val="400"/>
              </a:spcAft>
            </a:pPr>
            <a:r>
              <a:rPr sz="1400" b="0">
                <a:solidFill>
                  <a:srgbClr val="333333"/>
                </a:solidFill>
                <a:latin typeface="Khula"/>
              </a:rPr>
              <a:t>• Data analysis: full day → 1 hour</a:t>
            </a:r>
          </a:p>
          <a:p>
            <a:pPr>
              <a:spcAft>
                <a:spcPts val="400"/>
              </a:spcAft>
            </a:pPr>
          </a:p>
          <a:p>
            <a:pPr>
              <a:spcAft>
                <a:spcPts val="400"/>
              </a:spcAft>
            </a:pPr>
            <a:r>
              <a:rPr sz="1400" b="1">
                <a:solidFill>
                  <a:srgbClr val="333333"/>
                </a:solidFill>
                <a:latin typeface="Khula"/>
              </a:rPr>
              <a:t>DEMAND-LIMITED TASKS (AI doesn't help much):</a:t>
            </a:r>
          </a:p>
          <a:p>
            <a:pPr>
              <a:spcAft>
                <a:spcPts val="400"/>
              </a:spcAft>
            </a:pPr>
            <a:r>
              <a:rPr sz="1400" b="0">
                <a:solidFill>
                  <a:srgbClr val="333333"/>
                </a:solidFill>
                <a:latin typeface="Khula"/>
              </a:rPr>
              <a:t>• You only need 1 invoice per transaction</a:t>
            </a:r>
          </a:p>
          <a:p>
            <a:pPr>
              <a:spcAft>
                <a:spcPts val="400"/>
              </a:spcAft>
            </a:pPr>
            <a:r>
              <a:rPr sz="1400" b="0">
                <a:solidFill>
                  <a:srgbClr val="333333"/>
                </a:solidFill>
                <a:latin typeface="Khula"/>
              </a:rPr>
              <a:t>• You only file taxes once per year</a:t>
            </a:r>
          </a:p>
          <a:p>
            <a:pPr>
              <a:spcAft>
                <a:spcPts val="400"/>
              </a:spcAft>
            </a:pPr>
            <a:r>
              <a:rPr sz="1400" b="0">
                <a:solidFill>
                  <a:srgbClr val="333333"/>
                </a:solidFill>
                <a:latin typeface="Khula"/>
              </a:rPr>
              <a:t>• The bottleneck is the customer, not the task</a:t>
            </a:r>
          </a:p>
          <a:p>
            <a:pPr>
              <a:spcAft>
                <a:spcPts val="400"/>
              </a:spcAft>
            </a:pPr>
          </a:p>
          <a:p>
            <a:pPr>
              <a:spcAft>
                <a:spcPts val="400"/>
              </a:spcAft>
            </a:pPr>
            <a:r>
              <a:rPr sz="1400" b="1">
                <a:solidFill>
                  <a:srgbClr val="333333"/>
                </a:solidFill>
                <a:latin typeface="Khula"/>
              </a:rPr>
              <a:t>Ask: If AI made this 10x faster, would you do 10x more of it?</a:t>
            </a:r>
          </a:p>
        </p:txBody>
      </p:sp>
      <p:sp>
        <p:nvSpPr>
          <p:cNvPr id="4" name="Text Placeholder 3"/>
          <p:cNvSpPr>
            <a:spLocks noGrp="1"/>
          </p:cNvSpPr>
          <p:nvPr>
            <p:ph type="body" idx="11" sz="quarter"/>
          </p:nvPr>
        </p:nvSpPr>
        <p:spPr/>
        <p:txBody>
          <a:bodyPr/>
          <a:lstStyle/>
          <a:p>
            <a:r>
              <a:rPr sz="1400" b="0">
                <a:solidFill>
                  <a:srgbClr val="005596"/>
                </a:solidFill>
                <a:latin typeface="Khula"/>
              </a:rPr>
              <a:t>The supply vs. demand lens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5596"/>
                </a:solidFill>
                <a:latin typeface="Poppins"/>
              </a:rPr>
              <a:t>AI Impact: Which Tasks Collapse?</a:t>
            </a:r>
          </a:p>
        </p:txBody>
      </p:sp>
      <p:sp>
        <p:nvSpPr>
          <p:cNvPr id="3" name="Content Placeholder 2"/>
          <p:cNvSpPr>
            <a:spLocks noGrp="1"/>
          </p:cNvSpPr>
          <p:nvPr>
            <p:ph idx="10" sz="quarter"/>
          </p:nvPr>
        </p:nvSpPr>
        <p:spPr/>
        <p:txBody>
          <a:bodyPr wrap="square"/>
          <a:lstStyle/>
          <a:p>
            <a:pPr>
              <a:spcAft>
                <a:spcPts val="400"/>
              </a:spcAft>
            </a:pPr>
            <a:r>
              <a:rPr sz="1400" b="1">
                <a:solidFill>
                  <a:srgbClr val="333333"/>
                </a:solidFill>
                <a:latin typeface="Khula"/>
              </a:rPr>
              <a:t>COLLAPSIBLE (the task itself goes away):</a:t>
            </a:r>
          </a:p>
          <a:p>
            <a:pPr>
              <a:spcAft>
                <a:spcPts val="400"/>
              </a:spcAft>
            </a:pPr>
            <a:r>
              <a:rPr sz="1400" b="0">
                <a:solidFill>
                  <a:srgbClr val="333333"/>
                </a:solidFill>
                <a:latin typeface="Khula"/>
              </a:rPr>
              <a:t>• Manual data entry → auto-extraction</a:t>
            </a:r>
          </a:p>
          <a:p>
            <a:pPr>
              <a:spcAft>
                <a:spcPts val="400"/>
              </a:spcAft>
            </a:pPr>
            <a:r>
              <a:rPr sz="1400" b="0">
                <a:solidFill>
                  <a:srgbClr val="333333"/>
                </a:solidFill>
                <a:latin typeface="Khula"/>
              </a:rPr>
              <a:t>• Scheduling coordination → AI scheduler</a:t>
            </a:r>
          </a:p>
          <a:p>
            <a:pPr>
              <a:spcAft>
                <a:spcPts val="400"/>
              </a:spcAft>
            </a:pPr>
            <a:r>
              <a:rPr sz="1400" b="0">
                <a:solidFill>
                  <a:srgbClr val="333333"/>
                </a:solidFill>
                <a:latin typeface="Khula"/>
              </a:rPr>
              <a:t>• First-pass document review → AI triage</a:t>
            </a:r>
          </a:p>
          <a:p>
            <a:pPr>
              <a:spcAft>
                <a:spcPts val="400"/>
              </a:spcAft>
            </a:pPr>
          </a:p>
          <a:p>
            <a:pPr>
              <a:spcAft>
                <a:spcPts val="400"/>
              </a:spcAft>
            </a:pPr>
            <a:r>
              <a:rPr sz="1400" b="1">
                <a:solidFill>
                  <a:srgbClr val="333333"/>
                </a:solidFill>
                <a:latin typeface="Khula"/>
              </a:rPr>
              <a:t>NON-COLLAPSIBLE (still needs a human, just faster):</a:t>
            </a:r>
          </a:p>
          <a:p>
            <a:pPr>
              <a:spcAft>
                <a:spcPts val="400"/>
              </a:spcAft>
            </a:pPr>
            <a:r>
              <a:rPr sz="1400" b="0">
                <a:solidFill>
                  <a:srgbClr val="333333"/>
                </a:solidFill>
                <a:latin typeface="Khula"/>
              </a:rPr>
              <a:t>• Strategic decisions</a:t>
            </a:r>
          </a:p>
          <a:p>
            <a:pPr>
              <a:spcAft>
                <a:spcPts val="400"/>
              </a:spcAft>
            </a:pPr>
            <a:r>
              <a:rPr sz="1400" b="0">
                <a:solidFill>
                  <a:srgbClr val="333333"/>
                </a:solidFill>
                <a:latin typeface="Khula"/>
              </a:rPr>
              <a:t>• Client relationship management</a:t>
            </a:r>
          </a:p>
          <a:p>
            <a:pPr>
              <a:spcAft>
                <a:spcPts val="400"/>
              </a:spcAft>
            </a:pPr>
            <a:r>
              <a:rPr sz="1400" b="0">
                <a:solidFill>
                  <a:srgbClr val="333333"/>
                </a:solidFill>
                <a:latin typeface="Khula"/>
              </a:rPr>
              <a:t>• Creative direction</a:t>
            </a:r>
          </a:p>
          <a:p>
            <a:pPr>
              <a:spcAft>
                <a:spcPts val="400"/>
              </a:spcAft>
            </a:pPr>
          </a:p>
          <a:p>
            <a:pPr>
              <a:spcAft>
                <a:spcPts val="400"/>
              </a:spcAft>
            </a:pPr>
            <a:r>
              <a:rPr sz="1400" b="1">
                <a:solidFill>
                  <a:srgbClr val="333333"/>
                </a:solidFill>
                <a:latin typeface="Khula"/>
              </a:rPr>
              <a:t>The question isn't 'will AI take my job?'</a:t>
            </a:r>
          </a:p>
          <a:p>
            <a:pPr>
              <a:spcAft>
                <a:spcPts val="400"/>
              </a:spcAft>
            </a:pPr>
            <a:r>
              <a:rPr sz="1400" b="1">
                <a:solidFill>
                  <a:srgbClr val="333333"/>
                </a:solidFill>
                <a:latin typeface="Khula"/>
              </a:rPr>
              <a:t>It's 'which parts of my job collapse?'</a:t>
            </a:r>
          </a:p>
        </p:txBody>
      </p:sp>
      <p:sp>
        <p:nvSpPr>
          <p:cNvPr id="4" name="Text Placeholder 3"/>
          <p:cNvSpPr>
            <a:spLocks noGrp="1"/>
          </p:cNvSpPr>
          <p:nvPr>
            <p:ph type="body" idx="11" sz="quarter"/>
          </p:nvPr>
        </p:nvSpPr>
        <p:spPr/>
        <p:txBody>
          <a:bodyPr/>
          <a:lstStyle/>
          <a:p>
            <a:r>
              <a:rPr sz="1400" b="0">
                <a:solidFill>
                  <a:srgbClr val="005596"/>
                </a:solidFill>
                <a:latin typeface="Khula"/>
              </a:rPr>
              <a:t>Some tasks don't just get faster — they disappear entirely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5596"/>
                </a:solidFill>
                <a:latin typeface="Poppins"/>
              </a:rPr>
              <a:t>The AI Impact Matrix</a:t>
            </a:r>
          </a:p>
        </p:txBody>
      </p:sp>
      <p:sp>
        <p:nvSpPr>
          <p:cNvPr id="3" name="Content Placeholder 2"/>
          <p:cNvSpPr>
            <a:spLocks noGrp="1"/>
          </p:cNvSpPr>
          <p:nvPr>
            <p:ph idx="10" sz="quarter"/>
          </p:nvPr>
        </p:nvSpPr>
        <p:spPr/>
        <p:txBody>
          <a:bodyPr wrap="square"/>
          <a:lstStyle/>
          <a:p>
            <a:pPr>
              <a:spcAft>
                <a:spcPts val="400"/>
              </a:spcAft>
            </a:pPr>
            <a:r>
              <a:rPr sz="1400" b="1">
                <a:solidFill>
                  <a:srgbClr val="333333"/>
                </a:solidFill>
                <a:latin typeface="Khula"/>
              </a:rPr>
              <a:t>HIGH TIME IMPACT + LOW DEMAND LIMIT → DO MORE</a:t>
            </a:r>
          </a:p>
          <a:p>
            <a:pPr>
              <a:spcAft>
                <a:spcPts val="400"/>
              </a:spcAft>
            </a:pPr>
            <a:r>
              <a:rPr sz="1400" b="0">
                <a:solidFill>
                  <a:srgbClr val="333333"/>
                </a:solidFill>
                <a:latin typeface="Khula"/>
              </a:rPr>
              <a:t>Expect way more output. Growth plan + tooling.</a:t>
            </a:r>
          </a:p>
          <a:p>
            <a:pPr>
              <a:spcAft>
                <a:spcPts val="400"/>
              </a:spcAft>
            </a:pPr>
          </a:p>
          <a:p>
            <a:pPr>
              <a:spcAft>
                <a:spcPts val="400"/>
              </a:spcAft>
            </a:pPr>
            <a:r>
              <a:rPr sz="1400" b="1">
                <a:solidFill>
                  <a:srgbClr val="333333"/>
                </a:solidFill>
                <a:latin typeface="Khula"/>
              </a:rPr>
              <a:t>HIGH TIME IMPACT + HIGH DEMAND LIMIT → GROW THE ROLE or REDUCE</a:t>
            </a:r>
          </a:p>
          <a:p>
            <a:pPr>
              <a:spcAft>
                <a:spcPts val="400"/>
              </a:spcAft>
            </a:pPr>
            <a:r>
              <a:rPr sz="1400" b="0">
                <a:solidFill>
                  <a:srgbClr val="333333"/>
                </a:solidFill>
                <a:latin typeface="Khula"/>
              </a:rPr>
              <a:t>Cross-train. Payroll person does AP/AR. Or reduce headcount.</a:t>
            </a:r>
          </a:p>
          <a:p>
            <a:pPr>
              <a:spcAft>
                <a:spcPts val="400"/>
              </a:spcAft>
            </a:pPr>
          </a:p>
          <a:p>
            <a:pPr>
              <a:spcAft>
                <a:spcPts val="400"/>
              </a:spcAft>
            </a:pPr>
            <a:r>
              <a:rPr sz="1400" b="1">
                <a:solidFill>
                  <a:srgbClr val="333333"/>
                </a:solidFill>
                <a:latin typeface="Khula"/>
              </a:rPr>
              <a:t>LOW TIME IMPACT + LOW DEMAND LIMIT → WAIT</a:t>
            </a:r>
          </a:p>
          <a:p>
            <a:pPr>
              <a:spcAft>
                <a:spcPts val="400"/>
              </a:spcAft>
            </a:pPr>
            <a:r>
              <a:rPr sz="1400" b="0">
                <a:solidFill>
                  <a:srgbClr val="333333"/>
                </a:solidFill>
                <a:latin typeface="Khula"/>
              </a:rPr>
              <a:t>Not worth investing now. Incremental improvement only.</a:t>
            </a:r>
          </a:p>
          <a:p>
            <a:pPr>
              <a:spcAft>
                <a:spcPts val="400"/>
              </a:spcAft>
            </a:pPr>
          </a:p>
          <a:p>
            <a:pPr>
              <a:spcAft>
                <a:spcPts val="400"/>
              </a:spcAft>
            </a:pPr>
            <a:r>
              <a:rPr sz="1400" b="1">
                <a:solidFill>
                  <a:srgbClr val="333333"/>
                </a:solidFill>
                <a:latin typeface="Khula"/>
              </a:rPr>
              <a:t>LOW TIME IMPACT + HIGH DEMAND LIMIT → SCALE</a:t>
            </a:r>
          </a:p>
          <a:p>
            <a:pPr>
              <a:spcAft>
                <a:spcPts val="400"/>
              </a:spcAft>
            </a:pPr>
            <a:r>
              <a:rPr sz="1400" b="0">
                <a:solidFill>
                  <a:srgbClr val="333333"/>
                </a:solidFill>
                <a:latin typeface="Khula"/>
              </a:rPr>
              <a:t>Add headcount + incremental improvement.</a:t>
            </a:r>
          </a:p>
        </p:txBody>
      </p:sp>
      <p:sp>
        <p:nvSpPr>
          <p:cNvPr id="4" name="Text Placeholder 3"/>
          <p:cNvSpPr>
            <a:spLocks noGrp="1"/>
          </p:cNvSpPr>
          <p:nvPr>
            <p:ph type="body" idx="11" sz="quarter"/>
          </p:nvPr>
        </p:nvSpPr>
        <p:spPr/>
        <p:txBody>
          <a:bodyPr/>
          <a:lstStyle/>
          <a:p>
            <a:r>
              <a:rPr sz="1400" b="0">
                <a:solidFill>
                  <a:srgbClr val="005596"/>
                </a:solidFill>
                <a:latin typeface="Khula"/>
              </a:rPr>
              <a:t>Map every role in your organization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5596"/>
                </a:solidFill>
                <a:latin typeface="Poppins"/>
              </a:rPr>
              <a:t>How to Get Started Tomorrow</a:t>
            </a:r>
          </a:p>
        </p:txBody>
      </p:sp>
      <p:sp>
        <p:nvSpPr>
          <p:cNvPr id="3" name="Content Placeholder 2"/>
          <p:cNvSpPr>
            <a:spLocks noGrp="1"/>
          </p:cNvSpPr>
          <p:nvPr>
            <p:ph idx="10" sz="quarter"/>
          </p:nvPr>
        </p:nvSpPr>
        <p:spPr/>
        <p:txBody>
          <a:bodyPr wrap="square"/>
          <a:lstStyle/>
          <a:p>
            <a:pPr>
              <a:spcAft>
                <a:spcPts val="400"/>
              </a:spcAft>
            </a:pPr>
            <a:r>
              <a:rPr sz="1400" b="1">
                <a:solidFill>
                  <a:srgbClr val="333333"/>
                </a:solidFill>
                <a:latin typeface="Khula"/>
              </a:rPr>
              <a:t>PROBLEM SELECTION:</a:t>
            </a:r>
          </a:p>
          <a:p>
            <a:pPr>
              <a:spcAft>
                <a:spcPts val="400"/>
              </a:spcAft>
            </a:pPr>
            <a:r>
              <a:rPr sz="1400" b="0">
                <a:solidFill>
                  <a:srgbClr val="333333"/>
                </a:solidFill>
                <a:latin typeface="Khula"/>
              </a:rPr>
              <a:t>• List the top 10 things you do each week by time</a:t>
            </a:r>
          </a:p>
          <a:p>
            <a:pPr>
              <a:spcAft>
                <a:spcPts val="400"/>
              </a:spcAft>
            </a:pPr>
            <a:r>
              <a:rPr sz="1400" b="0">
                <a:solidFill>
                  <a:srgbClr val="333333"/>
                </a:solidFill>
                <a:latin typeface="Khula"/>
              </a:rPr>
              <a:t>• Star the ones you HATE doing</a:t>
            </a:r>
          </a:p>
          <a:p>
            <a:pPr>
              <a:spcAft>
                <a:spcPts val="400"/>
              </a:spcAft>
            </a:pPr>
            <a:r>
              <a:rPr sz="1400" b="0">
                <a:solidFill>
                  <a:srgbClr val="333333"/>
                </a:solidFill>
                <a:latin typeface="Khula"/>
              </a:rPr>
              <a:t>• Pick the highest-time starred item</a:t>
            </a:r>
          </a:p>
          <a:p>
            <a:pPr>
              <a:spcAft>
                <a:spcPts val="400"/>
              </a:spcAft>
            </a:pPr>
          </a:p>
          <a:p>
            <a:pPr>
              <a:spcAft>
                <a:spcPts val="400"/>
              </a:spcAft>
            </a:pPr>
            <a:r>
              <a:rPr sz="1400" b="1">
                <a:solidFill>
                  <a:srgbClr val="333333"/>
                </a:solidFill>
                <a:latin typeface="Khula"/>
              </a:rPr>
              <a:t>EXPLORATION:</a:t>
            </a:r>
          </a:p>
          <a:p>
            <a:pPr>
              <a:spcAft>
                <a:spcPts val="400"/>
              </a:spcAft>
            </a:pPr>
            <a:r>
              <a:rPr sz="1400" b="0">
                <a:solidFill>
                  <a:srgbClr val="333333"/>
                </a:solidFill>
                <a:latin typeface="Khula"/>
              </a:rPr>
              <a:t>• Spend 30 minutes trying to automate it</a:t>
            </a:r>
          </a:p>
          <a:p>
            <a:pPr>
              <a:spcAft>
                <a:spcPts val="400"/>
              </a:spcAft>
            </a:pPr>
            <a:r>
              <a:rPr sz="1400" b="0">
                <a:solidFill>
                  <a:srgbClr val="333333"/>
                </a:solidFill>
                <a:latin typeface="Khula"/>
              </a:rPr>
              <a:t>• Test with a free AI tool (ChatGPT, Claude, Copilot)</a:t>
            </a:r>
          </a:p>
          <a:p>
            <a:pPr>
              <a:spcAft>
                <a:spcPts val="400"/>
              </a:spcAft>
            </a:pPr>
            <a:r>
              <a:rPr sz="1400" b="0">
                <a:solidFill>
                  <a:srgbClr val="333333"/>
                </a:solidFill>
                <a:latin typeface="Khula"/>
              </a:rPr>
              <a:t>• Document what worked and what didn't</a:t>
            </a:r>
          </a:p>
          <a:p>
            <a:pPr>
              <a:spcAft>
                <a:spcPts val="400"/>
              </a:spcAft>
            </a:pPr>
          </a:p>
          <a:p>
            <a:pPr>
              <a:spcAft>
                <a:spcPts val="400"/>
              </a:spcAft>
            </a:pPr>
            <a:r>
              <a:rPr sz="1400" b="1">
                <a:solidFill>
                  <a:srgbClr val="333333"/>
                </a:solidFill>
                <a:latin typeface="Khula"/>
              </a:rPr>
              <a:t>ITERATION:</a:t>
            </a:r>
          </a:p>
          <a:p>
            <a:pPr>
              <a:spcAft>
                <a:spcPts val="400"/>
              </a:spcAft>
            </a:pPr>
            <a:r>
              <a:rPr sz="1400" b="0">
                <a:solidFill>
                  <a:srgbClr val="333333"/>
                </a:solidFill>
                <a:latin typeface="Khula"/>
              </a:rPr>
              <a:t>• Refine the prompt/workflow over one week</a:t>
            </a:r>
          </a:p>
          <a:p>
            <a:pPr>
              <a:spcAft>
                <a:spcPts val="400"/>
              </a:spcAft>
            </a:pPr>
            <a:r>
              <a:rPr sz="1400" b="0">
                <a:solidFill>
                  <a:srgbClr val="333333"/>
                </a:solidFill>
                <a:latin typeface="Khula"/>
              </a:rPr>
              <a:t>• Measure actual time saved</a:t>
            </a:r>
          </a:p>
          <a:p>
            <a:pPr>
              <a:spcAft>
                <a:spcPts val="400"/>
              </a:spcAft>
            </a:pPr>
            <a:r>
              <a:rPr sz="1400" b="0">
                <a:solidFill>
                  <a:srgbClr val="333333"/>
                </a:solidFill>
                <a:latin typeface="Khula"/>
              </a:rPr>
              <a:t>• Share the win with your team</a:t>
            </a:r>
          </a:p>
        </p:txBody>
      </p:sp>
      <p:sp>
        <p:nvSpPr>
          <p:cNvPr id="4" name="Text Placeholder 3"/>
          <p:cNvSpPr>
            <a:spLocks noGrp="1"/>
          </p:cNvSpPr>
          <p:nvPr>
            <p:ph type="body" idx="11" sz="quarter"/>
          </p:nvPr>
        </p:nvSpPr>
        <p:spPr/>
        <p:txBody>
          <a:bodyPr/>
          <a:lstStyle/>
          <a:p>
            <a:r>
              <a:rPr sz="1400" b="0">
                <a:solidFill>
                  <a:srgbClr val="005596"/>
                </a:solidFill>
                <a:latin typeface="Khula"/>
              </a:rPr>
              <a:t>Becoming a superhuman — 1% at a time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5596"/>
                </a:solidFill>
                <a:latin typeface="Poppins"/>
              </a:rPr>
              <a:t>Reflection</a:t>
            </a:r>
          </a:p>
        </p:txBody>
      </p:sp>
      <p:sp>
        <p:nvSpPr>
          <p:cNvPr id="3" name="Content Placeholder 2"/>
          <p:cNvSpPr>
            <a:spLocks noGrp="1"/>
          </p:cNvSpPr>
          <p:nvPr>
            <p:ph idx="10" sz="quarter"/>
          </p:nvPr>
        </p:nvSpPr>
        <p:spPr/>
        <p:txBody>
          <a:bodyPr wrap="square"/>
          <a:lstStyle/>
          <a:p>
            <a:pPr>
              <a:spcAft>
                <a:spcPts val="400"/>
              </a:spcAft>
            </a:pPr>
            <a:r>
              <a:rPr sz="1400" b="0">
                <a:solidFill>
                  <a:srgbClr val="333333"/>
                </a:solidFill>
                <a:latin typeface="Khula"/>
              </a:rPr>
              <a:t>Your biggest time sink — could an agent handle part of it?</a:t>
            </a:r>
          </a:p>
          <a:p>
            <a:pPr>
              <a:spcAft>
                <a:spcPts val="400"/>
              </a:spcAft>
            </a:pPr>
          </a:p>
          <a:p>
            <a:pPr>
              <a:spcAft>
                <a:spcPts val="400"/>
              </a:spcAft>
            </a:pPr>
            <a:r>
              <a:rPr sz="1400" b="0">
                <a:solidFill>
                  <a:srgbClr val="333333"/>
                </a:solidFill>
                <a:latin typeface="Khula"/>
              </a:rPr>
              <a:t>Where does that task fall on the AI Impact Matrix?</a:t>
            </a:r>
          </a:p>
          <a:p>
            <a:pPr>
              <a:spcAft>
                <a:spcPts val="400"/>
              </a:spcAft>
            </a:pPr>
            <a:r>
              <a:rPr sz="1400" b="0">
                <a:solidFill>
                  <a:srgbClr val="333333"/>
                </a:solidFill>
                <a:latin typeface="Khula"/>
              </a:rPr>
              <a:t>(Demand limited? Time compressible?)</a:t>
            </a:r>
          </a:p>
          <a:p>
            <a:pPr>
              <a:spcAft>
                <a:spcPts val="400"/>
              </a:spcAft>
            </a:pPr>
          </a:p>
          <a:p>
            <a:pPr>
              <a:spcAft>
                <a:spcPts val="400"/>
              </a:spcAft>
            </a:pPr>
            <a:r>
              <a:rPr sz="1400" b="0">
                <a:solidFill>
                  <a:srgbClr val="333333"/>
                </a:solidFill>
                <a:latin typeface="Khula"/>
              </a:rPr>
              <a:t>What stage would you need to reach to automate it?</a:t>
            </a:r>
          </a:p>
          <a:p>
            <a:pPr>
              <a:spcAft>
                <a:spcPts val="400"/>
              </a:spcAft>
            </a:pPr>
          </a:p>
          <a:p>
            <a:pPr>
              <a:spcAft>
                <a:spcPts val="400"/>
              </a:spcAft>
            </a:pPr>
            <a:r>
              <a:rPr sz="1400" b="1">
                <a:solidFill>
                  <a:srgbClr val="333333"/>
                </a:solidFill>
                <a:latin typeface="Khula"/>
              </a:rPr>
              <a:t>What's your first 1% step this week?</a:t>
            </a:r>
          </a:p>
        </p:txBody>
      </p:sp>
      <p:sp>
        <p:nvSpPr>
          <p:cNvPr id="4" name="Text Placeholder 3"/>
          <p:cNvSpPr>
            <a:spLocks noGrp="1"/>
          </p:cNvSpPr>
          <p:nvPr>
            <p:ph type="body" idx="11" sz="quarter"/>
          </p:nvPr>
        </p:nvSpPr>
        <p:spPr/>
        <p:txBody>
          <a:bodyPr/>
          <a:lstStyle/>
          <a:p>
            <a:r>
              <a:rPr sz="1400" b="0">
                <a:solidFill>
                  <a:srgbClr val="005596"/>
                </a:solidFill>
                <a:latin typeface="Khula"/>
              </a:rPr>
              <a:t>Looking back at what you wrote at the start</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4597D3"/>
      </a:accent1>
      <a:accent2>
        <a:srgbClr val="005596"/>
      </a:accent2>
      <a:accent3>
        <a:srgbClr val="FF9300"/>
      </a:accent3>
      <a:accent4>
        <a:srgbClr val="5BC2A7"/>
      </a:accent4>
      <a:accent5>
        <a:srgbClr val="606060"/>
      </a:accent5>
      <a:accent6>
        <a:srgbClr val="F5BB41"/>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85CDF305776C949B698BEB745905749" ma:contentTypeVersion="19" ma:contentTypeDescription="Create a new document." ma:contentTypeScope="" ma:versionID="dcaaeaf5c145e0857f8ad2d2a30b8d97">
  <xsd:schema xmlns:xsd="http://www.w3.org/2001/XMLSchema" xmlns:xs="http://www.w3.org/2001/XMLSchema" xmlns:p="http://schemas.microsoft.com/office/2006/metadata/properties" xmlns:ns2="5cd81852-037a-4b4b-b59b-f42e16bc2c8a" xmlns:ns3="381be0a0-1795-4338-858a-1f23764d400b" targetNamespace="http://schemas.microsoft.com/office/2006/metadata/properties" ma:root="true" ma:fieldsID="3f10dde137dd3f1411bd0cc1bfba4070" ns2:_="" ns3:_="">
    <xsd:import namespace="5cd81852-037a-4b4b-b59b-f42e16bc2c8a"/>
    <xsd:import namespace="381be0a0-1795-4338-858a-1f23764d400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Loaded" minOccurs="0"/>
                <xsd:element ref="ns2:Enterprise" minOccurs="0"/>
                <xsd:element ref="ns2:FinalizedPDF" minOccurs="0"/>
                <xsd:element ref="ns2:MarketingReviewed" minOccurs="0"/>
                <xsd:element ref="ns2:MediaServiceDateTaken" minOccurs="0"/>
                <xsd:element ref="ns2:PostedtoSalesPortal"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d81852-037a-4b4b-b59b-f42e16bc2c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3ec4b94-83e3-4fb0-b3dc-ba71559991c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Loaded" ma:index="19" nillable="true" ma:displayName="Loaded" ma:default="0" ma:format="Dropdown" ma:internalName="Loaded">
      <xsd:simpleType>
        <xsd:restriction base="dms:Boolean"/>
      </xsd:simpleType>
    </xsd:element>
    <xsd:element name="Enterprise" ma:index="20" nillable="true" ma:displayName="Enterprise" ma:format="Dropdown" ma:internalName="Enterprise">
      <xsd:simpleType>
        <xsd:restriction base="dms:Text">
          <xsd:maxLength value="255"/>
        </xsd:restriction>
      </xsd:simpleType>
    </xsd:element>
    <xsd:element name="FinalizedPDF" ma:index="21" nillable="true" ma:displayName="Finalized PDF" ma:default="1" ma:format="Dropdown" ma:internalName="FinalizedPDF">
      <xsd:simpleType>
        <xsd:restriction base="dms:Boolean"/>
      </xsd:simpleType>
    </xsd:element>
    <xsd:element name="MarketingReviewed" ma:index="22" nillable="true" ma:displayName="Marketing Reviewed" ma:default="1" ma:format="Dropdown" ma:internalName="MarketingReviewed">
      <xsd:simpleType>
        <xsd:restriction base="dms:Boolean"/>
      </xsd:simpleType>
    </xsd:element>
    <xsd:element name="MediaServiceDateTaken" ma:index="23" nillable="true" ma:displayName="MediaServiceDateTaken" ma:hidden="true" ma:indexed="true" ma:internalName="MediaServiceDateTaken" ma:readOnly="true">
      <xsd:simpleType>
        <xsd:restriction base="dms:Text"/>
      </xsd:simpleType>
    </xsd:element>
    <xsd:element name="PostedtoSalesPortal" ma:index="24" nillable="true" ma:displayName="Posted to Sales Portal" ma:format="DateOnly" ma:internalName="PostedtoSalesPortal">
      <xsd:simpleType>
        <xsd:restriction base="dms:DateTim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81be0a0-1795-4338-858a-1f23764d400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b3c578e8-baee-4e96-ad9e-8c728bfb7aed}" ma:internalName="TaxCatchAll" ma:showField="CatchAllData" ma:web="381be0a0-1795-4338-858a-1f23764d40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81be0a0-1795-4338-858a-1f23764d400b" xsi:nil="true"/>
    <lcf76f155ced4ddcb4097134ff3c332f xmlns="5cd81852-037a-4b4b-b59b-f42e16bc2c8a">
      <Terms xmlns="http://schemas.microsoft.com/office/infopath/2007/PartnerControls"/>
    </lcf76f155ced4ddcb4097134ff3c332f>
    <Enterprise xmlns="5cd81852-037a-4b4b-b59b-f42e16bc2c8a" xsi:nil="true"/>
    <PostedtoSalesPortal xmlns="5cd81852-037a-4b4b-b59b-f42e16bc2c8a" xsi:nil="true"/>
    <MarketingReviewed xmlns="5cd81852-037a-4b4b-b59b-f42e16bc2c8a">true</MarketingReviewed>
    <FinalizedPDF xmlns="5cd81852-037a-4b4b-b59b-f42e16bc2c8a">true</FinalizedPDF>
    <Loaded xmlns="5cd81852-037a-4b4b-b59b-f42e16bc2c8a">false</Loaded>
  </documentManagement>
</p:properties>
</file>

<file path=customXml/itemProps1.xml><?xml version="1.0" encoding="utf-8"?>
<ds:datastoreItem xmlns:ds="http://schemas.openxmlformats.org/officeDocument/2006/customXml" ds:itemID="{87C543CF-0F92-4A51-8218-B2652633BBF2}">
  <ds:schemaRefs>
    <ds:schemaRef ds:uri="http://schemas.microsoft.com/sharepoint/v3/contenttype/forms"/>
  </ds:schemaRefs>
</ds:datastoreItem>
</file>

<file path=customXml/itemProps2.xml><?xml version="1.0" encoding="utf-8"?>
<ds:datastoreItem xmlns:ds="http://schemas.openxmlformats.org/officeDocument/2006/customXml" ds:itemID="{29FF344D-E532-4F3B-908E-1A0B868764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d81852-037a-4b4b-b59b-f42e16bc2c8a"/>
    <ds:schemaRef ds:uri="381be0a0-1795-4338-858a-1f23764d40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A8626FA-F6EA-4CDA-8867-F1196F51E595}">
  <ds:schemaRefs>
    <ds:schemaRef ds:uri="5cd81852-037a-4b4b-b59b-f42e16bc2c8a"/>
    <ds:schemaRef ds:uri="http://schemas.microsoft.com/office/2006/documentManagement/types"/>
    <ds:schemaRef ds:uri="http://purl.org/dc/dcmitype/"/>
    <ds:schemaRef ds:uri="http://www.w3.org/XML/1998/namespace"/>
    <ds:schemaRef ds:uri="http://purl.org/dc/elements/1.1/"/>
    <ds:schemaRef ds:uri="http://schemas.openxmlformats.org/package/2006/metadata/core-properties"/>
    <ds:schemaRef ds:uri="http://purl.org/dc/terms/"/>
    <ds:schemaRef ds:uri="http://schemas.microsoft.com/office/infopath/2007/PartnerControls"/>
    <ds:schemaRef ds:uri="381be0a0-1795-4338-858a-1f23764d400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242</TotalTime>
  <Words>3474</Words>
  <Application>Microsoft Macintosh PowerPoint</Application>
  <PresentationFormat>Widescreen</PresentationFormat>
  <Paragraphs>475</Paragraphs>
  <Slides>47</Slides>
  <Notes>4</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Khula SemiBold</vt:lpstr>
      <vt:lpstr>Calibri</vt:lpstr>
      <vt:lpstr>Khula</vt:lpstr>
      <vt:lpstr>Poppins Medium</vt:lpstr>
      <vt:lpstr>Poppins</vt:lpstr>
      <vt:lpstr>Office Theme</vt:lpstr>
      <vt:lpstr>The Intelligence Operating System </vt:lpstr>
      <vt:lpstr>Introductions</vt:lpstr>
      <vt:lpstr>State of the Industry</vt:lpstr>
      <vt:lpstr>Where are we today?</vt:lpstr>
      <vt:lpstr>Where are we today?</vt:lpstr>
      <vt:lpstr>Understanding Demand</vt:lpstr>
      <vt:lpstr>What does it look like going forward?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Construction</vt:lpstr>
      <vt:lpstr>Construction: The Hard Data</vt:lpstr>
      <vt:lpstr>Construction: What's Deployed vs. What's Not</vt:lpstr>
      <vt:lpstr>Construction: Stage-by-Stage Reality</vt:lpstr>
      <vt:lpstr>Financial Services</vt:lpstr>
      <vt:lpstr>Financial Services: The Clear Leader</vt:lpstr>
      <vt:lpstr>Financial Services: What's Deployed vs. Emerging</vt:lpstr>
      <vt:lpstr>Financial Services: Stage-by-Stage Reality</vt:lpstr>
      <vt:lpstr>Manufacturing</vt:lpstr>
      <vt:lpstr>Manufacturing: Deep ML Heritage, Emerging Agentic</vt:lpstr>
      <vt:lpstr>Manufacturing: What's Deployed vs. What's Not</vt:lpstr>
      <vt:lpstr>Manufacturing: Stage-by-Stage Reality</vt:lpstr>
      <vt:lpstr>Why the Gap? Accelerators vs. Constraints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Rebeca Aguilar Rodriguez</dc:creator>
  <cp:lastModifiedBy>David O'Hara</cp:lastModifiedBy>
  <cp:revision>11</cp:revision>
  <dcterms:created xsi:type="dcterms:W3CDTF">2022-06-17T16:05:43Z</dcterms:created>
  <dcterms:modified xsi:type="dcterms:W3CDTF">2026-02-12T16:13:04Z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0x010100085CDF305776C949B698BEB745905749</vt:lpwstr>
  </property>
  <property fmtid="{D5CDD505-2E9C-101B-9397-08002B2CF9AE}" pid="3" name="MediaServiceImageTags">
    <vt:lpwstr/>
  </property>
</Properties>
</file>